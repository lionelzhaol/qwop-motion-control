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bed19371f2478d" /><Relationship Type="http://schemas.openxmlformats.org/officeDocument/2006/relationships/extended-properties" Target="/docProps/app.xml" Id="R510e4256d6194af4" /><Relationship Type="http://schemas.openxmlformats.org/officeDocument/2006/relationships/officeDocument" Target="/ppt/presentation.xml" Id="Re929f0acefaf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3447eb8af4439"/>
  </p:sldMasterIdLst>
  <p:notesMasterIdLst>
    <p:notesMasterId xmlns:r="http://schemas.openxmlformats.org/officeDocument/2006/relationships" r:id="Rcd681562d4c944f3"/>
  </p:notesMasterIdLst>
  <p:sldIdLst>
    <p:sldId xmlns:r="http://schemas.openxmlformats.org/officeDocument/2006/relationships" id="256" r:id="R2c377f2dcc9a4410"/>
    <p:sldId xmlns:r="http://schemas.openxmlformats.org/officeDocument/2006/relationships" id="257" r:id="R5439e02419a24e7f"/>
    <p:sldId xmlns:r="http://schemas.openxmlformats.org/officeDocument/2006/relationships" id="258" r:id="Re034e8e5f94540ef"/>
    <p:sldId xmlns:r="http://schemas.openxmlformats.org/officeDocument/2006/relationships" id="259" r:id="Rf4bf025de3a64d0b"/>
    <p:sldId xmlns:r="http://schemas.openxmlformats.org/officeDocument/2006/relationships" id="260" r:id="R6f94ed1da0994d9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da9fbac2ce4ecc" /><Relationship Type="http://schemas.openxmlformats.org/officeDocument/2006/relationships/slideMaster" Target="/ppt/slideMasters/slideMaster1.xml" Id="R57e3447eb8af4439" /><Relationship Type="http://schemas.openxmlformats.org/officeDocument/2006/relationships/notesMaster" Target="/ppt/notesMasters/notesMaster1.xml" Id="Rcd681562d4c944f3" /><Relationship Type="http://schemas.openxmlformats.org/officeDocument/2006/relationships/presProps" Target="/ppt/presProps.xml" Id="R6abdbc385bbb45f9" /><Relationship Type="http://schemas.openxmlformats.org/officeDocument/2006/relationships/viewProps" Target="/ppt/viewProps.xml" Id="Rd9ec92cfbe844f73" /><Relationship Type="http://schemas.openxmlformats.org/officeDocument/2006/relationships/tableStyles" Target="/ppt/tableStyles.xml" Id="Rf7c61a760b2f4109" /><Relationship Type="http://schemas.openxmlformats.org/officeDocument/2006/relationships/slide" Target="/ppt/slides/slide1.xml" Id="R2c377f2dcc9a4410" /><Relationship Type="http://schemas.openxmlformats.org/officeDocument/2006/relationships/slide" Target="/ppt/slides/slide2.xml" Id="R5439e02419a24e7f" /><Relationship Type="http://schemas.openxmlformats.org/officeDocument/2006/relationships/slide" Target="/ppt/slides/slide3.xml" Id="Re034e8e5f94540ef" /><Relationship Type="http://schemas.openxmlformats.org/officeDocument/2006/relationships/slide" Target="/ppt/slides/slide4.xml" Id="Rf4bf025de3a64d0b" /><Relationship Type="http://schemas.openxmlformats.org/officeDocument/2006/relationships/slide" Target="/ppt/slides/slide5.xml" Id="R6f94ed1da0994d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976dfe75043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0b69eb25754bb3" /><Relationship Type="http://schemas.openxmlformats.org/officeDocument/2006/relationships/notesMaster" Target="/ppt/notesMasters/notesMaster1.xml" Id="R0c2c212439cd4a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1b08cdc1a74592" /><Relationship Type="http://schemas.openxmlformats.org/officeDocument/2006/relationships/notesMaster" Target="/ppt/notesMasters/notesMaster1.xml" Id="Raf3d16f605ed47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e8f82f89dd46c0" /><Relationship Type="http://schemas.openxmlformats.org/officeDocument/2006/relationships/notesMaster" Target="/ppt/notesMasters/notesMaster1.xml" Id="R705f2e18ec3d40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daaaf946b84bac" /><Relationship Type="http://schemas.openxmlformats.org/officeDocument/2006/relationships/notesMaster" Target="/ppt/notesMasters/notesMaster1.xml" Id="Rcfe0de2089954c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9b4dd537064edf" /><Relationship Type="http://schemas.openxmlformats.org/officeDocument/2006/relationships/notesMaster" Target="/ppt/notesMasters/notesMaster1.xml" Id="Rb1d0b9fad1524c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本次汇报介绍基于深度强化学习的 QWOP 百米运动控制研究。QWOP 通过 Q、W、O、P 四个按键控制腿部，动作需要连续协调，单帧的失误可能改变之后的身体状态并导致摔倒。我们研究的目标是在原生规则下稳定完成百米，同时缩短正式完赛用时。模型读取物理环境中的身体和任务状态，并通过按键组合控制运动。图片是原版 QWOP 的画面示意，便于解释玩法，图中的距离不是本项目训练成绩。这个游戏适合作为强化学习课程项目，因为它同时涉及平衡、探索以及较长时间跨度的动作协调。接下来先说明开源项目已经提供的基础，再说明本地 PPO 训练和专家模仿的具体工作。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游戏图片原始来源：https://s3.amazonaws.com/tci-assets/uploads/bennett-pic.jpg</a:t>
            </a:r>
          </a:p>
          <a:p xmlns:a="http://schemas.openxmlformats.org/drawingml/2006/main">
            <a:r>
              <a:t>本地图片：presentation/qwop_class_report_20261013/assets/qwop-original.jpg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建议讲述时间：75秒。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本项目以 LYiHub 的 QWOP_rl_training_public 为基础。作者提供了 C++ 训练封装、原生物理后端、Python 接口以及多个任务，已有 PPO、Actor/Critic、GAE、并行采样、训练日志、checkpoint 和回放导出。因此本地工作重点是复用这些基础并开展可验证的实验。首先在 Windows 11 配置并验证 PyTorch/CUDA 训练环境，检查最小训练、reset 和模型保存加载。然后调整任务奖励、增加历史状态和角速度信息，尝试探索与局部策略参数搜索。最后根据公开专家动作回放实现行为克隆，并继续进行 PPO 微调。原仓库还提供策略蒸馏，但它需要教师模型和 logits；公开影子只有动作序列，所以新增了从回放采集状态动作样本的训练入口，复用了原来的 ActorCritic、帧堆叠、日志和 checkpoint。我们没有将作者已有的仿真或 PPO 实现作为本地原创。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QWOP_rl_training_public/README.md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建议讲述时间：135秒。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这一页说明 PPO 如何训练。第一步，环境返回 68 维身体与任务观测，后期策略堆叠 32 帧，形成 2176 维输入，使网络能够利用运动历史。主要 Actor 网络包含两层各 256 个神经元，并有角速度特征分支。Actor 输出 16 种按键组合的概率，训练时按概率采样，确定性评测时选最大概率动作。第二步，原生环境执行动作，得到新的状态、奖励和终止标志。第三步，多个并行环境采集一段 rollout，记录观测、动作概率、奖励及价值估计。这是 PPO 的在策略数据，不是经验回放池。第四步，Critic 估计长期回报，GAE 结合奖励和价值变化计算优势，告诉 Actor 哪些动作比预期更好。第五步，用 PPO 的裁剪目标限制策略更新幅度，更新网络后继续采样。网络结构和超参数在实验阶段有所变化，本页展示后期主要策略，而不是宣称每轮都采用相同配置。独立 Critic 用于后续保护已学步态的试验，基础闭环仍沿用作者架构。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QWOP_rl_training_public/configs</a:t>
            </a:r>
          </a:p>
          <a:p xmlns:a="http://schemas.openxmlformats.org/drawingml/2006/main">
            <a:r>
              <a:t>QWOP_rl_training_public/docs/bottleneck-followup-training.md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左侧是 v33 起步探索阶段一次真实 PPO 续训的平均回合回报，来自 TensorBoard 记录。横轴为这一轮的 PPO 更新编号，纵轴是回合回报的 20 个记录点滚动均值。曲线仍有波动，不能据此宣称训练完全收敛。不同奖励版本的回报不能直接比较，因此这里只画同一次固定奖励配置的曲线。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自主路线先处理低姿态运动，再尝试姿态、速度、历史状态、起步及越栏反馈和探索。没有原生膝盖触地标志，低姿态采用躯干高度代理，也没有直接测量身体重心。固定前倾五度、压低上下运动等偏好属于待检验假设，专家轨迹审计表明它们可能与最快完赛目标冲突。RND 使用预测误差提供新颖性奖励，但已完成的匹配实验没有刷新最快成绩。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成绩必须准确区分：经过原生验证的纯 PPO 候选最快是 v33 的 45.400 秒。44.933334 秒则来自已有 44.966667 秒模型第二隐藏层偏置的小范围参数搜索，重新加载后可复现。它属于 PPO 训练加局部参数搜索的自主优化结果，不能标成纯 PPO 单独获得。两项均为模拟游戏时间，不是电脑运行耗时。我们保留原物理和正式计分规则。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曲线来源：verification/project_report/events_data.json，run=ppo_phase_v33_effective_explore，series=charts/episode_return_mean。每次更新128环境×256步，起始global_step=348143616。</a:t>
            </a:r>
          </a:p>
          <a:p xmlns:a="http://schemas.openxmlformats.org/drawingml/2006/main">
            <a:r>
              <a:t>成绩来源：QWOP_rl_training_public/docs/bottleneck-followup-training.md</a:t>
            </a:r>
          </a:p>
          <a:p xmlns:a="http://schemas.openxmlformats.org/drawingml/2006/main">
            <a:r>
              <a:t>RND来源：QWOP_rl_training_public/docs/task-reward-rnd-experiment.md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自主优化遇到瓶颈后，我们引入公开的 XYF 专家影子。影子文件包含 991 帧按键动作。先在原生环境中重放并验证，再在每次动作执行前采集当前观测，将其与专家动作配对，得到 991 条状态动作样本，每条输入为32×68=2176维。确认物理等价后再合并冗余按键标签。以原有跑步模型初始化 Actor，使用交叉熵行为克隆，Adam 学习率1e-4，batch256，训练1000轮，动作监督阶段冻结独立 Critic。推理阶段模型读取实时观测并选择动作，没有按时间查找专家动作表。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闭环验证是关键。900轮时，专家状态上的动作准确率已达99.899%，但实际执行仍在52米失败。1000轮时准确率达到100%，策略才完成原生百米，正式时间33.033333秒。这说明分类准确率不能替代环境中的闭环测试。图中44.933与33.033均为固定初态下的确定性完赛时间，前者包含参数搜索。原始 BC 模型固定初态确定性重复16次均成功，但直接按其原始概率采样为0/64成功，说明轨迹外恢复能力不足。后续 PPO 微调、Actor 解冻与时间奖励试验仍未获得快于33.033秒的有效成绩。因此这里的成果是本地神经网络复现外部专家策略，并非独立发现或打破专家纪录。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来源：QWOP_rl_training_public/docs/shadow-imitation-pilot.md</a:t>
            </a:r>
          </a:p>
          <a:p xmlns:a="http://schemas.openxmlformats.org/drawingml/2006/main">
            <a:r>
              <a:t>verification/shadow_audit/imitation_pilot.json</a:t>
            </a:r>
          </a:p>
          <a:p xmlns:a="http://schemas.openxmlformats.org/drawingml/2006/main">
            <a:r>
              <a:t>verification/shadow_audit/student_deterministic16.json</a:t>
            </a:r>
          </a:p>
          <a:p xmlns:a="http://schemas.openxmlformats.org/drawingml/2006/main">
            <a:r>
              <a:t>verification/shadow_audit/student_stochastic64.json</a:t>
            </a:r>
          </a:p>
          <a:p xmlns:a="http://schemas.openxmlformats.org/drawingml/2006/main">
            <a:r>
              <a:t>QWOP_rl_training_public/docs/classic-speed-signal-20261015.md</a:t>
            </a:r>
          </a:p>
          <a:p xmlns:a="http://schemas.openxmlformats.org/drawingml/2006/main">
            <a:r>
              <a:t>公开示范来源：https://run.lyihub.com/，下载时署名XYF，不声明其为当前实时纪录。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55e349cfa44a3" /><Relationship Type="http://schemas.openxmlformats.org/officeDocument/2006/relationships/image" Target="/ppt/media/image2.png" Id="Rd4deb3358ebf4662" /><Relationship Type="http://schemas.openxmlformats.org/officeDocument/2006/relationships/image" Target="/ppt/media/image3.png" Id="R80594f0e06514969" /><Relationship Type="http://schemas.openxmlformats.org/officeDocument/2006/relationships/image" Target="/ppt/media/image4.png" Id="R0375b21145df4d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97c9394294ac2" /><Relationship Type="http://schemas.openxmlformats.org/officeDocument/2006/relationships/image" Target="/ppt/media/image5.png" Id="R3915814d44e647d8" /><Relationship Type="http://schemas.openxmlformats.org/officeDocument/2006/relationships/image" Target="/ppt/media/image4.png" Id="R09d3ed685ef74a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f78a2151b4d03" /><Relationship Type="http://schemas.openxmlformats.org/officeDocument/2006/relationships/image" Target="/ppt/media/image3.png" Id="R0d80679e2d8c4c42" /><Relationship Type="http://schemas.openxmlformats.org/officeDocument/2006/relationships/image" Target="/ppt/media/image2.png" Id="Rfeb97a6ade334e65" /><Relationship Type="http://schemas.openxmlformats.org/officeDocument/2006/relationships/image" Target="/ppt/media/image4.png" Id="Rac699e85b0db4c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6175d2f9846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5bc2fbece4ea6" /><Relationship Type="http://schemas.openxmlformats.org/officeDocument/2006/relationships/image" Target="/ppt/media/image6.png" Id="R7bc3470aa52f441e" /><Relationship Type="http://schemas.openxmlformats.org/officeDocument/2006/relationships/image" Target="/ppt/media/image2.png" Id="Rf807502c558247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1f1a9619b4cc5" /><Relationship Type="http://schemas.openxmlformats.org/officeDocument/2006/relationships/image" Target="/ppt/media/image6.png" Id="Rf4456f901e3c4b24" /><Relationship Type="http://schemas.openxmlformats.org/officeDocument/2006/relationships/image" Target="/ppt/media/image2.png" Id="R397d5c3d516542a9" /></Relationships>
</file>

<file path=ppt/slideLayouts/slideLayout1.xml><?xml version="1.0" encoding="utf-8"?>
<p:sldLayout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67A305D-9CC4-4333-B923-8980101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237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D51A5E-B904-4379-986D-76E468C6F5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466905"/>
            <a:ext cx="9144000" cy="10430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79ACA4C-6382-4350-80C6-ECDACE92D2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44407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="1"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411EDF-B8CB-47E1-8C46-BD0E8FD25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8FB8EBE-EFC5-4A6C-8AE4-C9E19A8BE4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CA4AEE-410C-49D3-A83F-8D7BCB7CF9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FFE3CAE1-EE2A-4EFC-A184-0A941C7A93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deb3358ebf4662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BD58711-76B9-46D0-B088-578364B8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4067"/>
            <a:ext cx="3358727" cy="420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4267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1CC299EB-0E1C-4B65-AFCC-6E0FA26C2B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594f0e06514969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67080" y="0"/>
            <a:ext cx="4516594" cy="4121696"/>
          </a:xfrm>
          <a:prstGeom xmlns:a="http://schemas.openxmlformats.org/drawingml/2006/main" prst="rect">
            <a:avLst/>
          </a:prstGeom>
        </p:spPr>
      </p:pic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54F62B02-24FF-40DC-B7EF-82781EAED9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75b21145df4d8b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356447" y="281094"/>
            <a:ext cx="588433" cy="588434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094669-887A-4D5A-9D2F-C210E35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70"/>
            <a:ext cx="3544863" cy="68569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4F34B5AA-8454-4AEC-899A-A7132EC8E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15814d44e647d8"/>
          <a:srcRect xmlns:a="http://schemas.openxmlformats.org/drawingml/2006/main" l="29656" t="845" r="8106" b="136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-206" y="401"/>
            <a:ext cx="3087870" cy="5142161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B469F09-97C2-43E6-8E74-8DBE521572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4611AC6-2CCF-4CA3-9BD4-F691EDF77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27EA059-40D7-4AE4-B179-BE164EFB87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1CCC20-D898-4461-BABA-A9E4E9C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050"/>
            <a:ext cx="251904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00D79-01AE-40E6-9E98-C3F617C4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07" y="4762375"/>
            <a:ext cx="2025000" cy="23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algn="l" defTabSz="914400"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6EA011B5-A4A7-4A9F-BDF6-B62B9169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" y="2047875"/>
            <a:ext cx="2213610" cy="10985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>
              <a:solidFill>
                <a:schemeClr val="bg1"/>
              </a:solidFill>
            </a:endParaRPr>
          </a:p>
        </p:txBody>
      </p:sp>
      <p:sp>
        <p:nvSpPr>
          <p:cNvPr id="10" name="TextBox 34">
            <a:extLst xmlns:a="http://schemas.openxmlformats.org/drawingml/2006/main">
              <a:ext uri="{FF2B5EF4-FFF2-40B4-BE49-F238E27FC236}">
                <a16:creationId xmlns:a16="http://schemas.microsoft.com/office/drawing/2014/main" id="{0F7A4E69-F6CC-4542-A8C3-0DAAFFC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" y="2164080"/>
            <a:ext cx="1898650" cy="902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 录 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CONTENTS</a:t>
            </a:r>
            <a:endParaRPr sz="7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55057B62-D647-4D62-9146-A87B042B80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d3ed685ef74a22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267335" y="210820"/>
            <a:ext cx="441325" cy="441325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50A61B-FF71-4559-8541-70DC5C2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75" y="-1771"/>
            <a:ext cx="12193200" cy="755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9AFB8FDC-0BDD-4419-B3CD-B945C2D9D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80679e2d8c4c42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73819" y="0"/>
            <a:ext cx="4516594" cy="4121696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C5115CC8-FB01-4CB5-955D-907E553F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" y="707322"/>
            <a:ext cx="12193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169C4B-91D2-4F98-82D7-1B90FED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02" y="393115"/>
            <a:ext cx="611187" cy="250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800" b="1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fld id="{33109BAF-7E30-4082-9BFB-9389C5BDB309}" type="slidenum">
              <a:t>‹#›</a:t>
            </a:fld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DB66AD-8777-4577-98B9-D90E00DBC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5EBD57-2965-44C5-9964-18B4B6D62F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DB22D31-EBAA-4085-A27C-82731B205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1493DB3E-D70E-4FF1-B4BB-06BCBB4004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b97a6ade334e65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321E9D-C977-4348-9D9F-A4ED48DB8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9185" y="168693"/>
            <a:ext cx="11597749" cy="5472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77833D05-1A72-48A3-9D81-AD7A015C1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699e85b0db4cbd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11218161" y="130414"/>
            <a:ext cx="530867" cy="530867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120BFCF-D49A-4F0C-B647-9A1323B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D39B950-A000-4802-9EFB-FB4DC11EB6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A5C174-987F-4F8C-AE2E-873C2CB49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F76F04-BCC4-4441-8E8C-9DEF91004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6E36CE32-CF2F-49F4-B4DD-916BD5454F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c3470aa52f441e"/>
          <a:srcRect xmlns:a="http://schemas.openxmlformats.org/drawingml/2006/main" l="0" t="0" r="260" b="8769"/>
          <a:stretch xmlns:a="http://schemas.openxmlformats.org/drawingml/2006/main"/>
        </p:blipFill>
        <p:spPr>
          <a:xfrm xmlns:a="http://schemas.openxmlformats.org/drawingml/2006/main">
            <a:off x="6108330" y="0"/>
            <a:ext cx="608367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8128EAA3-286C-4251-8EC4-2C8D8292D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7502c558247f3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4445"/>
            <a:ext cx="4055745" cy="556006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3D2130A-B568-45F8-AE90-5C057F07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83" y="432000"/>
            <a:ext cx="10852239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38100" rIns="76200" bIns="38100" anchor="ctr">
            <a:noAutofit/>
          </a:bodyPr>
          <a:lstStyle xmlns:a="http://schemas.openxmlformats.org/drawingml/2006/main">
            <a:lvl1pPr algn="l" defTabSz="685800">
              <a:lnSpc>
                <a:spcPct val="100000"/>
              </a:lnSpc>
              <a:spcBef>
                <a:spcPct val="0"/>
              </a:spcBef>
              <a:buNone/>
              <a:defRPr sz="2100" b="1" u="none" strike="noStrike" kern="1200" cap="none" spc="15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100"/>
              <a:t>单击此处编辑母版标题样式</a:t>
            </a:r>
            <a:endParaRPr sz="2100"/>
          </a:p>
        </p:txBody>
      </p:sp>
      <p:sp>
        <p:nvSpPr>
          <p:cNvPr id="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CA8AC5-B061-413E-AFC8-6536978074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9883" y="1296000"/>
            <a:ext cx="10852239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D7A827-1CF7-4C33-BE86-49F3447AB4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79743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>2026/9/1</a:t>
            </a:fld>
            <a:endParaRPr/>
          </a:p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609418-185D-47D1-AA00-75005DFA00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49833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9D4B48C-B2DB-4108-A4D5-5D6790D34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1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BE2897F-118C-46E0-B4E6-5A231DE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-4233"/>
            <a:ext cx="12236873" cy="6862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760"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2967F2BA-A2DC-4357-A7D9-5EE8D5CB0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56f901e3c4b24"/>
          <a:srcRect xmlns:a="http://schemas.openxmlformats.org/drawingml/2006/main" l="0" t="0" r="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5647" y="-4445"/>
            <a:ext cx="8111560" cy="7517130"/>
          </a:xfrm>
          <a:prstGeom xmlns:a="http://schemas.openxmlformats.org/drawingml/2006/main" prst="rect">
            <a:avLst/>
          </a:prstGeom>
        </p:spPr>
      </p:pic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069A54A6-DDD6-4470-8B1F-F65AE6726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d5c3d516542a9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4445"/>
            <a:ext cx="5407660" cy="5560060"/>
          </a:xfrm>
          <a:prstGeom xmlns:a="http://schemas.openxmlformats.org/drawingml/2006/main" prst="rect">
            <a:avLst/>
          </a:prstGeom>
        </p:spPr>
      </p:pic>
      <p:sp>
        <p:nvSpPr>
          <p:cNvPr id="7" name="标题 6">
            <a:extLst xmlns:a="http://schemas.openxmlformats.org/drawingml/2006/main">
              <a:ext uri="{FF2B5EF4-FFF2-40B4-BE49-F238E27FC236}">
                <a16:creationId xmlns:a16="http://schemas.microsoft.com/office/drawing/2014/main" id="{69DCD2CE-F9EB-4CCF-A1C4-9C44393A926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2864297"/>
            <a:ext cx="12240683" cy="1128751"/>
          </a:xfrm>
        </p:spPr>
        <p:txBody>
          <a:bodyPr xmlns:a="http://schemas.openxmlformats.org/drawingml/2006/main" lIns="101600" tIns="38100" rIns="25400" bIns="38100" anchor="t">
            <a:noAutofit/>
          </a:bodyPr>
          <a:lstStyle xmlns:a="http://schemas.openxmlformats.org/drawingml/2006/main">
            <a:lvl1pPr algn="ctr">
              <a:buNone/>
              <a:defRPr sz="4800" b="1" spc="4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0b6a1676cf04342" /><Relationship Type="http://schemas.openxmlformats.org/officeDocument/2006/relationships/theme" Target="/ppt/slideMasters/theme/theme2.xml" Id="R39637ad345e4405d" /><Relationship Type="http://schemas.openxmlformats.org/officeDocument/2006/relationships/slideLayout" Target="/ppt/slideLayouts/slideLayout1.xml" Id="R4ade6503396b425c" /><Relationship Type="http://schemas.openxmlformats.org/officeDocument/2006/relationships/slideLayout" Target="/ppt/slideLayouts/slideLayout2.xml" Id="R132fae84774f463a" /><Relationship Type="http://schemas.openxmlformats.org/officeDocument/2006/relationships/slideLayout" Target="/ppt/slideLayouts/slideLayout3.xml" Id="R0013a39891d749b5" /><Relationship Type="http://schemas.openxmlformats.org/officeDocument/2006/relationships/slideLayout" Target="/ppt/slideLayouts/slideLayout4.xml" Id="Re58fa12f32e04f31" /><Relationship Type="http://schemas.openxmlformats.org/officeDocument/2006/relationships/slideLayout" Target="/ppt/slideLayouts/slideLayout5.xml" Id="R3a25c220059d4be7" /><Relationship Type="http://schemas.openxmlformats.org/officeDocument/2006/relationships/slideLayout" Target="/ppt/slideLayouts/slideLayout6.xml" Id="Rb47117fc1742410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120F725-AC38-4DA6-AF8D-54BB6DAF7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59C1E52-E89C-4486-8907-720448F88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829FAA-9A18-46DD-80DD-358DC41581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EB16E2-CD1C-4B5E-B5E1-FF54141FB7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3F88795-026C-43F0-A184-FB075E2398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66D41650-3A34-4510-A988-1971A23D5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b6a1676cf04342"/>
          <a:srcRect xmlns:a="http://schemas.openxmlformats.org/drawingml/2006/main" l="0" t="24709" r="0" b="0"/>
          <a:stretch xmlns:a="http://schemas.openxmlformats.org/drawingml/2006/main"/>
        </p:blipFill>
        <p:spPr>
          <a:xfrm xmlns:a="http://schemas.openxmlformats.org/drawingml/2006/main">
            <a:off x="7674000" y="0"/>
            <a:ext cx="4518000" cy="412169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de6503396b425c"/>
    <p:sldLayoutId xmlns:r="http://schemas.openxmlformats.org/officeDocument/2006/relationships" id="2147483650" r:id="R132fae84774f463a"/>
    <p:sldLayoutId xmlns:r="http://schemas.openxmlformats.org/officeDocument/2006/relationships" id="2147483651" r:id="R0013a39891d749b5"/>
    <p:sldLayoutId xmlns:r="http://schemas.openxmlformats.org/officeDocument/2006/relationships" id="2147483652" r:id="Re58fa12f32e04f31"/>
    <p:sldLayoutId xmlns:r="http://schemas.openxmlformats.org/officeDocument/2006/relationships" id="2147483653" r:id="R3a25c220059d4be7"/>
    <p:sldLayoutId xmlns:r="http://schemas.openxmlformats.org/officeDocument/2006/relationships" id="2147483654" r:id="Rb47117fc1742410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ea2cfb67104936" /><Relationship Type="http://schemas.openxmlformats.org/officeDocument/2006/relationships/image" Target="/ppt/media/image.jpeg" Id="R30c9f6aeb9dc4d82" /><Relationship Type="http://schemas.openxmlformats.org/officeDocument/2006/relationships/notesSlide" Target="/ppt/notesSlides/notesSlide1.xml" Id="R17be571dfab847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d319c272a44ac3" /><Relationship Type="http://schemas.openxmlformats.org/officeDocument/2006/relationships/notesSlide" Target="/ppt/notesSlides/notesSlide2.xml" Id="R2ffeee5d870f4e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50f03a4e794ceb" /><Relationship Type="http://schemas.openxmlformats.org/officeDocument/2006/relationships/notesSlide" Target="/ppt/notesSlides/notesSlide3.xml" Id="R68967b6c550348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c05d7914e5423a" /><Relationship Type="http://schemas.openxmlformats.org/officeDocument/2006/relationships/chart" Target="/ppt/slides/charts/chart1.xml" Id="Red1c25bd9d184638" /><Relationship Type="http://schemas.openxmlformats.org/officeDocument/2006/relationships/notesSlide" Target="/ppt/notesSlides/notesSlide4.xml" Id="R18e0b444172e49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51195f8d184a39" /><Relationship Type="http://schemas.openxmlformats.org/officeDocument/2006/relationships/chart" Target="/ppt/slides/charts/chart2.xml" Id="Rf725977f65704c77" /><Relationship Type="http://schemas.openxmlformats.org/officeDocument/2006/relationships/notesSlide" Target="/ppt/notesSlides/notesSlide5.xml" Id="R0e92fecc3d0e4632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回合回报，20点滚动均值</c:v>
          </c:tx>
          <c:spPr>
            <a:ln xmlns:a="http://schemas.openxmlformats.org/drawingml/2006/main" w="28575">
              <a:solidFill>
                <a:srgbClr val="064A8D"/>
              </a:solidFill>
            </a:ln>
          </c:spPr>
          <c:marker>
            <c:symbol val="none"/>
          </c:marker>
          <c:xVal>
            <c:numLit>
              <c:formatCode>General</c:formatCode>
              <c:ptCount val="65"/>
              <c:pt idx="0">
                <c:v>1</c:v>
              </c:pt>
              <c:pt idx="1">
                <c:v>21</c:v>
              </c:pt>
              <c:pt idx="2">
                <c:v>37</c:v>
              </c:pt>
              <c:pt idx="3">
                <c:v>53</c:v>
              </c:pt>
              <c:pt idx="4">
                <c:v>69</c:v>
              </c:pt>
              <c:pt idx="5">
                <c:v>85</c:v>
              </c:pt>
              <c:pt idx="6">
                <c:v>101</c:v>
              </c:pt>
              <c:pt idx="7">
                <c:v>117</c:v>
              </c:pt>
              <c:pt idx="8">
                <c:v>133</c:v>
              </c:pt>
              <c:pt idx="9">
                <c:v>149</c:v>
              </c:pt>
              <c:pt idx="10">
                <c:v>165</c:v>
              </c:pt>
              <c:pt idx="11">
                <c:v>181</c:v>
              </c:pt>
              <c:pt idx="12">
                <c:v>197</c:v>
              </c:pt>
              <c:pt idx="13">
                <c:v>213</c:v>
              </c:pt>
              <c:pt idx="14">
                <c:v>229</c:v>
              </c:pt>
              <c:pt idx="15">
                <c:v>245</c:v>
              </c:pt>
              <c:pt idx="16">
                <c:v>261</c:v>
              </c:pt>
              <c:pt idx="17">
                <c:v>277</c:v>
              </c:pt>
              <c:pt idx="18">
                <c:v>293</c:v>
              </c:pt>
              <c:pt idx="19">
                <c:v>309</c:v>
              </c:pt>
              <c:pt idx="20">
                <c:v>325</c:v>
              </c:pt>
              <c:pt idx="21">
                <c:v>341</c:v>
              </c:pt>
              <c:pt idx="22">
                <c:v>357</c:v>
              </c:pt>
              <c:pt idx="23">
                <c:v>373</c:v>
              </c:pt>
              <c:pt idx="24">
                <c:v>389</c:v>
              </c:pt>
              <c:pt idx="25">
                <c:v>405</c:v>
              </c:pt>
              <c:pt idx="26">
                <c:v>421</c:v>
              </c:pt>
              <c:pt idx="27">
                <c:v>437</c:v>
              </c:pt>
              <c:pt idx="28">
                <c:v>453</c:v>
              </c:pt>
              <c:pt idx="29">
                <c:v>469</c:v>
              </c:pt>
              <c:pt idx="30">
                <c:v>485</c:v>
              </c:pt>
              <c:pt idx="31">
                <c:v>501</c:v>
              </c:pt>
              <c:pt idx="32">
                <c:v>517</c:v>
              </c:pt>
              <c:pt idx="33">
                <c:v>533</c:v>
              </c:pt>
              <c:pt idx="34">
                <c:v>549</c:v>
              </c:pt>
              <c:pt idx="35">
                <c:v>565</c:v>
              </c:pt>
              <c:pt idx="36">
                <c:v>581</c:v>
              </c:pt>
              <c:pt idx="37">
                <c:v>597</c:v>
              </c:pt>
              <c:pt idx="38">
                <c:v>613</c:v>
              </c:pt>
              <c:pt idx="39">
                <c:v>629</c:v>
              </c:pt>
              <c:pt idx="40">
                <c:v>645</c:v>
              </c:pt>
              <c:pt idx="41">
                <c:v>661</c:v>
              </c:pt>
              <c:pt idx="42">
                <c:v>677</c:v>
              </c:pt>
              <c:pt idx="43">
                <c:v>693</c:v>
              </c:pt>
              <c:pt idx="44">
                <c:v>709</c:v>
              </c:pt>
              <c:pt idx="45">
                <c:v>725</c:v>
              </c:pt>
              <c:pt idx="46">
                <c:v>741</c:v>
              </c:pt>
              <c:pt idx="47">
                <c:v>757</c:v>
              </c:pt>
              <c:pt idx="48">
                <c:v>773</c:v>
              </c:pt>
              <c:pt idx="49">
                <c:v>789</c:v>
              </c:pt>
              <c:pt idx="50">
                <c:v>805</c:v>
              </c:pt>
              <c:pt idx="51">
                <c:v>821</c:v>
              </c:pt>
              <c:pt idx="52">
                <c:v>837</c:v>
              </c:pt>
              <c:pt idx="53">
                <c:v>853</c:v>
              </c:pt>
              <c:pt idx="54">
                <c:v>869</c:v>
              </c:pt>
              <c:pt idx="55">
                <c:v>885</c:v>
              </c:pt>
              <c:pt idx="56">
                <c:v>901</c:v>
              </c:pt>
              <c:pt idx="57">
                <c:v>917</c:v>
              </c:pt>
              <c:pt idx="58">
                <c:v>933</c:v>
              </c:pt>
              <c:pt idx="59">
                <c:v>949</c:v>
              </c:pt>
              <c:pt idx="60">
                <c:v>965</c:v>
              </c:pt>
              <c:pt idx="61">
                <c:v>981</c:v>
              </c:pt>
              <c:pt idx="62">
                <c:v>997</c:v>
              </c:pt>
              <c:pt idx="63">
                <c:v>1013</c:v>
              </c:pt>
              <c:pt idx="64">
                <c:v>1024</c:v>
              </c:pt>
            </c:numLit>
          </c:xVal>
          <c:yVal>
            <c:numLit>
              <c:formatCode>0</c:formatCode>
              <c:ptCount val="65"/>
              <c:pt idx="0">
                <c:v>-51.659439</c:v>
              </c:pt>
              <c:pt idx="1">
                <c:v>523.745947</c:v>
              </c:pt>
              <c:pt idx="2">
                <c:v>641.744731</c:v>
              </c:pt>
              <c:pt idx="3">
                <c:v>698.566003</c:v>
              </c:pt>
              <c:pt idx="4">
                <c:v>710.6444</c:v>
              </c:pt>
              <c:pt idx="5">
                <c:v>724.149423</c:v>
              </c:pt>
              <c:pt idx="6">
                <c:v>717.297906</c:v>
              </c:pt>
              <c:pt idx="7">
                <c:v>720.642221</c:v>
              </c:pt>
              <c:pt idx="8">
                <c:v>720.485287</c:v>
              </c:pt>
              <c:pt idx="9">
                <c:v>742.599435</c:v>
              </c:pt>
              <c:pt idx="10">
                <c:v>734.757404</c:v>
              </c:pt>
              <c:pt idx="11">
                <c:v>741.284955</c:v>
              </c:pt>
              <c:pt idx="12">
                <c:v>731.796231</c:v>
              </c:pt>
              <c:pt idx="13">
                <c:v>730.493948</c:v>
              </c:pt>
              <c:pt idx="14">
                <c:v>735.937402</c:v>
              </c:pt>
              <c:pt idx="15">
                <c:v>749.522751</c:v>
              </c:pt>
              <c:pt idx="16">
                <c:v>740.148837</c:v>
              </c:pt>
              <c:pt idx="17">
                <c:v>738.126746</c:v>
              </c:pt>
              <c:pt idx="18">
                <c:v>740.205264</c:v>
              </c:pt>
              <c:pt idx="19">
                <c:v>748.390543</c:v>
              </c:pt>
              <c:pt idx="20">
                <c:v>742.353467</c:v>
              </c:pt>
              <c:pt idx="21">
                <c:v>745.075513</c:v>
              </c:pt>
              <c:pt idx="22">
                <c:v>756.75112</c:v>
              </c:pt>
              <c:pt idx="23">
                <c:v>743.875757</c:v>
              </c:pt>
              <c:pt idx="24">
                <c:v>755.300052</c:v>
              </c:pt>
              <c:pt idx="25">
                <c:v>755.958151</c:v>
              </c:pt>
              <c:pt idx="26">
                <c:v>752.711234</c:v>
              </c:pt>
              <c:pt idx="27">
                <c:v>747.009805</c:v>
              </c:pt>
              <c:pt idx="28">
                <c:v>731.167215</c:v>
              </c:pt>
              <c:pt idx="29">
                <c:v>754.510757</c:v>
              </c:pt>
              <c:pt idx="30">
                <c:v>748.99234</c:v>
              </c:pt>
              <c:pt idx="31">
                <c:v>740.01637</c:v>
              </c:pt>
              <c:pt idx="32">
                <c:v>747.367642</c:v>
              </c:pt>
              <c:pt idx="33">
                <c:v>750.745288</c:v>
              </c:pt>
              <c:pt idx="34">
                <c:v>752.04888</c:v>
              </c:pt>
              <c:pt idx="35">
                <c:v>750.763</c:v>
              </c:pt>
              <c:pt idx="36">
                <c:v>755.721024</c:v>
              </c:pt>
              <c:pt idx="37">
                <c:v>766.165701</c:v>
              </c:pt>
              <c:pt idx="38">
                <c:v>749.690564</c:v>
              </c:pt>
              <c:pt idx="39">
                <c:v>747.587836</c:v>
              </c:pt>
              <c:pt idx="40">
                <c:v>754.262115</c:v>
              </c:pt>
              <c:pt idx="41">
                <c:v>748.896735</c:v>
              </c:pt>
              <c:pt idx="42">
                <c:v>765.137915</c:v>
              </c:pt>
              <c:pt idx="43">
                <c:v>757.97623</c:v>
              </c:pt>
              <c:pt idx="44">
                <c:v>761.738226</c:v>
              </c:pt>
              <c:pt idx="45">
                <c:v>749.394556</c:v>
              </c:pt>
              <c:pt idx="46">
                <c:v>753.24805</c:v>
              </c:pt>
              <c:pt idx="47">
                <c:v>752.399857</c:v>
              </c:pt>
              <c:pt idx="48">
                <c:v>754.54487</c:v>
              </c:pt>
              <c:pt idx="49">
                <c:v>754.87735</c:v>
              </c:pt>
              <c:pt idx="50">
                <c:v>758.440125</c:v>
              </c:pt>
              <c:pt idx="51">
                <c:v>749.690707</c:v>
              </c:pt>
              <c:pt idx="52">
                <c:v>761.538394</c:v>
              </c:pt>
              <c:pt idx="53">
                <c:v>759.956818</c:v>
              </c:pt>
              <c:pt idx="54">
                <c:v>765.758362</c:v>
              </c:pt>
              <c:pt idx="55">
                <c:v>757.56203</c:v>
              </c:pt>
              <c:pt idx="56">
                <c:v>763.612943</c:v>
              </c:pt>
              <c:pt idx="57">
                <c:v>756.778336</c:v>
              </c:pt>
              <c:pt idx="58">
                <c:v>760.613538</c:v>
              </c:pt>
              <c:pt idx="59">
                <c:v>758.183121</c:v>
              </c:pt>
              <c:pt idx="60">
                <c:v>762.371234</c:v>
              </c:pt>
              <c:pt idx="61">
                <c:v>760.226883</c:v>
              </c:pt>
              <c:pt idx="62">
                <c:v>761.742801</c:v>
              </c:pt>
              <c:pt idx="63">
                <c:v>754.330609</c:v>
              </c:pt>
              <c:pt idx="64">
                <c:v>760.714874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majorUnit val="250"/>
      </c:valAx>
      <c:valAx>
        <c:axId val="48650112"/>
        <c:scaling>
          <c:orientation val="minMax"/>
          <c:max val="102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778"/>
                    </a:solidFill>
                    <a:latin typeface="微软雅黑"/>
                    <a:ea typeface="微软雅黑"/>
                    <a:cs typeface="微软雅黑"/>
                  </a:rPr>
                  <a:t>本轮 PPO 更新数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77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majorUnit val="256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百米用时（秒）</c:v>
          </c:tx>
          <c:spPr>
            <a:solidFill xmlns:a="http://schemas.openxmlformats.org/drawingml/2006/main">
              <a:srgbClr val="064A8D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11796E"/>
              </a:solidFill>
            </c:spPr>
          </c:dPt>
          <c:cat>
            <c:strLit>
              <c:ptCount val="2"/>
              <c:pt idx="0">
                <c:v>自主优化</c:v>
              </c:pt>
              <c:pt idx="1">
                <c:v>专家模仿</c:v>
              </c:pt>
            </c:strLit>
          </c:cat>
          <c:val>
            <c:numLit>
              <c:formatCode>0</c:formatCode>
              <c:ptCount val="2"/>
              <c:pt idx="0">
                <c:v>44.933334</c:v>
              </c:pt>
              <c:pt idx="1">
                <c:v>33.033333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D2A3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QWOP 游戏简介与研究任务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92CFEAD4-85A0-45DE-A4DB-CF0C9A50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95375"/>
            <a:ext cx="1109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基于深度强化学习的运动控制与策略优化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4050D-228E-4773-AB97-8D64DF4FA8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9f6aeb9dc4d82"/>
          <a:stretch xmlns:a="http://schemas.openxmlformats.org/drawingml/2006/main"/>
        </p:blipFill>
        <p:spPr>
          <a:xfrm xmlns:a="http://schemas.openxmlformats.org/drawingml/2006/main">
            <a:off x="480083" y="1895475"/>
            <a:ext cx="6231210" cy="3895725"/>
          </a:xfrm>
          <a:prstGeom xmlns:a="http://schemas.openxmlformats.org/drawingml/2006/main" prst="rect">
            <a:avLst/>
          </a:prstGeom>
        </p:spPr>
      </p:pic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6C784A86-B635-430F-8F57-B2773E95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四键控制双腿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70E99725-AF30-4E0E-975E-1777D90F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Q / W / O / P 组成 16 类动作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ECEFABB7-42D3-4B2A-94D2-F8467DE2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62325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目标：稳定完成百米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F6724E6A-784E-458E-9871-459A6259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在原生计分规则下缩短完赛用时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CF7D4837-D6FA-4B4E-9AB9-78564005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8630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难点：全身连续协调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C8E554C9-FE20-46D9-839C-697F7CC2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2922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平衡、推进与越栏需要连续配合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106F9074-C994-44D1-85B7-9078324D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9597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原版 QWOP 游戏示意，图中数值不代表本项目成绩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39088D55-77FE-49FB-B440-EACF1630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72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Lionel_Zhao  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开源项目提供的训练基础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232D000F-9840-4529-98D9-1CA54FE3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复用作者架构，在任务奖励与策略学习上开展实验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75D69-61D4-447A-B689-6A889CAFAE9A}"/>
              </a:ext>
            </a:extLst>
          </p:cNvPr>
          <p:cNvGraphicFramePr/>
          <p:nvPr/>
        </p:nvGraphicFramePr>
        <p:xfrm>
          <a:off xmlns:a="http://schemas.openxmlformats.org/drawingml/2006/main" x="476250" y="1924050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4524375"/>
                <a:gridCol w="4810125"/>
              </a:tblGrid>
              <a:tr h="619125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开源项目已提供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本地完成的工作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原生物理后端、Python 接口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百米、跨栏与跳远任务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Windows 11 / PyTorch / CUDA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跑通训练、重置和模型加载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训练算法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PPO、Actor / Critic、GAE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并行采样与策略蒸馏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奖励迭代、历史状态与探索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 微调及局部参数搜索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训练日志与 checkpoint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评估、模型加载及回放导出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公开回放采集与行为克隆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原生闭环验证及结果归档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72CCDE82-2200-47EC-A565-ECA9286D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435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项目来源：LYiHub / QWOP_rl_training_public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4E9634C5-AC13-4981-9A12-E6AF395A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4840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保留作者的 PPO、采样、日志与模型保存流程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3BF29-979A-4D2A-8BC8-349E84540F2E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5772150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1D396-252B-4FD4-9A38-1BF486296D98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448550" y="46005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ABA2A-B77F-45A5-8EE1-F4F553FDA0B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96488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1E277-FB0F-4715-822E-84FF9A59ECE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48550" y="26193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5276D-83FF-4A52-80E9-F6979EE7609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26193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PPO 强化学习训练流程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E0842C26-D239-418E-8760-1E82D117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通过环境交互采样，再用价值估计更新动作策略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3D402D5F-88D1-4FA6-BD2C-F05A5A06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2428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身体状态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68 维 × 32 帧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C1CB2DA4-C9CD-41F7-A36E-6AE63951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859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策略网络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两层 256，输出 16 类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11DDA6CD-9260-4FA6-A609-C4C0379E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859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原生环境执行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奖励、新状态、终止</a:t>
            </a:r>
          </a:p>
        </p:txBody>
      </p:sp>
      <p:sp>
        <p:nvSpPr>
          <p:cNvPr id="7" name="process-5">
            <a:extLst xmlns:a="http://schemas.openxmlformats.org/drawingml/2006/main">
              <a:ext uri="{FF2B5EF4-FFF2-40B4-BE49-F238E27FC236}">
                <a16:creationId xmlns:a16="http://schemas.microsoft.com/office/drawing/2014/main" id="{169B7A39-0432-4347-9C57-65D8406B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671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Rollout 数据采集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并行环境的连续交互</a:t>
            </a:r>
          </a:p>
        </p:txBody>
      </p:sp>
      <p:sp>
        <p:nvSpPr>
          <p:cNvPr id="8" name="process-6">
            <a:extLst xmlns:a="http://schemas.openxmlformats.org/drawingml/2006/main">
              <a:ext uri="{FF2B5EF4-FFF2-40B4-BE49-F238E27FC236}">
                <a16:creationId xmlns:a16="http://schemas.microsoft.com/office/drawing/2014/main" id="{9C221C58-1E2E-4B31-BF04-7A08CD9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671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Critic 与 GAE 估计优势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PPO 裁剪目标更新策略</a:t>
            </a:r>
          </a:p>
        </p:txBody>
      </p:sp>
      <p:sp>
        <p:nvSpPr>
          <p:cNvPr id="14" name="content-12">
            <a:extLst xmlns:a="http://schemas.openxmlformats.org/drawingml/2006/main">
              <a:ext uri="{FF2B5EF4-FFF2-40B4-BE49-F238E27FC236}">
                <a16:creationId xmlns:a16="http://schemas.microsoft.com/office/drawing/2014/main" id="{595D8F68-3C5B-4D1D-A498-E374EDF0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049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按键动作</a:t>
            </a:r>
          </a:p>
        </p:txBody>
      </p:sp>
      <p:sp>
        <p:nvSpPr>
          <p:cNvPr id="15" name="content-13">
            <a:extLst xmlns:a="http://schemas.openxmlformats.org/drawingml/2006/main">
              <a:ext uri="{FF2B5EF4-FFF2-40B4-BE49-F238E27FC236}">
                <a16:creationId xmlns:a16="http://schemas.microsoft.com/office/drawing/2014/main" id="{BE017B13-8B22-4F83-BD16-AF3E58FD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194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更新策略</a:t>
            </a:r>
          </a:p>
        </p:txBody>
      </p:sp>
      <p:sp>
        <p:nvSpPr>
          <p:cNvPr id="16" name="content-14">
            <a:extLst xmlns:a="http://schemas.openxmlformats.org/drawingml/2006/main">
              <a:ext uri="{FF2B5EF4-FFF2-40B4-BE49-F238E27FC236}">
                <a16:creationId xmlns:a16="http://schemas.microsoft.com/office/drawing/2014/main" id="{78CF482E-FA1E-4A26-AA40-6B219AC9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02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决定怎样动作，Critic 评估长期回报</a:t>
            </a:r>
          </a:p>
        </p:txBody>
      </p:sp>
      <p:sp>
        <p:nvSpPr>
          <p:cNvPr id="17" name="content-15">
            <a:extLst xmlns:a="http://schemas.openxmlformats.org/drawingml/2006/main">
              <a:ext uri="{FF2B5EF4-FFF2-40B4-BE49-F238E27FC236}">
                <a16:creationId xmlns:a16="http://schemas.microsoft.com/office/drawing/2014/main" id="{C1AB9D30-6CAF-4A0D-B9E0-5193354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GAE 分配动作优势，PPO 限制单次策略变化，训练后保存 checkpoint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自主训练与策略优化结果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BAFD1371-949B-45D9-A1CF-8172AF1E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起步探索阶段：平均回合回报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9749504-7862-455D-9E05-81B34E3EAA11}"/>
              </a:ext>
            </a:extLst>
          </p:cNvPr>
          <p:cNvGraphicFramePr/>
          <p:nvPr/>
        </p:nvGraphicFramePr>
        <p:xfrm>
          <a:off xmlns:a="http://schemas.openxmlformats.org/drawingml/2006/main" x="409575" y="1809750"/>
          <a:ext xmlns:a="http://schemas.openxmlformats.org/drawingml/2006/main" cx="7096125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1c25bd9d184638"/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711790D2-4DED-45F5-8035-523C9DB8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纯 PPO 最好候选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1F8B218A-91A1-4BBF-A403-25CAF02C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9547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45.400 秒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8D0BD695-4219-4BEA-8431-E8D8F68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局部参数搜索后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45DAC842-F309-4252-84B2-DC31FF75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0522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44.933 秒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FEC4CE90-8FB6-4D32-8440-AD7F709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均通过原生环境完赛验证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4A5D448C-005F-4BEE-9FC7-64B44581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72075"/>
            <a:ext cx="719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真实 v33 单次续训，20 个记录点滚动均值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516C272F-DD28-46AD-9AD0-2EB2D14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15000"/>
            <a:ext cx="1114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调整进度、低姿态与完赛反馈，结合历史状态和起步探索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65B32FD3-31FD-4C78-AC0C-A5343091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293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RND 对照未刷新最快成绩，固定姿态偏好仍需实验检验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69831-9992-4BC8-B8E2-E8A04E0AA82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2D841-F5BA-4EEB-B118-2B653E21C1D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055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6C3A6-F2C5-4C83-9507-82C5453D746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专家模仿的实现与结果</a:t>
            </a:r>
            <a:endParaRPr/>
          </a:p>
        </p:txBody>
      </p:sp>
      <p:sp>
        <p:nvSpPr>
          <p:cNvPr id="3" name="process-1">
            <a:extLst xmlns:a="http://schemas.openxmlformats.org/drawingml/2006/main">
              <a:ext uri="{FF2B5EF4-FFF2-40B4-BE49-F238E27FC236}">
                <a16:creationId xmlns:a16="http://schemas.microsoft.com/office/drawing/2014/main" id="{C1DF8C4F-E71B-4615-842F-0D25D900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 XYF 回放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991 帧按键动作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DE7E896D-7A0A-4253-8FA8-5A36708F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原生重放采样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状态与动作对齐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CFE53BD7-F240-4CB2-B49E-94EC4AD0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行为克隆训练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交叉熵更新 Actor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ADA4A47B-F9CA-485D-ACEE-95EEDED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闭环验证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实时观测决定动作</a:t>
            </a:r>
          </a:p>
        </p:txBody>
      </p:sp>
      <p:sp>
        <p:nvSpPr>
          <p:cNvPr id="10" name="content-8">
            <a:extLst xmlns:a="http://schemas.openxmlformats.org/drawingml/2006/main">
              <a:ext uri="{FF2B5EF4-FFF2-40B4-BE49-F238E27FC236}">
                <a16:creationId xmlns:a16="http://schemas.microsoft.com/office/drawing/2014/main" id="{B790E00F-D369-4CA1-92D6-4F243413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固定初态下的确定性百米用时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AEB21DD5-3AE9-49FC-988C-3C16265EBAE2}"/>
              </a:ext>
            </a:extLst>
          </p:cNvPr>
          <p:cNvGraphicFramePr/>
          <p:nvPr/>
        </p:nvGraphicFramePr>
        <p:xfrm>
          <a:off xmlns:a="http://schemas.openxmlformats.org/drawingml/2006/main" x="400050" y="3467100"/>
          <a:ext xmlns:a="http://schemas.openxmlformats.org/drawingml/2006/main" cx="6410325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25977f65704c77"/>
          </a:graphicData>
        </a:graphic>
      </p:graphicFrame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550E6193-B873-4E79-915E-0F249A8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4114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33.033 秒</a:t>
            </a:r>
          </a:p>
        </p:txBody>
      </p:sp>
      <p:sp>
        <p:nvSpPr>
          <p:cNvPr id="13" name="content-10">
            <a:extLst xmlns:a="http://schemas.openxmlformats.org/drawingml/2006/main">
              <a:ext uri="{FF2B5EF4-FFF2-40B4-BE49-F238E27FC236}">
                <a16:creationId xmlns:a16="http://schemas.microsoft.com/office/drawing/2014/main" id="{022693EC-B64D-4DDC-AE91-458326AD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814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1000 轮行为克隆后完成百米</a:t>
            </a:r>
          </a:p>
        </p:txBody>
      </p:sp>
      <p:sp>
        <p:nvSpPr>
          <p:cNvPr id="14" name="content-11">
            <a:extLst xmlns:a="http://schemas.openxmlformats.org/drawingml/2006/main">
              <a:ext uri="{FF2B5EF4-FFF2-40B4-BE49-F238E27FC236}">
                <a16:creationId xmlns:a16="http://schemas.microsoft.com/office/drawing/2014/main" id="{F3FD8F3C-F1E7-402B-A413-684E59AE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4048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固定初态确定性复测：16 / 16 成功</a:t>
            </a:r>
          </a:p>
        </p:txBody>
      </p:sp>
      <p:sp>
        <p:nvSpPr>
          <p:cNvPr id="15" name="content-12">
            <a:extLst xmlns:a="http://schemas.openxmlformats.org/drawingml/2006/main">
              <a:ext uri="{FF2B5EF4-FFF2-40B4-BE49-F238E27FC236}">
                <a16:creationId xmlns:a16="http://schemas.microsoft.com/office/drawing/2014/main" id="{08A99FA0-140A-4C82-A2B2-2F48DF10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38825"/>
            <a:ext cx="6486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自主优化含 PPO 后的局部参数搜索</a:t>
            </a:r>
          </a:p>
        </p:txBody>
      </p:sp>
      <p:sp>
        <p:nvSpPr>
          <p:cNvPr id="16" name="content-13">
            <a:extLst xmlns:a="http://schemas.openxmlformats.org/drawingml/2006/main">
              <a:ext uri="{FF2B5EF4-FFF2-40B4-BE49-F238E27FC236}">
                <a16:creationId xmlns:a16="http://schemas.microsoft.com/office/drawing/2014/main" id="{67F9F327-F115-4B62-9760-E064D5AF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96025"/>
            <a:ext cx="11191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公开专家示范的本地复现，后续 PPO 微调尚未突破该时间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2026-10-15T09:26:58.2340000Z</dcterms:created>
  <dcterms:modified xsi:type="dcterms:W3CDTF">2026-10-15T09:26:58.2340000Z</dcterms:modified>
</coreProperties>
</file>