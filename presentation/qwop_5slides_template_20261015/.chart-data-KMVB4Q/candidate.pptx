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58b913f1f46a7" /><Relationship Type="http://schemas.openxmlformats.org/officeDocument/2006/relationships/extended-properties" Target="/docProps/app.xml" Id="R5129249d343c44c2" /><Relationship Type="http://schemas.openxmlformats.org/officeDocument/2006/relationships/officeDocument" Target="/ppt/presentation.xml" Id="Rcca6d0f7b34c4a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2ddb4cd6ab42c3"/>
  </p:sldMasterIdLst>
  <p:notesMasterIdLst>
    <p:notesMasterId xmlns:r="http://schemas.openxmlformats.org/officeDocument/2006/relationships" r:id="R50cf7f06750f45f8"/>
  </p:notesMasterIdLst>
  <p:sldIdLst>
    <p:sldId xmlns:r="http://schemas.openxmlformats.org/officeDocument/2006/relationships" id="256" r:id="Ree7efefab08e4c59"/>
    <p:sldId xmlns:r="http://schemas.openxmlformats.org/officeDocument/2006/relationships" id="257" r:id="R56800dc5053f431a"/>
    <p:sldId xmlns:r="http://schemas.openxmlformats.org/officeDocument/2006/relationships" id="258" r:id="Ra18734c8d69846a1"/>
    <p:sldId xmlns:r="http://schemas.openxmlformats.org/officeDocument/2006/relationships" id="259" r:id="R7ed78e785fb7483e"/>
    <p:sldId xmlns:r="http://schemas.openxmlformats.org/officeDocument/2006/relationships" id="260" r:id="R28afde01c5ad41e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012f567334596" /><Relationship Type="http://schemas.openxmlformats.org/officeDocument/2006/relationships/slideMaster" Target="/ppt/slideMasters/slideMaster1.xml" Id="R212ddb4cd6ab42c3" /><Relationship Type="http://schemas.openxmlformats.org/officeDocument/2006/relationships/notesMaster" Target="/ppt/notesMasters/notesMaster1.xml" Id="R50cf7f06750f45f8" /><Relationship Type="http://schemas.openxmlformats.org/officeDocument/2006/relationships/presProps" Target="/ppt/presProps.xml" Id="R5c864bc5b09b40fa" /><Relationship Type="http://schemas.openxmlformats.org/officeDocument/2006/relationships/viewProps" Target="/ppt/viewProps.xml" Id="Rd08f43c6cc604bea" /><Relationship Type="http://schemas.openxmlformats.org/officeDocument/2006/relationships/tableStyles" Target="/ppt/tableStyles.xml" Id="Rc20dc85f85594410" /><Relationship Type="http://schemas.openxmlformats.org/officeDocument/2006/relationships/slide" Target="/ppt/slides/slide1.xml" Id="Ree7efefab08e4c59" /><Relationship Type="http://schemas.openxmlformats.org/officeDocument/2006/relationships/slide" Target="/ppt/slides/slide2.xml" Id="R56800dc5053f431a" /><Relationship Type="http://schemas.openxmlformats.org/officeDocument/2006/relationships/slide" Target="/ppt/slides/slide3.xml" Id="Ra18734c8d69846a1" /><Relationship Type="http://schemas.openxmlformats.org/officeDocument/2006/relationships/slide" Target="/ppt/slides/slide4.xml" Id="R7ed78e785fb7483e" /><Relationship Type="http://schemas.openxmlformats.org/officeDocument/2006/relationships/slide" Target="/ppt/slides/slide5.xml" Id="R28afde01c5ad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c50461f12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069f8ffcfd4b97" /><Relationship Type="http://schemas.openxmlformats.org/officeDocument/2006/relationships/notesMaster" Target="/ppt/notesMasters/notesMaster1.xml" Id="R942097f88835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c89e9622942ee" /><Relationship Type="http://schemas.openxmlformats.org/officeDocument/2006/relationships/notesMaster" Target="/ppt/notesMasters/notesMaster1.xml" Id="R079742632b5a4d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6129b09afa4061" /><Relationship Type="http://schemas.openxmlformats.org/officeDocument/2006/relationships/notesMaster" Target="/ppt/notesMasters/notesMaster1.xml" Id="R7085eb1b077e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9ab3209ca4053" /><Relationship Type="http://schemas.openxmlformats.org/officeDocument/2006/relationships/notesMaster" Target="/ppt/notesMasters/notesMaster1.xml" Id="Ra32368c4ed0b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3619c2a7e147f0" /><Relationship Type="http://schemas.openxmlformats.org/officeDocument/2006/relationships/notesMaster" Target="/ppt/notesMasters/notesMaster1.xml" Id="Rb66e2fdb2139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游戏图片原始来源：https://s3.amazonaws.com/tci-assets/uploads/bennett-pic.jpg</a:t>
            </a:r>
          </a:p>
          <a:p xmlns:a="http://schemas.openxmlformats.org/drawingml/2006/main"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QWOP_rl_training_public/README.md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QWOP_rl_training_public/configs</a:t>
            </a:r>
          </a:p>
          <a:p xmlns:a="http://schemas.openxmlformats.org/drawingml/2006/main">
            <a:r>
              <a:t>QWOP_rl_training_public/docs/bottleneck-followup-training.md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 xmlns:a="http://schemas.openxmlformats.org/drawingml/2006/main">
            <a:r>
              <a:t>成绩来源：QWOP_rl_training_public/docs/bottleneck-followup-training.md</a:t>
            </a:r>
          </a:p>
          <a:p xmlns:a="http://schemas.openxmlformats.org/drawingml/2006/main"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来源：QWOP_rl_training_public/docs/shadow-imitation-pilot.md</a:t>
            </a:r>
          </a:p>
          <a:p xmlns:a="http://schemas.openxmlformats.org/drawingml/2006/main">
            <a:r>
              <a:t>verification/shadow_audit/imitation_pilot.json</a:t>
            </a:r>
          </a:p>
          <a:p xmlns:a="http://schemas.openxmlformats.org/drawingml/2006/main">
            <a:r>
              <a:t>verification/shadow_audit/student_deterministic16.json</a:t>
            </a:r>
          </a:p>
          <a:p xmlns:a="http://schemas.openxmlformats.org/drawingml/2006/main">
            <a:r>
              <a:t>verification/shadow_audit/student_stochastic64.json</a:t>
            </a:r>
          </a:p>
          <a:p xmlns:a="http://schemas.openxmlformats.org/drawingml/2006/main">
            <a:r>
              <a:t>QWOP_rl_training_public/docs/classic-speed-signal-20261015.md</a:t>
            </a:r>
          </a:p>
          <a:p xmlns:a="http://schemas.openxmlformats.org/drawingml/2006/main"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a127d30da4efa" /><Relationship Type="http://schemas.openxmlformats.org/officeDocument/2006/relationships/image" Target="/ppt/media/image2.png" Id="Rb925c56c8e1b42bf" /><Relationship Type="http://schemas.openxmlformats.org/officeDocument/2006/relationships/image" Target="/ppt/media/image3.png" Id="R45fb7c14be7f4b58" /><Relationship Type="http://schemas.openxmlformats.org/officeDocument/2006/relationships/image" Target="/ppt/media/image4.png" Id="Rda201195451749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0a992201341a9" /><Relationship Type="http://schemas.openxmlformats.org/officeDocument/2006/relationships/image" Target="/ppt/media/image5.png" Id="R9b97170570ec447d" /><Relationship Type="http://schemas.openxmlformats.org/officeDocument/2006/relationships/image" Target="/ppt/media/image4.png" Id="R8c898e2369e644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cd213ca7044ee" /><Relationship Type="http://schemas.openxmlformats.org/officeDocument/2006/relationships/image" Target="/ppt/media/image3.png" Id="Rbcab3577ad744fdf" /><Relationship Type="http://schemas.openxmlformats.org/officeDocument/2006/relationships/image" Target="/ppt/media/image2.png" Id="R43f7d6f7a0e3424b" /><Relationship Type="http://schemas.openxmlformats.org/officeDocument/2006/relationships/image" Target="/ppt/media/image4.png" Id="R2be0602fa21043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47e6fc0d345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c7781b9024de2" /><Relationship Type="http://schemas.openxmlformats.org/officeDocument/2006/relationships/image" Target="/ppt/media/image6.png" Id="Rcc895c65e0a84d73" /><Relationship Type="http://schemas.openxmlformats.org/officeDocument/2006/relationships/image" Target="/ppt/media/image2.png" Id="R878b609daa8648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48ce372524042" /><Relationship Type="http://schemas.openxmlformats.org/officeDocument/2006/relationships/image" Target="/ppt/media/image6.png" Id="R0b8ea9662dd64092" /><Relationship Type="http://schemas.openxmlformats.org/officeDocument/2006/relationships/image" Target="/ppt/media/image2.png" Id="Re122c5a2b9b8408a" /></Relationships>
</file>

<file path=ppt/slideLayouts/slideLayout1.xml><?xml version="1.0" encoding="utf-8"?>
<p:sldLayout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7A305D-9CC4-4333-B923-898010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2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D51A5E-B904-4379-986D-76E468C6F5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66905"/>
            <a:ext cx="9144000" cy="10430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9ACA4C-6382-4350-80C6-ECDACE92D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44407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411EDF-B8CB-47E1-8C46-BD0E8FD25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FB8EBE-EFC5-4A6C-8AE4-C9E19A8BE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CA4AEE-410C-49D3-A83F-8D7BCB7CF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DCE96FB4-C715-4DFE-B77F-E135F9309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25c56c8e1b42bf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58711-76B9-46D0-B088-578364B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4067"/>
            <a:ext cx="3358727" cy="420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4267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1AB9AC53-A4E5-4CE3-BFE7-8034BB028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fb7c14be7f4b58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67080" y="0"/>
            <a:ext cx="4516594" cy="4121696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9BE4B34-9E77-47CD-9556-E32C345AE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201195451749fe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356447" y="281094"/>
            <a:ext cx="588433" cy="588434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094669-887A-4D5A-9D2F-C210E35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0"/>
            <a:ext cx="3544863" cy="685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0CEFF458-15FC-4CAA-9701-C964DBFA8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97170570ec447d"/>
          <a:srcRect xmlns:a="http://schemas.openxmlformats.org/drawingml/2006/main" l="29656" t="845" r="8106" b="13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-206" y="401"/>
            <a:ext cx="3087870" cy="5142161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469F09-97C2-43E6-8E74-8DBE52157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4611AC6-2CCF-4CA3-9BD4-F691EDF77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7EA059-40D7-4AE4-B179-BE164EFB8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1CCC20-D898-4461-BABA-A9E4E9C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050"/>
            <a:ext cx="251904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00D79-01AE-40E6-9E98-C3F617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07" y="4762375"/>
            <a:ext cx="2025000" cy="2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EA011B5-A4A7-4A9F-BDF6-B62B916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" y="2047875"/>
            <a:ext cx="2213610" cy="10985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7A4E69-F6CC-4542-A8C3-0DAAFFC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2164080"/>
            <a:ext cx="1898650" cy="902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CONTENTS</a:t>
            </a:r>
            <a:endParaRPr sz="7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76ED13F5-8B70-4AFD-A4E5-32701C874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898e2369e644d5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267335" y="210820"/>
            <a:ext cx="441325" cy="441325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50A61B-FF71-4559-8541-70DC5C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-1771"/>
            <a:ext cx="12193200" cy="755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3343B678-0F14-47D5-9C26-8573A1A0A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ab3577ad744fdf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73819" y="0"/>
            <a:ext cx="4516594" cy="4121696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DD246FE-E87A-4548-8A3E-910D8B14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" y="707322"/>
            <a:ext cx="12193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69C4B-91D2-4F98-82D7-1B90FED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02" y="393115"/>
            <a:ext cx="611187" cy="25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33109BAF-7E30-4082-9BFB-9389C5BDB309}" type="slidenum">
              <a:t>‹#›</a:t>
            </a:fld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B66AD-8777-4577-98B9-D90E00DBC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5EBD57-2965-44C5-9964-18B4B6D62F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B22D31-EBAA-4085-A27C-82731B2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33653844-3617-4109-B319-5D906F5ED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f7d6f7a0e3424b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21E9D-C977-4348-9D9F-A4ED48DB8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9185" y="168693"/>
            <a:ext cx="11597749" cy="54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806F30B3-B56E-4591-8127-DF79A8E22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e0602fa210431c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11218161" y="130414"/>
            <a:ext cx="530867" cy="530867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0BFCF-D49A-4F0C-B647-9A1323B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39B950-A000-4802-9EFB-FB4DC11EB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A5C174-987F-4F8C-AE2E-873C2CB49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F76F04-BCC4-4441-8E8C-9DEF91004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50BC2862-41F7-451F-9579-3FAB4ABD9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895c65e0a84d73"/>
          <a:srcRect xmlns:a="http://schemas.openxmlformats.org/drawingml/2006/main" l="0" t="0" r="260" b="8769"/>
          <a:stretch xmlns:a="http://schemas.openxmlformats.org/drawingml/2006/main"/>
        </p:blipFill>
        <p:spPr>
          <a:xfrm xmlns:a="http://schemas.openxmlformats.org/drawingml/2006/main">
            <a:off x="6108330" y="0"/>
            <a:ext cx="608367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1324B96E-D066-414F-B574-B50B7896B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b609daa8648c9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4445"/>
            <a:ext cx="4055745" cy="55600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2130A-B568-45F8-AE90-5C057F0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" y="432000"/>
            <a:ext cx="10852239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ctr">
            <a:noAutofit/>
          </a:bodyPr>
          <a:lstStyle xmlns:a="http://schemas.openxmlformats.org/drawingml/2006/main"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CA8AC5-B061-413E-AFC8-653697807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9883" y="1296000"/>
            <a:ext cx="10852239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D7A827-1CF7-4C33-BE86-49F3447AB4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79743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2026/9/1</a:t>
            </a:fld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09418-185D-47D1-AA00-75005DFA00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49833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4B48C-B2DB-4108-A4D5-5D6790D34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E2897F-118C-46E0-B4E6-5A231DE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-4233"/>
            <a:ext cx="12236873" cy="686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760"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65203B7F-F35F-4263-AEE0-E628431E2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ea9662dd64092"/>
          <a:srcRect xmlns:a="http://schemas.openxmlformats.org/drawingml/2006/main" l="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5647" y="-4445"/>
            <a:ext cx="8111560" cy="751713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C2D6AB94-5A2B-47A3-800D-1C5EE615A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2c5a2b9b8408a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4445"/>
            <a:ext cx="5407660" cy="5560060"/>
          </a:xfrm>
          <a:prstGeom xmlns:a="http://schemas.openxmlformats.org/drawingml/2006/main" prst="rect">
            <a:avLst/>
          </a:prstGeom>
        </p:spPr>
      </p:pic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CBF3D860-587B-4D7B-8301-417B0614127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2864297"/>
            <a:ext cx="12240683" cy="1128751"/>
          </a:xfrm>
        </p:spPr>
        <p:txBody>
          <a:bodyPr xmlns:a="http://schemas.openxmlformats.org/drawingml/2006/main" lIns="101600" tIns="38100" rIns="25400" bIns="38100" anchor="t">
            <a:noAutofit/>
          </a:bodyPr>
          <a:lstStyle xmlns:a="http://schemas.openxmlformats.org/drawingml/2006/main"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384a91899f340df" /><Relationship Type="http://schemas.openxmlformats.org/officeDocument/2006/relationships/theme" Target="/ppt/slideMasters/theme/theme2.xml" Id="R409dc7dd340f4fa5" /><Relationship Type="http://schemas.openxmlformats.org/officeDocument/2006/relationships/slideLayout" Target="/ppt/slideLayouts/slideLayout1.xml" Id="Reeaca45ce08248b0" /><Relationship Type="http://schemas.openxmlformats.org/officeDocument/2006/relationships/slideLayout" Target="/ppt/slideLayouts/slideLayout2.xml" Id="R13f48f6529b14ac8" /><Relationship Type="http://schemas.openxmlformats.org/officeDocument/2006/relationships/slideLayout" Target="/ppt/slideLayouts/slideLayout3.xml" Id="R80260db953cd433f" /><Relationship Type="http://schemas.openxmlformats.org/officeDocument/2006/relationships/slideLayout" Target="/ppt/slideLayouts/slideLayout4.xml" Id="R9e42bf8b0ad3418d" /><Relationship Type="http://schemas.openxmlformats.org/officeDocument/2006/relationships/slideLayout" Target="/ppt/slideLayouts/slideLayout5.xml" Id="Re4aba9ced9cd490b" /><Relationship Type="http://schemas.openxmlformats.org/officeDocument/2006/relationships/slideLayout" Target="/ppt/slideLayouts/slideLayout6.xml" Id="Rf6085c98d5b44e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20F725-AC38-4DA6-AF8D-54BB6DAF7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9C1E52-E89C-4486-8907-720448F88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829FAA-9A18-46DD-80DD-358DC4158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B16E2-CD1C-4B5E-B5E1-FF54141FB7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F88795-026C-43F0-A184-FB075E23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66DF5CA4-AE18-4E3D-A2BF-F021E09E6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84a91899f340df"/>
          <a:srcRect xmlns:a="http://schemas.openxmlformats.org/drawingml/2006/main" l="0" t="24709" r="0" b="0"/>
          <a:stretch xmlns:a="http://schemas.openxmlformats.org/drawingml/2006/main"/>
        </p:blipFill>
        <p:spPr>
          <a:xfrm xmlns:a="http://schemas.openxmlformats.org/drawingml/2006/main">
            <a:off x="7674000" y="0"/>
            <a:ext cx="4518000" cy="412169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ca45ce08248b0"/>
    <p:sldLayoutId xmlns:r="http://schemas.openxmlformats.org/officeDocument/2006/relationships" id="2147483650" r:id="R13f48f6529b14ac8"/>
    <p:sldLayoutId xmlns:r="http://schemas.openxmlformats.org/officeDocument/2006/relationships" id="2147483651" r:id="R80260db953cd433f"/>
    <p:sldLayoutId xmlns:r="http://schemas.openxmlformats.org/officeDocument/2006/relationships" id="2147483652" r:id="R9e42bf8b0ad3418d"/>
    <p:sldLayoutId xmlns:r="http://schemas.openxmlformats.org/officeDocument/2006/relationships" id="2147483653" r:id="Re4aba9ced9cd490b"/>
    <p:sldLayoutId xmlns:r="http://schemas.openxmlformats.org/officeDocument/2006/relationships" id="2147483654" r:id="Rf6085c98d5b44e2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a30aa79b184e16" /><Relationship Type="http://schemas.openxmlformats.org/officeDocument/2006/relationships/image" Target="/ppt/media/image.jpeg" Id="R8f58a724261a4a90" /><Relationship Type="http://schemas.openxmlformats.org/officeDocument/2006/relationships/notesSlide" Target="/ppt/notesSlides/notesSlide1.xml" Id="Rea46c95bc67f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ad598730e84458" /><Relationship Type="http://schemas.openxmlformats.org/officeDocument/2006/relationships/notesSlide" Target="/ppt/notesSlides/notesSlide2.xml" Id="R7fef1bab15fc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6fd900cba04c65" /><Relationship Type="http://schemas.openxmlformats.org/officeDocument/2006/relationships/notesSlide" Target="/ppt/notesSlides/notesSlide3.xml" Id="R40484a8722e7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3376bc99ba4fe6" /><Relationship Type="http://schemas.openxmlformats.org/officeDocument/2006/relationships/chart" Target="/ppt/slides/charts/chart1.xml" Id="R37a1d094da8d4f80" /><Relationship Type="http://schemas.openxmlformats.org/officeDocument/2006/relationships/notesSlide" Target="/ppt/notesSlides/notesSlide4.xml" Id="Rbc5fab1b0645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eed33ba4fc49b1" /><Relationship Type="http://schemas.openxmlformats.org/officeDocument/2006/relationships/chart" Target="/ppt/slides/charts/chart2.xml" Id="R180500984dd2451c" /><Relationship Type="http://schemas.openxmlformats.org/officeDocument/2006/relationships/notesSlide" Target="/ppt/notesSlides/notesSlide5.xml" Id="R0024c4b4f5df44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回合回报，20点滚动均值</c:v>
          </c:tx>
          <c:spPr>
            <a:ln xmlns:a="http://schemas.openxmlformats.org/drawingml/2006/main" w="28575">
              <a:solidFill>
                <a:srgbClr val="064A8D"/>
              </a:solidFill>
            </a:ln>
          </c:spPr>
          <c:marker>
            <c:symbol val="none"/>
          </c:marker>
          <c:xVal>
            <c:numRef>
              <c:f>'Chart Data'!$A$2:$A$66</c:f>
              <c:numCache>
                <c:formatCode>General</c:formatCode>
                <c:ptCount val="65"/>
                <c:pt idx="0">
                  <c:v>1</c:v>
                </c:pt>
                <c:pt idx="1">
                  <c:v>21</c:v>
                </c:pt>
                <c:pt idx="2">
                  <c:v>37</c:v>
                </c:pt>
                <c:pt idx="3">
                  <c:v>53</c:v>
                </c:pt>
                <c:pt idx="4">
                  <c:v>69</c:v>
                </c:pt>
                <c:pt idx="5">
                  <c:v>85</c:v>
                </c:pt>
                <c:pt idx="6">
                  <c:v>101</c:v>
                </c:pt>
                <c:pt idx="7">
                  <c:v>117</c:v>
                </c:pt>
                <c:pt idx="8">
                  <c:v>133</c:v>
                </c:pt>
                <c:pt idx="9">
                  <c:v>149</c:v>
                </c:pt>
                <c:pt idx="10">
                  <c:v>165</c:v>
                </c:pt>
                <c:pt idx="11">
                  <c:v>181</c:v>
                </c:pt>
                <c:pt idx="12">
                  <c:v>197</c:v>
                </c:pt>
                <c:pt idx="13">
                  <c:v>213</c:v>
                </c:pt>
                <c:pt idx="14">
                  <c:v>229</c:v>
                </c:pt>
                <c:pt idx="15">
                  <c:v>245</c:v>
                </c:pt>
                <c:pt idx="16">
                  <c:v>261</c:v>
                </c:pt>
                <c:pt idx="17">
                  <c:v>277</c:v>
                </c:pt>
                <c:pt idx="18">
                  <c:v>293</c:v>
                </c:pt>
                <c:pt idx="19">
                  <c:v>309</c:v>
                </c:pt>
                <c:pt idx="20">
                  <c:v>325</c:v>
                </c:pt>
                <c:pt idx="21">
                  <c:v>341</c:v>
                </c:pt>
                <c:pt idx="22">
                  <c:v>357</c:v>
                </c:pt>
                <c:pt idx="23">
                  <c:v>373</c:v>
                </c:pt>
                <c:pt idx="24">
                  <c:v>389</c:v>
                </c:pt>
                <c:pt idx="25">
                  <c:v>405</c:v>
                </c:pt>
                <c:pt idx="26">
                  <c:v>421</c:v>
                </c:pt>
                <c:pt idx="27">
                  <c:v>437</c:v>
                </c:pt>
                <c:pt idx="28">
                  <c:v>453</c:v>
                </c:pt>
                <c:pt idx="29">
                  <c:v>469</c:v>
                </c:pt>
                <c:pt idx="30">
                  <c:v>485</c:v>
                </c:pt>
                <c:pt idx="31">
                  <c:v>501</c:v>
                </c:pt>
                <c:pt idx="32">
                  <c:v>517</c:v>
                </c:pt>
                <c:pt idx="33">
                  <c:v>533</c:v>
                </c:pt>
                <c:pt idx="34">
                  <c:v>549</c:v>
                </c:pt>
                <c:pt idx="35">
                  <c:v>565</c:v>
                </c:pt>
                <c:pt idx="36">
                  <c:v>581</c:v>
                </c:pt>
                <c:pt idx="37">
                  <c:v>597</c:v>
                </c:pt>
                <c:pt idx="38">
                  <c:v>613</c:v>
                </c:pt>
                <c:pt idx="39">
                  <c:v>629</c:v>
                </c:pt>
                <c:pt idx="40">
                  <c:v>645</c:v>
                </c:pt>
                <c:pt idx="41">
                  <c:v>661</c:v>
                </c:pt>
                <c:pt idx="42">
                  <c:v>677</c:v>
                </c:pt>
                <c:pt idx="43">
                  <c:v>693</c:v>
                </c:pt>
                <c:pt idx="44">
                  <c:v>709</c:v>
                </c:pt>
                <c:pt idx="45">
                  <c:v>725</c:v>
                </c:pt>
                <c:pt idx="46">
                  <c:v>741</c:v>
                </c:pt>
                <c:pt idx="47">
                  <c:v>757</c:v>
                </c:pt>
                <c:pt idx="48">
                  <c:v>773</c:v>
                </c:pt>
                <c:pt idx="49">
                  <c:v>789</c:v>
                </c:pt>
                <c:pt idx="50">
                  <c:v>805</c:v>
                </c:pt>
                <c:pt idx="51">
                  <c:v>821</c:v>
                </c:pt>
                <c:pt idx="52">
                  <c:v>837</c:v>
                </c:pt>
                <c:pt idx="53">
                  <c:v>853</c:v>
                </c:pt>
                <c:pt idx="54">
                  <c:v>869</c:v>
                </c:pt>
                <c:pt idx="55">
                  <c:v>885</c:v>
                </c:pt>
                <c:pt idx="56">
                  <c:v>901</c:v>
                </c:pt>
                <c:pt idx="57">
                  <c:v>917</c:v>
                </c:pt>
                <c:pt idx="58">
                  <c:v>933</c:v>
                </c:pt>
                <c:pt idx="59">
                  <c:v>949</c:v>
                </c:pt>
                <c:pt idx="60">
                  <c:v>965</c:v>
                </c:pt>
                <c:pt idx="61">
                  <c:v>981</c:v>
                </c:pt>
                <c:pt idx="62">
                  <c:v>997</c:v>
                </c:pt>
                <c:pt idx="63">
                  <c:v>1013</c:v>
                </c:pt>
                <c:pt idx="64">
                  <c:v>1024</c:v>
                </c:pt>
              </c:numCache>
            </c:numRef>
          </c:xVal>
          <c:yVal>
            <c:numRef>
              <c:f>'Chart Data'!$B$2:$B$66</c:f>
              <c:numCache>
                <c:formatCode>0</c:formatCode>
                <c:ptCount val="65"/>
                <c:pt idx="0">
                  <c:v>-51.659439</c:v>
                </c:pt>
                <c:pt idx="1">
                  <c:v>523.745947</c:v>
                </c:pt>
                <c:pt idx="2">
                  <c:v>641.744731</c:v>
                </c:pt>
                <c:pt idx="3">
                  <c:v>698.566003</c:v>
                </c:pt>
                <c:pt idx="4">
                  <c:v>710.6444</c:v>
                </c:pt>
                <c:pt idx="5">
                  <c:v>724.149423</c:v>
                </c:pt>
                <c:pt idx="6">
                  <c:v>717.297906</c:v>
                </c:pt>
                <c:pt idx="7">
                  <c:v>720.642221</c:v>
                </c:pt>
                <c:pt idx="8">
                  <c:v>720.485287</c:v>
                </c:pt>
                <c:pt idx="9">
                  <c:v>742.599435</c:v>
                </c:pt>
                <c:pt idx="10">
                  <c:v>734.757404</c:v>
                </c:pt>
                <c:pt idx="11">
                  <c:v>741.284955</c:v>
                </c:pt>
                <c:pt idx="12">
                  <c:v>731.796231</c:v>
                </c:pt>
                <c:pt idx="13">
                  <c:v>730.493948</c:v>
                </c:pt>
                <c:pt idx="14">
                  <c:v>735.937402</c:v>
                </c:pt>
                <c:pt idx="15">
                  <c:v>749.522751</c:v>
                </c:pt>
                <c:pt idx="16">
                  <c:v>740.148837</c:v>
                </c:pt>
                <c:pt idx="17">
                  <c:v>738.126746</c:v>
                </c:pt>
                <c:pt idx="18">
                  <c:v>740.205264</c:v>
                </c:pt>
                <c:pt idx="19">
                  <c:v>748.390543</c:v>
                </c:pt>
                <c:pt idx="20">
                  <c:v>742.353467</c:v>
                </c:pt>
                <c:pt idx="21">
                  <c:v>745.075513</c:v>
                </c:pt>
                <c:pt idx="22">
                  <c:v>756.75112</c:v>
                </c:pt>
                <c:pt idx="23">
                  <c:v>743.875757</c:v>
                </c:pt>
                <c:pt idx="24">
                  <c:v>755.300052</c:v>
                </c:pt>
                <c:pt idx="25">
                  <c:v>755.958151</c:v>
                </c:pt>
                <c:pt idx="26">
                  <c:v>752.711234</c:v>
                </c:pt>
                <c:pt idx="27">
                  <c:v>747.009805</c:v>
                </c:pt>
                <c:pt idx="28">
                  <c:v>731.167215</c:v>
                </c:pt>
                <c:pt idx="29">
                  <c:v>754.510757</c:v>
                </c:pt>
                <c:pt idx="30">
                  <c:v>748.99234</c:v>
                </c:pt>
                <c:pt idx="31">
                  <c:v>740.01637</c:v>
                </c:pt>
                <c:pt idx="32">
                  <c:v>747.367642</c:v>
                </c:pt>
                <c:pt idx="33">
                  <c:v>750.745288</c:v>
                </c:pt>
                <c:pt idx="34">
                  <c:v>752.04888</c:v>
                </c:pt>
                <c:pt idx="35">
                  <c:v>750.763</c:v>
                </c:pt>
                <c:pt idx="36">
                  <c:v>755.721024</c:v>
                </c:pt>
                <c:pt idx="37">
                  <c:v>766.165701</c:v>
                </c:pt>
                <c:pt idx="38">
                  <c:v>749.690564</c:v>
                </c:pt>
                <c:pt idx="39">
                  <c:v>747.587836</c:v>
                </c:pt>
                <c:pt idx="40">
                  <c:v>754.262115</c:v>
                </c:pt>
                <c:pt idx="41">
                  <c:v>748.896735</c:v>
                </c:pt>
                <c:pt idx="42">
                  <c:v>765.137915</c:v>
                </c:pt>
                <c:pt idx="43">
                  <c:v>757.97623</c:v>
                </c:pt>
                <c:pt idx="44">
                  <c:v>761.738226</c:v>
                </c:pt>
                <c:pt idx="45">
                  <c:v>749.394556</c:v>
                </c:pt>
                <c:pt idx="46">
                  <c:v>753.24805</c:v>
                </c:pt>
                <c:pt idx="47">
                  <c:v>752.399857</c:v>
                </c:pt>
                <c:pt idx="48">
                  <c:v>754.54487</c:v>
                </c:pt>
                <c:pt idx="49">
                  <c:v>754.87735</c:v>
                </c:pt>
                <c:pt idx="50">
                  <c:v>758.440125</c:v>
                </c:pt>
                <c:pt idx="51">
                  <c:v>749.690707</c:v>
                </c:pt>
                <c:pt idx="52">
                  <c:v>761.538394</c:v>
                </c:pt>
                <c:pt idx="53">
                  <c:v>759.956818</c:v>
                </c:pt>
                <c:pt idx="54">
                  <c:v>765.758362</c:v>
                </c:pt>
                <c:pt idx="55">
                  <c:v>757.56203</c:v>
                </c:pt>
                <c:pt idx="56">
                  <c:v>763.612943</c:v>
                </c:pt>
                <c:pt idx="57">
                  <c:v>756.778336</c:v>
                </c:pt>
                <c:pt idx="58">
                  <c:v>760.613538</c:v>
                </c:pt>
                <c:pt idx="59">
                  <c:v>758.183121</c:v>
                </c:pt>
                <c:pt idx="60">
                  <c:v>762.371234</c:v>
                </c:pt>
                <c:pt idx="61">
                  <c:v>760.226883</c:v>
                </c:pt>
                <c:pt idx="62">
                  <c:v>761.742801</c:v>
                </c:pt>
                <c:pt idx="63">
                  <c:v>754.330609</c:v>
                </c:pt>
                <c:pt idx="64">
                  <c:v>760.714874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778"/>
                    </a:solidFill>
                    <a:latin typeface="微软雅黑"/>
                    <a:ea typeface="微软雅黑"/>
                    <a:cs typeface="微软雅黑"/>
                  </a:rPr>
                  <a:t>本轮 PPO 更新数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77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majorUnit val="256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百米用时（秒）</c:v>
          </c:tx>
          <c:spPr>
            <a:solidFill xmlns:a="http://schemas.openxmlformats.org/drawingml/2006/main">
              <a:srgbClr val="064A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1796E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自主优化</c:v>
                </c:pt>
                <c:pt idx="1">
                  <c:v>专家模仿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44.933334</c:v>
                </c:pt>
                <c:pt idx="1">
                  <c:v>33.033333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D2A3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QWOP 游戏简介与研究任务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654A68AA-B227-4266-9018-36C2D7A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基于深度强化学习的运动控制与策略优化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1FD8C-8CA0-4665-B673-120A232C1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8a724261a4a90"/>
          <a:stretch xmlns:a="http://schemas.openxmlformats.org/drawingml/2006/main"/>
        </p:blipFill>
        <p:spPr>
          <a:xfrm xmlns:a="http://schemas.openxmlformats.org/drawingml/2006/main">
            <a:off x="480083" y="1895475"/>
            <a:ext cx="6231210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FCCE66FA-9C5A-48A8-A824-8FFB6163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四键控制双腿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2BECDC6C-1E4B-421F-87D8-82A4ADB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Q / W / O / P 组成 16 类动作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73B4643-5F1B-4B84-88DF-53F13D74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目标：稳定完成百米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27554212-F59F-40D2-A118-1813EAA2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在原生计分规则下缩短完赛用时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D6340C89-186F-47BE-8854-9E2940A1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难点：全身连续协调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EF1040C7-302D-4062-A69F-59B988F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2922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平衡、推进与越栏需要连续配合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512F2DEB-2A05-4B7C-9911-9AD3F36B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959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原版 QWOP 游戏示意，图中数值不代表本项目成绩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2A4AE91D-5ADA-4CE2-88D3-F5053A5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72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Lionel_Zhao  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开源项目提供的训练基础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7296DD26-FB99-4A04-A38F-1DF73510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复用作者架构，在任务奖励与策略学习上开展实验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3D684-316F-438C-8C73-51CBC289D6A5}"/>
              </a:ext>
            </a:extLst>
          </p:cNvPr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开源项目已提供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本地完成的工作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原生物理后端、Python 接口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百米、跨栏与跳远任务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11 / PyTorch / CUDA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跑通训练、重置和模型加载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PPO、Actor / Critic、GAE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并行采样与策略蒸馏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奖励迭代、历史状态与探索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 微调及局部参数搜索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训练日志与 checkpoint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评估、模型加载及回放导出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公开回放采集与行为克隆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原生闭环验证及结果归档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62C2D28D-4879-4441-94AF-22648EA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435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项目来源：LYiHub / QWOP_rl_training_public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5C12D30D-4A68-43D4-A60F-3A4D822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48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保留作者的 PPO、采样、日志与模型保存流程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2D50E-5F5E-4574-AA42-111D1798C345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72150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464CB-9FAC-4EA1-8909-63FCFB5DEAED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448550" y="46005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92D46-AC87-4701-AE8F-D94A75E2DE2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6488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59CD5-EBD9-42DE-A84B-E7ED0E229D8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380AD-9161-4CD2-953E-BAA170F1E3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619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PPO 强化学习训练流程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71E8864A-100A-460B-AE75-1B4431A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通过环境交互采样，再用价值估计更新动作策略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6893038D-DBFC-49DB-AE7A-252F3E7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身体状态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68 维 × 32 帧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28217666-A85D-4A6B-AB0B-8C784BB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策略网络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两层 256，输出 16 类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C209B783-7BDF-4A9F-97E5-3EE957D1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原生环境执行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奖励、新状态、终止</a:t>
            </a:r>
          </a:p>
        </p:txBody>
      </p:sp>
      <p:sp>
        <p:nvSpPr>
          <p:cNvPr id="7" name="process-5">
            <a:extLst xmlns:a="http://schemas.openxmlformats.org/drawingml/2006/main">
              <a:ext uri="{FF2B5EF4-FFF2-40B4-BE49-F238E27FC236}">
                <a16:creationId xmlns:a16="http://schemas.microsoft.com/office/drawing/2014/main" id="{675D9C1C-B949-4438-B212-7DA2E5F8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671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Rollout 数据采集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并行环境的连续交互</a:t>
            </a:r>
          </a:p>
        </p:txBody>
      </p:sp>
      <p:sp>
        <p:nvSpPr>
          <p:cNvPr id="8" name="process-6">
            <a:extLst xmlns:a="http://schemas.openxmlformats.org/drawingml/2006/main">
              <a:ext uri="{FF2B5EF4-FFF2-40B4-BE49-F238E27FC236}">
                <a16:creationId xmlns:a16="http://schemas.microsoft.com/office/drawing/2014/main" id="{911283D8-A46A-446E-9F11-D42E3AD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Critic 与 GAE 估计优势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PPO 裁剪目标更新策略</a:t>
            </a:r>
          </a:p>
        </p:txBody>
      </p:sp>
      <p:sp>
        <p:nvSpPr>
          <p:cNvPr id="14" name="content-12">
            <a:extLst xmlns:a="http://schemas.openxmlformats.org/drawingml/2006/main">
              <a:ext uri="{FF2B5EF4-FFF2-40B4-BE49-F238E27FC236}">
                <a16:creationId xmlns:a16="http://schemas.microsoft.com/office/drawing/2014/main" id="{5D9A1EC8-C63E-43C8-B347-76EEEA2D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193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按键动作</a:t>
            </a:r>
          </a:p>
        </p:txBody>
      </p:sp>
      <p:sp>
        <p:nvSpPr>
          <p:cNvPr id="15" name="content-13">
            <a:extLst xmlns:a="http://schemas.openxmlformats.org/drawingml/2006/main">
              <a:ext uri="{FF2B5EF4-FFF2-40B4-BE49-F238E27FC236}">
                <a16:creationId xmlns:a16="http://schemas.microsoft.com/office/drawing/2014/main" id="{024D9CDF-0692-410E-9E5A-06D008A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新一轮采样</a:t>
            </a:r>
          </a:p>
        </p:txBody>
      </p:sp>
      <p:sp>
        <p:nvSpPr>
          <p:cNvPr id="16" name="content-14">
            <a:extLst xmlns:a="http://schemas.openxmlformats.org/drawingml/2006/main">
              <a:ext uri="{FF2B5EF4-FFF2-40B4-BE49-F238E27FC236}">
                <a16:creationId xmlns:a16="http://schemas.microsoft.com/office/drawing/2014/main" id="{D3D95D4B-ADC2-4E5E-ACFA-763C0918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决定怎样动作，Critic 评估长期回报</a:t>
            </a:r>
          </a:p>
        </p:txBody>
      </p:sp>
      <p:sp>
        <p:nvSpPr>
          <p:cNvPr id="17" name="content-15">
            <a:extLst xmlns:a="http://schemas.openxmlformats.org/drawingml/2006/main">
              <a:ext uri="{FF2B5EF4-FFF2-40B4-BE49-F238E27FC236}">
                <a16:creationId xmlns:a16="http://schemas.microsoft.com/office/drawing/2014/main" id="{92817E22-DF50-4903-9C1B-5DD2BE2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GAE 分配动作优势，PPO 限制单次策略变化，训练后保存 checkpoint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自主训练与策略优化结果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74C42544-4EB4-4BA1-8DCC-4B8EDE8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起步探索阶段：平均回合回报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254E236-9D73-47BB-B60F-1D9CA47BCDB2}"/>
              </a:ext>
            </a:extLst>
          </p:cNvPr>
          <p:cNvGraphicFramePr/>
          <p:nvPr/>
        </p:nvGraphicFramePr>
        <p:xfrm>
          <a:off xmlns:a="http://schemas.openxmlformats.org/drawingml/2006/main" x="409575" y="1809750"/>
          <a:ext xmlns:a="http://schemas.openxmlformats.org/drawingml/2006/main" cx="709612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a1d094da8d4f80"/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CD178C0E-DE91-4946-89D4-CC5501F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纯 PPO 最好候选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FD479B0F-DA06-4F92-9CC9-B21D821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45.400 秒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5C266A99-4127-48C6-B03D-70E8EFFB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局部参数搜索后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993D91CF-70C1-4B39-916C-F278B8AA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44.933 秒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0736289A-51D3-43FF-A521-48A5613A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均通过原生环境完赛验证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2954A176-AAE0-4EC9-A6A3-C2FD675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719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真实 v33 单次续训，20 个记录点滚动均值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A4A7BCA2-46A3-4A8D-B0EA-59ABD1E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调整进度、低姿态与完赛反馈，结合历史状态和起步探索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7D0B2A31-C4CC-4706-860C-4DB2E61F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RND 对照未刷新最快成绩，固定姿态偏好仍需实验检验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FA710-B768-4654-99C2-A2F123ACC2A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B8E9D-5A27-4997-8422-3E0EB86C8C6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084F-9879-498B-8807-CDE97A37A25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专家模仿的实现与结果</a:t>
            </a:r>
            <a:endParaRPr/>
          </a:p>
        </p:txBody>
      </p:sp>
      <p:sp>
        <p:nvSpPr>
          <p:cNvPr id="3" name="process-1">
            <a:extLst xmlns:a="http://schemas.openxmlformats.org/drawingml/2006/main">
              <a:ext uri="{FF2B5EF4-FFF2-40B4-BE49-F238E27FC236}">
                <a16:creationId xmlns:a16="http://schemas.microsoft.com/office/drawing/2014/main" id="{540575C9-CC70-4B92-898B-7F3B031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 XYF 回放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991 帧按键动作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81FE6158-D044-414B-81DE-866B72A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原生重放采样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状态与动作对齐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A66E1506-42FD-4655-B2AE-42DF7F69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行为克隆训练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交叉熵更新 Actor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5CFD4711-7731-41B1-B24F-155E7402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闭环验证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实时观测决定动作</a:t>
            </a:r>
          </a:p>
        </p:txBody>
      </p:sp>
      <p:sp>
        <p:nvSpPr>
          <p:cNvPr id="10" name="content-8">
            <a:extLst xmlns:a="http://schemas.openxmlformats.org/drawingml/2006/main">
              <a:ext uri="{FF2B5EF4-FFF2-40B4-BE49-F238E27FC236}">
                <a16:creationId xmlns:a16="http://schemas.microsoft.com/office/drawing/2014/main" id="{D3EC0825-D827-46DD-B64F-9D2B7ACD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固定初态下的确定性百米用时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594C9AA7-A25F-42A2-96B0-A6D546503494}"/>
              </a:ext>
            </a:extLst>
          </p:cNvPr>
          <p:cNvGraphicFramePr/>
          <p:nvPr/>
        </p:nvGraphicFramePr>
        <p:xfrm>
          <a:off xmlns:a="http://schemas.openxmlformats.org/drawingml/2006/main" x="400050" y="3467100"/>
          <a:ext xmlns:a="http://schemas.openxmlformats.org/drawingml/2006/main" cx="6410325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0500984dd2451c"/>
          </a:graphicData>
        </a:graphic>
      </p:graphicFrame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CA7BD21B-92C2-4EA1-B734-DD62351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4114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33.033 秒</a:t>
            </a:r>
          </a:p>
        </p:txBody>
      </p:sp>
      <p:sp>
        <p:nvSpPr>
          <p:cNvPr id="13" name="content-10">
            <a:extLst xmlns:a="http://schemas.openxmlformats.org/drawingml/2006/main">
              <a:ext uri="{FF2B5EF4-FFF2-40B4-BE49-F238E27FC236}">
                <a16:creationId xmlns:a16="http://schemas.microsoft.com/office/drawing/2014/main" id="{89514EC2-EEDD-48F9-99AE-83F5C51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1000 轮行为克隆后完成百米</a:t>
            </a:r>
          </a:p>
        </p:txBody>
      </p:sp>
      <p:sp>
        <p:nvSpPr>
          <p:cNvPr id="14" name="content-11">
            <a:extLst xmlns:a="http://schemas.openxmlformats.org/drawingml/2006/main">
              <a:ext uri="{FF2B5EF4-FFF2-40B4-BE49-F238E27FC236}">
                <a16:creationId xmlns:a16="http://schemas.microsoft.com/office/drawing/2014/main" id="{D6FBD5E1-5EB1-4FC4-A3EB-419A6C1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48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固定初态确定性复测：16 / 16 成功</a:t>
            </a:r>
          </a:p>
        </p:txBody>
      </p:sp>
      <p:sp>
        <p:nvSpPr>
          <p:cNvPr id="15" name="content-12">
            <a:extLst xmlns:a="http://schemas.openxmlformats.org/drawingml/2006/main">
              <a:ext uri="{FF2B5EF4-FFF2-40B4-BE49-F238E27FC236}">
                <a16:creationId xmlns:a16="http://schemas.microsoft.com/office/drawing/2014/main" id="{9EA5799D-ACAB-4A68-AD07-F0BD045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648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自主优化含 PPO 后的局部参数搜索</a:t>
            </a:r>
          </a:p>
        </p:txBody>
      </p:sp>
      <p:sp>
        <p:nvSpPr>
          <p:cNvPr id="16" name="content-13">
            <a:extLst xmlns:a="http://schemas.openxmlformats.org/drawingml/2006/main">
              <a:ext uri="{FF2B5EF4-FFF2-40B4-BE49-F238E27FC236}">
                <a16:creationId xmlns:a16="http://schemas.microsoft.com/office/drawing/2014/main" id="{7BDD90D9-C452-45C1-84C1-725B279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公开专家示范的本地复现，后续 PPO 微调尚未突破该时间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2026-10-15T09:23:50.6930000Z</dcterms:created>
  <dcterms:modified xsi:type="dcterms:W3CDTF">2026-10-15T09:23:50.6930000Z</dcterms:modified>
</coreProperties>
</file>