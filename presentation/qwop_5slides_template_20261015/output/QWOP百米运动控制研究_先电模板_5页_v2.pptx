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"/>
        <c:varyColors val="0"/>
        <c:ser>
          <c:idx val="0"/>
          <c:order val="0"/>
          <c:tx>
            <c:strRef>
              <c:f>回合回报，20点滚动均值</c:f>
              <c:strCache>
                <c:ptCount val="1"/>
                <c:pt idx="0">
                  <c:v>回合回报，20点滚动均值</c:v>
                </c:pt>
              </c:strCache>
            </c:strRef>
          </c:tx>
          <c:spPr>
            <a:ln w="28575" cap="rnd">
              <a:solidFill>
                <a:srgbClr val="064A8D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'Chart Data'!$A$2:$A$66</c:f>
              <c:numCache>
                <c:formatCode>General</c:formatCode>
                <c:ptCount val="65"/>
                <c:pt idx="0">
                  <c:v>1</c:v>
                </c:pt>
                <c:pt idx="1">
                  <c:v>21</c:v>
                </c:pt>
                <c:pt idx="2">
                  <c:v>37</c:v>
                </c:pt>
                <c:pt idx="3">
                  <c:v>53</c:v>
                </c:pt>
                <c:pt idx="4">
                  <c:v>69</c:v>
                </c:pt>
                <c:pt idx="5">
                  <c:v>85</c:v>
                </c:pt>
                <c:pt idx="6">
                  <c:v>101</c:v>
                </c:pt>
                <c:pt idx="7">
                  <c:v>117</c:v>
                </c:pt>
                <c:pt idx="8">
                  <c:v>133</c:v>
                </c:pt>
                <c:pt idx="9">
                  <c:v>149</c:v>
                </c:pt>
                <c:pt idx="10">
                  <c:v>165</c:v>
                </c:pt>
                <c:pt idx="11">
                  <c:v>181</c:v>
                </c:pt>
                <c:pt idx="12">
                  <c:v>197</c:v>
                </c:pt>
                <c:pt idx="13">
                  <c:v>213</c:v>
                </c:pt>
                <c:pt idx="14">
                  <c:v>229</c:v>
                </c:pt>
                <c:pt idx="15">
                  <c:v>245</c:v>
                </c:pt>
                <c:pt idx="16">
                  <c:v>261</c:v>
                </c:pt>
                <c:pt idx="17">
                  <c:v>277</c:v>
                </c:pt>
                <c:pt idx="18">
                  <c:v>293</c:v>
                </c:pt>
                <c:pt idx="19">
                  <c:v>309</c:v>
                </c:pt>
                <c:pt idx="20">
                  <c:v>325</c:v>
                </c:pt>
                <c:pt idx="21">
                  <c:v>341</c:v>
                </c:pt>
                <c:pt idx="22">
                  <c:v>357</c:v>
                </c:pt>
                <c:pt idx="23">
                  <c:v>373</c:v>
                </c:pt>
                <c:pt idx="24">
                  <c:v>389</c:v>
                </c:pt>
                <c:pt idx="25">
                  <c:v>405</c:v>
                </c:pt>
                <c:pt idx="26">
                  <c:v>421</c:v>
                </c:pt>
                <c:pt idx="27">
                  <c:v>437</c:v>
                </c:pt>
                <c:pt idx="28">
                  <c:v>453</c:v>
                </c:pt>
                <c:pt idx="29">
                  <c:v>469</c:v>
                </c:pt>
                <c:pt idx="30">
                  <c:v>485</c:v>
                </c:pt>
                <c:pt idx="31">
                  <c:v>501</c:v>
                </c:pt>
                <c:pt idx="32">
                  <c:v>517</c:v>
                </c:pt>
                <c:pt idx="33">
                  <c:v>533</c:v>
                </c:pt>
                <c:pt idx="34">
                  <c:v>549</c:v>
                </c:pt>
                <c:pt idx="35">
                  <c:v>565</c:v>
                </c:pt>
                <c:pt idx="36">
                  <c:v>581</c:v>
                </c:pt>
                <c:pt idx="37">
                  <c:v>597</c:v>
                </c:pt>
                <c:pt idx="38">
                  <c:v>613</c:v>
                </c:pt>
                <c:pt idx="39">
                  <c:v>629</c:v>
                </c:pt>
                <c:pt idx="40">
                  <c:v>645</c:v>
                </c:pt>
                <c:pt idx="41">
                  <c:v>661</c:v>
                </c:pt>
                <c:pt idx="42">
                  <c:v>677</c:v>
                </c:pt>
                <c:pt idx="43">
                  <c:v>693</c:v>
                </c:pt>
                <c:pt idx="44">
                  <c:v>709</c:v>
                </c:pt>
                <c:pt idx="45">
                  <c:v>725</c:v>
                </c:pt>
                <c:pt idx="46">
                  <c:v>741</c:v>
                </c:pt>
                <c:pt idx="47">
                  <c:v>757</c:v>
                </c:pt>
                <c:pt idx="48">
                  <c:v>773</c:v>
                </c:pt>
                <c:pt idx="49">
                  <c:v>789</c:v>
                </c:pt>
                <c:pt idx="50">
                  <c:v>805</c:v>
                </c:pt>
                <c:pt idx="51">
                  <c:v>821</c:v>
                </c:pt>
                <c:pt idx="52">
                  <c:v>837</c:v>
                </c:pt>
                <c:pt idx="53">
                  <c:v>853</c:v>
                </c:pt>
                <c:pt idx="54">
                  <c:v>869</c:v>
                </c:pt>
                <c:pt idx="55">
                  <c:v>885</c:v>
                </c:pt>
                <c:pt idx="56">
                  <c:v>901</c:v>
                </c:pt>
                <c:pt idx="57">
                  <c:v>917</c:v>
                </c:pt>
                <c:pt idx="58">
                  <c:v>933</c:v>
                </c:pt>
                <c:pt idx="59">
                  <c:v>949</c:v>
                </c:pt>
                <c:pt idx="60">
                  <c:v>965</c:v>
                </c:pt>
                <c:pt idx="61">
                  <c:v>981</c:v>
                </c:pt>
                <c:pt idx="62">
                  <c:v>997</c:v>
                </c:pt>
                <c:pt idx="63">
                  <c:v>1013</c:v>
                </c:pt>
                <c:pt idx="64">
                  <c:v>1024</c:v>
                </c:pt>
              </c:numCache>
            </c:numRef>
          </c:xVal>
          <c:yVal>
            <c:numRef>
              <c:f>'Chart Data'!$B$2:$B$66</c:f>
              <c:numCache>
                <c:formatCode>0</c:formatCode>
                <c:ptCount val="65"/>
                <c:pt idx="0">
                  <c:v>-51.659439</c:v>
                </c:pt>
                <c:pt idx="1">
                  <c:v>523.745947</c:v>
                </c:pt>
                <c:pt idx="2">
                  <c:v>641.744731</c:v>
                </c:pt>
                <c:pt idx="3">
                  <c:v>698.566003</c:v>
                </c:pt>
                <c:pt idx="4">
                  <c:v>710.6444</c:v>
                </c:pt>
                <c:pt idx="5">
                  <c:v>724.149423</c:v>
                </c:pt>
                <c:pt idx="6">
                  <c:v>717.297906</c:v>
                </c:pt>
                <c:pt idx="7">
                  <c:v>720.642221</c:v>
                </c:pt>
                <c:pt idx="8">
                  <c:v>720.485287</c:v>
                </c:pt>
                <c:pt idx="9">
                  <c:v>742.599435</c:v>
                </c:pt>
                <c:pt idx="10">
                  <c:v>734.757404</c:v>
                </c:pt>
                <c:pt idx="11">
                  <c:v>741.284955</c:v>
                </c:pt>
                <c:pt idx="12">
                  <c:v>731.796231</c:v>
                </c:pt>
                <c:pt idx="13">
                  <c:v>730.493948</c:v>
                </c:pt>
                <c:pt idx="14">
                  <c:v>735.937402</c:v>
                </c:pt>
                <c:pt idx="15">
                  <c:v>749.522751</c:v>
                </c:pt>
                <c:pt idx="16">
                  <c:v>740.148837</c:v>
                </c:pt>
                <c:pt idx="17">
                  <c:v>738.126746</c:v>
                </c:pt>
                <c:pt idx="18">
                  <c:v>740.205264</c:v>
                </c:pt>
                <c:pt idx="19">
                  <c:v>748.390543</c:v>
                </c:pt>
                <c:pt idx="20">
                  <c:v>742.353467</c:v>
                </c:pt>
                <c:pt idx="21">
                  <c:v>745.075513</c:v>
                </c:pt>
                <c:pt idx="22">
                  <c:v>756.75112</c:v>
                </c:pt>
                <c:pt idx="23">
                  <c:v>743.875757</c:v>
                </c:pt>
                <c:pt idx="24">
                  <c:v>755.300052</c:v>
                </c:pt>
                <c:pt idx="25">
                  <c:v>755.958151</c:v>
                </c:pt>
                <c:pt idx="26">
                  <c:v>752.711234</c:v>
                </c:pt>
                <c:pt idx="27">
                  <c:v>747.009805</c:v>
                </c:pt>
                <c:pt idx="28">
                  <c:v>731.167215</c:v>
                </c:pt>
                <c:pt idx="29">
                  <c:v>754.510757</c:v>
                </c:pt>
                <c:pt idx="30">
                  <c:v>748.99234</c:v>
                </c:pt>
                <c:pt idx="31">
                  <c:v>740.01637</c:v>
                </c:pt>
                <c:pt idx="32">
                  <c:v>747.367642</c:v>
                </c:pt>
                <c:pt idx="33">
                  <c:v>750.745288</c:v>
                </c:pt>
                <c:pt idx="34">
                  <c:v>752.04888</c:v>
                </c:pt>
                <c:pt idx="35">
                  <c:v>750.763</c:v>
                </c:pt>
                <c:pt idx="36">
                  <c:v>755.721024</c:v>
                </c:pt>
                <c:pt idx="37">
                  <c:v>766.165701</c:v>
                </c:pt>
                <c:pt idx="38">
                  <c:v>749.690564</c:v>
                </c:pt>
                <c:pt idx="39">
                  <c:v>747.587836</c:v>
                </c:pt>
                <c:pt idx="40">
                  <c:v>754.262115</c:v>
                </c:pt>
                <c:pt idx="41">
                  <c:v>748.896735</c:v>
                </c:pt>
                <c:pt idx="42">
                  <c:v>765.137915</c:v>
                </c:pt>
                <c:pt idx="43">
                  <c:v>757.97623</c:v>
                </c:pt>
                <c:pt idx="44">
                  <c:v>761.738226</c:v>
                </c:pt>
                <c:pt idx="45">
                  <c:v>749.394556</c:v>
                </c:pt>
                <c:pt idx="46">
                  <c:v>753.24805</c:v>
                </c:pt>
                <c:pt idx="47">
                  <c:v>752.399857</c:v>
                </c:pt>
                <c:pt idx="48">
                  <c:v>754.54487</c:v>
                </c:pt>
                <c:pt idx="49">
                  <c:v>754.87735</c:v>
                </c:pt>
                <c:pt idx="50">
                  <c:v>758.440125</c:v>
                </c:pt>
                <c:pt idx="51">
                  <c:v>749.690707</c:v>
                </c:pt>
                <c:pt idx="52">
                  <c:v>761.538394</c:v>
                </c:pt>
                <c:pt idx="53">
                  <c:v>759.956818</c:v>
                </c:pt>
                <c:pt idx="54">
                  <c:v>765.758362</c:v>
                </c:pt>
                <c:pt idx="55">
                  <c:v>757.56203</c:v>
                </c:pt>
                <c:pt idx="56">
                  <c:v>763.612943</c:v>
                </c:pt>
                <c:pt idx="57">
                  <c:v>756.778336</c:v>
                </c:pt>
                <c:pt idx="58">
                  <c:v>760.613538</c:v>
                </c:pt>
                <c:pt idx="59">
                  <c:v>758.183121</c:v>
                </c:pt>
                <c:pt idx="60">
                  <c:v>762.371234</c:v>
                </c:pt>
                <c:pt idx="61">
                  <c:v>760.226883</c:v>
                </c:pt>
                <c:pt idx="62">
                  <c:v>761.742801</c:v>
                </c:pt>
                <c:pt idx="63">
                  <c:v>754.330609</c:v>
                </c:pt>
                <c:pt idx="64">
                  <c:v>760.714874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1024"/>
          <c:min val="0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575">
                    <a:solidFill>
                      <a:srgbClr val="586778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本轮 PPO 更新数</a:t>
                </a:r>
                <a:endParaRPr sz="1575">
                  <a:solidFill>
                    <a:srgbClr val="58677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6E0E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crossBetween val="midCat"/>
        <c:majorUnit val="256"/>
      </c:valAx>
      <c:valAx>
        <c:axId val="48672768"/>
        <c:scaling>
          <c:orientation val="minMax"/>
          <c:max val="900"/>
          <c:min val="-100"/>
        </c:scaling>
        <c:delete val="0"/>
        <c:axPos val="l"/>
        <c:majorGridlines>
          <c:spPr>
            <a:ln w="9525">
              <a:solidFill>
                <a:srgbClr val="D6E0EA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midCat"/>
        <c:majorUnit val="250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167169ed-9dcc-476e-a097-68f6de6fb52b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none"/>
        <c:varyColors val="0"/>
        <c:ser>
          <c:idx val="0"/>
          <c:order val="0"/>
          <c:tx>
            <c:strRef>
              <c:f>百米用时（秒）</c:f>
              <c:strCache>
                <c:ptCount val="1"/>
                <c:pt idx="0">
                  <c:v>百米用时（秒）</c:v>
                </c:pt>
              </c:strCache>
            </c:strRef>
          </c:tx>
          <c:spPr>
            <a:solidFill>
              <a:srgbClr val="064A8D"/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rgbClr val="11796E"/>
              </a:solidFill>
            </c:spPr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Data'!$A$2:$A$3</c:f>
              <c:strCache>
                <c:ptCount val="2"/>
                <c:pt idx="0">
                  <c:v>自主优化</c:v>
                </c:pt>
                <c:pt idx="1">
                  <c:v>专家模仿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44.933334</c:v>
                </c:pt>
                <c:pt idx="1">
                  <c:v>33.033333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6E0E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55"/>
          <c:min val="0"/>
        </c:scaling>
        <c:delete val="0"/>
        <c:axPos val="l"/>
        <c:majorGridlines>
          <c:spPr>
            <a:ln w="9525">
              <a:solidFill>
                <a:srgbClr val="D6E0EA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49359f9-b54e-4386-9d5b-2af99d0ac04b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建议讲述时间：60秒。</a:t>
            </a:r>
          </a:p>
          <a:p/>
          <a:p>
            <a:r>
              <a:t>本次汇报介绍基于深度强化学习的 QWOP 百米运动控制研究。QWOP 通过 Q、W、O、P 四个按键控制腿部，动作需要连续协调，单帧的失误可能改变之后的身体状态并导致摔倒。我们研究的目标是在原生规则下稳定完成百米，同时缩短正式完赛用时。模型读取物理环境中的身体和任务状态，并通过按键组合控制运动。图片是原版 QWOP 的画面示意，便于解释玩法，图中的距离不是本项目训练成绩。这个游戏适合作为强化学习课程项目，因为它同时涉及平衡、探索以及较长时间跨度的动作协调。接下来先说明开源项目已经提供的基础，再说明本地 PPO 训练和专家模仿的具体工作。</a:t>
            </a:r>
          </a:p>
          <a:p/>
          <a:p>
            <a:r>
              <a:t>来源：</a:t>
            </a:r>
          </a:p>
          <a:p>
            <a:r>
              <a:t>https://github.com/LYiHub/QWOP_rl_training_public</a:t>
            </a:r>
          </a:p>
          <a:p>
            <a:r>
              <a:t>https://thecreativeindependent.com/people/bennett-foddy-on-the-pitfalls-of-perfectionism/</a:t>
            </a:r>
          </a:p>
          <a:p>
            <a:r>
              <a:t>游戏图片原始来源：https://s3.amazonaws.com/tci-assets/uploads/bennett-pic.jpg</a:t>
            </a:r>
          </a:p>
          <a:p>
            <a:r>
              <a:t>本地图片：presentation/qwop_class_report_20261013/assets/qwop-original.jpg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建议讲述时间：75秒。</a:t>
            </a:r>
          </a:p>
          <a:p/>
          <a:p>
            <a:r>
              <a:t>本项目以 LYiHub 的 QWOP_rl_training_public 为基础。作者提供了 C++ 训练封装、原生物理后端、Python 接口以及多个任务，已有 PPO、Actor/Critic、GAE、并行采样、训练日志、checkpoint 和回放导出。因此本地工作重点是复用这些基础并开展可验证的实验。首先在 Windows 11 配置并验证 PyTorch/CUDA 训练环境，检查最小训练、reset 和模型保存加载。然后调整任务奖励、增加历史状态和角速度信息，尝试探索与局部策略参数搜索。最后根据公开专家动作回放实现行为克隆，并继续进行 PPO 微调。原仓库还提供策略蒸馏，但它需要教师模型和 logits；公开影子只有动作序列，所以新增了从回放采集状态动作样本的训练入口，复用了原来的 ActorCritic、帧堆叠、日志和 checkpoint。我们没有将作者已有的仿真或 PPO 实现作为本地原创。</a:t>
            </a:r>
          </a:p>
          <a:p/>
          <a:p>
            <a:r>
              <a:t>来源：</a:t>
            </a:r>
          </a:p>
          <a:p>
            <a:r>
              <a:t>https://github.com/LYiHub/QWOP_rl_training_public</a:t>
            </a:r>
          </a:p>
          <a:p>
            <a:r>
              <a:t>QWOP_rl_training_public/README.md</a:t>
            </a:r>
          </a:p>
          <a:p>
            <a:r>
              <a:t>QWOP_rl_training_public/scripts/train_ppo.py</a:t>
            </a:r>
          </a:p>
          <a:p>
            <a:r>
              <a:t>QWOP_rl_training_public/docs/shadow-imitation-pilot.md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建议讲述时间：135秒。</a:t>
            </a:r>
          </a:p>
          <a:p/>
          <a:p>
            <a:r>
              <a:t>这一页说明 PPO 如何训练。第一步，环境返回 68 维身体与任务观测，后期策略堆叠 32 帧，形成 2176 维输入，使网络能够利用运动历史。主要 Actor 网络包含两层各 256 个神经元，并有角速度特征分支。Actor 输出 16 种按键组合的概率，训练时按概率采样，确定性评测时选最大概率动作。第二步，原生环境执行动作，得到新的状态、奖励和终止标志。第三步，多个并行环境采集一段 rollout，记录观测、动作概率、奖励及价值估计。这是 PPO 的在策略数据，不是经验回放池。第四步，Critic 估计长期回报，GAE 结合奖励和价值变化计算优势，告诉 Actor 哪些动作比预期更好。第五步，用 PPO 的裁剪目标限制策略更新幅度，更新网络后继续采样。网络结构和超参数在实验阶段有所变化，本页展示后期主要策略，而不是宣称每轮都采用相同配置。独立 Critic 用于后续保护已学步态的试验，基础闭环仍沿用作者架构。</a:t>
            </a:r>
          </a:p>
          <a:p/>
          <a:p>
            <a:r>
              <a:t>来源：</a:t>
            </a:r>
          </a:p>
          <a:p>
            <a:r>
              <a:t>QWOP_rl_training_public/scripts/train_ppo.py</a:t>
            </a:r>
          </a:p>
          <a:p>
            <a:r>
              <a:t>QWOP_rl_training_public/configs</a:t>
            </a:r>
          </a:p>
          <a:p>
            <a:r>
              <a:t>QWOP_rl_training_public/docs/bottleneck-followup-training.md</a:t>
            </a:r>
          </a:p>
          <a:p>
            <a:r>
              <a:t>QWOP_rl_training_public/docs/shadow-imitation-pilot.md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建议讲述时间：150秒。</a:t>
            </a:r>
          </a:p>
          <a:p/>
          <a:p>
            <a:r>
              <a:t>左侧是 v33 起步探索阶段一次真实 PPO 续训的平均回合回报，来自 TensorBoard 记录。横轴为这一轮的 PPO 更新编号，纵轴是回合回报的 20 个记录点滚动均值。曲线仍有波动，不能据此宣称训练完全收敛。不同奖励版本的回报不能直接比较，因此这里只画同一次固定奖励配置的曲线。</a:t>
            </a:r>
          </a:p>
          <a:p/>
          <a:p>
            <a:r>
              <a:t>本地自主路线先处理低姿态运动，再尝试姿态、速度、历史状态、起步及越栏反馈和探索。没有原生膝盖触地标志，低姿态采用躯干高度代理，也没有直接测量身体重心。固定前倾五度、压低上下运动等偏好属于待检验假设，专家轨迹审计表明它们可能与最快完赛目标冲突。RND 使用预测误差提供新颖性奖励，但已完成的匹配实验没有刷新最快成绩。</a:t>
            </a:r>
          </a:p>
          <a:p/>
          <a:p>
            <a:r>
              <a:t>成绩必须准确区分：经过原生验证的纯 PPO 候选最快是 v33 的 45.400 秒。44.933334 秒则来自已有 44.966667 秒模型第二隐藏层偏置的小范围参数搜索，重新加载后可复现。它属于 PPO 训练加局部参数搜索的自主优化结果，不能标成纯 PPO 单独获得。两项均为模拟游戏时间，不是电脑运行耗时。我们保留原物理和正式计分规则。</a:t>
            </a:r>
          </a:p>
          <a:p/>
          <a:p>
            <a:r>
              <a:t>曲线来源：verification/project_report/events_data.json，run=ppo_phase_v33_effective_explore，series=charts/episode_return_mean。每次更新128环境×256步，起始global_step=348143616。</a:t>
            </a:r>
          </a:p>
          <a:p>
            <a:r>
              <a:t>成绩来源：QWOP_rl_training_public/docs/bottleneck-followup-training.md</a:t>
            </a:r>
          </a:p>
          <a:p>
            <a:r>
              <a:t>RND来源：QWOP_rl_training_public/docs/task-reward-rnd-experiment.md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建议讲述时间：150秒。</a:t>
            </a:r>
          </a:p>
          <a:p/>
          <a:p>
            <a:r>
              <a:t>自主优化遇到瓶颈后，我们引入公开的 XYF 专家影子。影子文件包含 991 帧按键动作。先在原生环境中重放并验证，再在每次动作执行前采集当前观测，将其与专家动作配对，得到 991 条状态动作样本，每条输入为32×68=2176维。确认物理等价后再合并冗余按键标签。以原有跑步模型初始化 Actor，使用交叉熵行为克隆，Adam 学习率1e-4，batch256，训练1000轮，动作监督阶段冻结独立 Critic。推理阶段模型读取实时观测并选择动作，没有按时间查找专家动作表。</a:t>
            </a:r>
          </a:p>
          <a:p/>
          <a:p>
            <a:r>
              <a:t>闭环验证是关键。900轮时，专家状态上的动作准确率已达99.899%，但实际执行仍在52米失败。1000轮时准确率达到100%，策略才完成原生百米，正式时间33.033333秒。这说明分类准确率不能替代环境中的闭环测试。图中44.933与33.033均为固定初态下的确定性完赛时间，前者包含参数搜索。原始 BC 模型固定初态确定性重复16次均成功，但直接按其原始概率采样为0/64成功，说明轨迹外恢复能力不足。后续 PPO 微调、Actor 解冻与时间奖励试验仍未获得快于33.033秒的有效成绩。因此这里的成果是本地神经网络复现外部专家策略，并非独立发现或打破专家纪录。</a:t>
            </a:r>
          </a:p>
          <a:p/>
          <a:p>
            <a:r>
              <a:t>来源：QWOP_rl_training_public/docs/shadow-imitation-pilot.md</a:t>
            </a:r>
          </a:p>
          <a:p>
            <a:r>
              <a:t>verification/shadow_audit/imitation_pilot.json</a:t>
            </a:r>
          </a:p>
          <a:p>
            <a:r>
              <a:t>verification/shadow_audit/student_deterministic16.json</a:t>
            </a:r>
          </a:p>
          <a:p>
            <a:r>
              <a:t>verification/shadow_audit/student_stochastic64.json</a:t>
            </a:r>
          </a:p>
          <a:p>
            <a:r>
              <a:t>QWOP_rl_training_public/docs/classic-speed-signal-20261015.md</a:t>
            </a:r>
          </a:p>
          <a:p>
            <a:r>
              <a:t>公开示范来源：https://run.lyihub.com/，下载时署名XYF，不声明其为当前实时纪录。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/>
      <p:sp>
        <p:nvSpPr>
          <p:cNvPr id="7" name="Rectangle 7"/>
          <p:cNvSpPr>
            <a:spLocks noGrp="1"/>
          </p:cNvSpPr>
          <p:nvPr/>
        </p:nvSpPr>
        <p:spPr>
          <a:xfrm>
            <a:off x="0" y="0"/>
            <a:ext cx="12192000" cy="4237038"/>
          </a:xfrm>
          <a:prstGeom prst="rect">
            <a:avLst/>
          </a:prstGeom>
          <a:solidFill>
            <a:srgbClr val="00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lvl="0" algn="ctr">
              <a:buNone/>
            </a:pPr>
            <a:endParaRPr sz="1010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466905"/>
            <a:ext cx="9144000" cy="1043057"/>
          </a:xfrm>
        </p:spPr>
        <p:txBody>
          <a:bodyPr anchor="b">
            <a:normAutofit/>
          </a:bodyPr>
          <a:lstStyle>
            <a:lvl1pPr algn="ctr">
              <a:buNone/>
              <a:defRPr sz="4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4407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49CBF0-8D08-454B-BC3F-60A10129C9F4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CBAC70-8536-48D3-A193-A02FB16FDE8D}" type="slidenum">
              <a:rPr/>
            </a:fld>
            <a:endParaRPr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/>
          <a:srcRect t="11278"/>
          <a:stretch>
            <a:fillRect/>
          </a:stretch>
        </p:blipFill>
        <p:spPr>
          <a:xfrm>
            <a:off x="-15753" y="0"/>
            <a:ext cx="3478022" cy="3485634"/>
          </a:xfrm>
          <a:prstGeom prst="rect">
            <a:avLst/>
          </a:prstGeom>
        </p:spPr>
      </p:pic>
      <p:sp>
        <p:nvSpPr>
          <p:cNvPr id="14" name="文本框 13"/>
          <p:cNvSpPr>
            <a:spLocks noGrp="1"/>
          </p:cNvSpPr>
          <p:nvPr/>
        </p:nvSpPr>
        <p:spPr>
          <a:xfrm>
            <a:off x="965200" y="364067"/>
            <a:ext cx="3358727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65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智能制造装备与技术全国重点实验室</a:t>
            </a:r>
            <a:endParaRPr sz="1465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sz="665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 Key Lab of </a:t>
            </a:r>
            <a:r>
              <a:rPr sz="665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Intelligent</a:t>
            </a:r>
            <a:r>
              <a:rPr sz="665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Manufacturing Equipment &amp; Technology</a:t>
            </a:r>
            <a:endParaRPr sz="4265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/>
          <a:srcRect t="24685"/>
          <a:stretch>
            <a:fillRect/>
          </a:stretch>
        </p:blipFill>
        <p:spPr>
          <a:xfrm>
            <a:off x="7667080" y="0"/>
            <a:ext cx="4516594" cy="412169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/>
          <a:srcRect l="798" t="1092" r="544" b="913"/>
          <a:stretch>
            <a:fillRect/>
          </a:stretch>
        </p:blipFill>
        <p:spPr>
          <a:xfrm>
            <a:off x="356447" y="281094"/>
            <a:ext cx="588433" cy="588434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1" y="670"/>
            <a:ext cx="3544863" cy="6856929"/>
          </a:xfrm>
          <a:prstGeom prst="rect">
            <a:avLst/>
          </a:prstGeom>
          <a:solidFill>
            <a:srgbClr val="00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1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29656" t="845" r="8106" b="13626"/>
          <a:stretch>
            <a:fillRect/>
          </a:stretch>
        </p:blipFill>
        <p:spPr>
          <a:xfrm flipH="1">
            <a:off x="-206" y="401"/>
            <a:ext cx="3087870" cy="5142161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49CBF0-8D08-454B-BC3F-60A10129C9F4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CBAC70-8536-48D3-A193-A02FB16FDE8D}" type="slidenum">
              <a:rPr/>
            </a:fld>
            <a:endParaRPr/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723900" y="273050"/>
            <a:ext cx="25190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1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智能制造装备与技术全国重点实验室</a:t>
            </a:r>
            <a:endParaRPr sz="11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sz="5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 Key Lab of </a:t>
            </a:r>
            <a:r>
              <a:rPr sz="5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Intelligent</a:t>
            </a:r>
            <a:r>
              <a:rPr sz="5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Manufacturing Equipment &amp; Technology</a:t>
            </a:r>
            <a:endParaRPr sz="3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日期占位符 3"/>
          <p:cNvSpPr>
            <a:spLocks noGrp="1"/>
          </p:cNvSpPr>
          <p:nvPr/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algn="l" defTabSz="914400"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9" name="圆角矩形 33"/>
          <p:cNvSpPr>
            <a:spLocks noGrp="1"/>
          </p:cNvSpPr>
          <p:nvPr/>
        </p:nvSpPr>
        <p:spPr>
          <a:xfrm>
            <a:off x="612140" y="2047875"/>
            <a:ext cx="2213610" cy="1098550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10">
              <a:solidFill>
                <a:schemeClr val="bg1"/>
              </a:solidFill>
            </a:endParaRPr>
          </a:p>
        </p:txBody>
      </p:sp>
      <p:sp>
        <p:nvSpPr>
          <p:cNvPr id="10" name="TextBox 34"/>
          <p:cNvSpPr>
            <a:spLocks noGrp="1"/>
          </p:cNvSpPr>
          <p:nvPr/>
        </p:nvSpPr>
        <p:spPr>
          <a:xfrm>
            <a:off x="769620" y="2164080"/>
            <a:ext cx="1898650" cy="902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None/>
            </a:pPr>
            <a:r>
              <a: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录 </a:t>
            </a:r>
            <a:r>
              <a: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CONTENTS</a:t>
            </a:r>
            <a:endParaRPr sz="7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/>
          <a:srcRect l="798" t="1092" r="544" b="913"/>
          <a:stretch>
            <a:fillRect/>
          </a:stretch>
        </p:blipFill>
        <p:spPr>
          <a:xfrm>
            <a:off x="267335" y="210820"/>
            <a:ext cx="441325" cy="441325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-3175" y="-1771"/>
            <a:ext cx="12193200" cy="755999"/>
          </a:xfrm>
          <a:prstGeom prst="rect">
            <a:avLst/>
          </a:prstGeom>
          <a:solidFill>
            <a:srgbClr val="00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1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/>
          <a:srcRect t="24685"/>
          <a:stretch>
            <a:fillRect/>
          </a:stretch>
        </p:blipFill>
        <p:spPr>
          <a:xfrm>
            <a:off x="7673819" y="0"/>
            <a:ext cx="4516594" cy="4121696"/>
          </a:xfrm>
          <a:prstGeom prst="rect">
            <a:avLst/>
          </a:prstGeom>
        </p:spPr>
      </p:pic>
      <p:sp>
        <p:nvSpPr>
          <p:cNvPr id="9" name="直接连接符 8"/>
          <p:cNvSpPr>
            <a:spLocks noGrp="1"/>
          </p:cNvSpPr>
          <p:nvPr/>
        </p:nvSpPr>
        <p:spPr>
          <a:xfrm>
            <a:off x="1587" y="707322"/>
            <a:ext cx="12193200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" name="Rectangle 6"/>
          <p:cNvSpPr>
            <a:spLocks noGrp="1"/>
          </p:cNvSpPr>
          <p:nvPr/>
        </p:nvSpPr>
        <p:spPr>
          <a:xfrm>
            <a:off x="11510802" y="393115"/>
            <a:ext cx="611187" cy="2508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r" defTabSz="914400">
              <a:buNone/>
              <a:defRPr sz="1800" b="1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fld id="{33109BAF-7E30-4082-9BFB-9389C5BDB309}" type="slidenum">
              <a:rPr/>
            </a:fld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49CBF0-8D08-454B-BC3F-60A10129C9F4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CBAC70-8536-48D3-A193-A02FB16FDE8D}" type="slidenum">
              <a:rPr/>
            </a:fld>
            <a:endParaRPr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t="11278"/>
          <a:stretch>
            <a:fillRect/>
          </a:stretch>
        </p:blipFill>
        <p:spPr>
          <a:xfrm>
            <a:off x="-15753" y="0"/>
            <a:ext cx="3478022" cy="348563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9185" y="168693"/>
            <a:ext cx="11597749" cy="547250"/>
          </a:xfrm>
        </p:spPr>
        <p:txBody>
          <a:bodyPr>
            <a:normAutofit/>
          </a:bodyPr>
          <a:lstStyle>
            <a:lvl1pPr>
              <a:buNone/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l="798" t="1092" r="544" b="913"/>
          <a:stretch>
            <a:fillRect/>
          </a:stretch>
        </p:blipFill>
        <p:spPr>
          <a:xfrm>
            <a:off x="11218161" y="130414"/>
            <a:ext cx="530867" cy="530867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/>
      <p:sp>
        <p:nvSpPr>
          <p:cNvPr id="7" name="Rectangle 7"/>
          <p:cNvSpPr>
            <a:spLocks noGrp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lvl="0" algn="ctr">
              <a:buNone/>
            </a:pPr>
            <a:endParaRPr sz="101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49CBF0-8D08-454B-BC3F-60A10129C9F4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DCBAC70-8536-48D3-A193-A02FB16FDE8D}" type="slidenum">
              <a:rPr/>
            </a:fld>
            <a:endParaRPr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r="260" b="8769"/>
          <a:stretch>
            <a:fillRect/>
          </a:stretch>
        </p:blipFill>
        <p:spPr>
          <a:xfrm>
            <a:off x="6108330" y="0"/>
            <a:ext cx="6083670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l="22642" t="5943" r="24" b="204"/>
          <a:stretch>
            <a:fillRect/>
          </a:stretch>
        </p:blipFill>
        <p:spPr>
          <a:xfrm>
            <a:off x="0" y="-4445"/>
            <a:ext cx="4055745" cy="55600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/>
      <p:sp>
        <p:nvSpPr>
          <p:cNvPr id="4" name="标题占位符 1"/>
          <p:cNvSpPr>
            <a:spLocks noGrp="1"/>
          </p:cNvSpPr>
          <p:nvPr/>
        </p:nvSpPr>
        <p:spPr>
          <a:xfrm>
            <a:off x="669883" y="432000"/>
            <a:ext cx="10852239" cy="648000"/>
          </a:xfrm>
          <a:prstGeom prst="rect">
            <a:avLst/>
          </a:prstGeom>
        </p:spPr>
        <p:txBody>
          <a:bodyPr vert="horz" lIns="101600" tIns="38100" rIns="76200" bIns="38100" anchor="ctr">
            <a:noAutofit/>
          </a:bodyPr>
          <a:lstStyle>
            <a:lvl1pPr algn="l" defTabSz="685800">
              <a:lnSpc>
                <a:spcPct val="100000"/>
              </a:lnSpc>
              <a:spcBef>
                <a:spcPct val="0"/>
              </a:spcBef>
              <a:buNone/>
              <a:defRPr sz="2100" b="1" u="none" strike="noStrike" kern="1200" cap="none" spc="15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100"/>
              <a:t>单击此处编辑母版标题样式</a:t>
            </a:r>
            <a:endParaRPr sz="2100"/>
          </a:p>
        </p:txBody>
      </p:sp>
      <p:sp>
        <p:nvSpPr>
          <p:cNvPr id="5" name="文本占位符 2"/>
          <p:cNvSpPr>
            <a:spLocks noGrp="1"/>
          </p:cNvSpPr>
          <p:nvPr>
            <p:ph idx="1"/>
          </p:nvPr>
        </p:nvSpPr>
        <p:spPr>
          <a:xfrm>
            <a:off x="669883" y="1296000"/>
            <a:ext cx="10852239" cy="5040000"/>
          </a:xfrm>
          <a:prstGeom prst="rect">
            <a:avLst/>
          </a:prstGeo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idx="2"/>
          </p:nvPr>
        </p:nvSpPr>
        <p:spPr>
          <a:xfrm>
            <a:off x="879743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/>
            </a:fld>
            <a:endParaRPr/>
          </a:p>
        </p:txBody>
      </p:sp>
      <p:sp>
        <p:nvSpPr>
          <p:cNvPr id="9" name="页脚占位符 4"/>
          <p:cNvSpPr>
            <a:spLocks noGrp="1"/>
          </p:cNvSpPr>
          <p:nvPr>
            <p:ph type="ft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1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/>
            </a:fld>
            <a:endParaRPr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" y="-4233"/>
            <a:ext cx="12236873" cy="6862233"/>
          </a:xfrm>
          <a:prstGeom prst="rect">
            <a:avLst/>
          </a:prstGeom>
          <a:solidFill>
            <a:srgbClr val="00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76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r="260"/>
          <a:stretch>
            <a:fillRect/>
          </a:stretch>
        </p:blipFill>
        <p:spPr>
          <a:xfrm>
            <a:off x="4115647" y="-4445"/>
            <a:ext cx="8111560" cy="75171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l="22642" t="5943" r="24" b="204"/>
          <a:stretch>
            <a:fillRect/>
          </a:stretch>
        </p:blipFill>
        <p:spPr>
          <a:xfrm>
            <a:off x="1" y="-4445"/>
            <a:ext cx="5407660" cy="5560060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ctrTitle" hasCustomPrompt="1"/>
          </p:nvPr>
        </p:nvSpPr>
        <p:spPr>
          <a:xfrm>
            <a:off x="0" y="2864297"/>
            <a:ext cx="12240683" cy="1128751"/>
          </a:xfrm>
        </p:spPr>
        <p:txBody>
          <a:bodyPr lIns="101600" tIns="38100" rIns="25400" bIns="38100" anchor="t">
            <a:noAutofit/>
          </a:bodyPr>
          <a:lstStyle>
            <a:lvl1pPr algn="ctr">
              <a:buNone/>
              <a:defRPr sz="4800" b="1" spc="4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单击此处编辑标题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6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9CBF0-8D08-454B-BC3F-60A10129C9F4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BAC70-8536-48D3-A193-A02FB16FDE8D}" type="slidenum">
              <a:rPr/>
            </a:fld>
            <a:endParaRPr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7"/>
          <a:srcRect t="24709"/>
          <a:stretch>
            <a:fillRect/>
          </a:stretch>
        </p:blipFill>
        <p:spPr>
          <a:xfrm>
            <a:off x="7674000" y="0"/>
            <a:ext cx="4518000" cy="41216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10334625" cy="542925"/>
          </a:xfrm>
        </p:spPr>
        <p:txBody>
          <a:bodyPr wrap="none" lIns="0" tIns="0" rIns="0" bIns="0" anchor="ctr">
            <a:noAutofit/>
          </a:bodyPr>
          <a:lstStyle>
            <a:defPPr algn="l">
              <a:def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QWOP 游戏简介与研究任务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-1"/>
          <p:cNvSpPr>
            <a:spLocks noGrp="1"/>
          </p:cNvSpPr>
          <p:nvPr/>
        </p:nvSpPr>
        <p:spPr>
          <a:xfrm>
            <a:off x="476250" y="1095375"/>
            <a:ext cx="110966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基于深度强化学习的运动控制与策略优化</a:t>
            </a:r>
            <a:endParaRPr sz="2400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83" y="1895475"/>
            <a:ext cx="6231210" cy="3895725"/>
          </a:xfrm>
          <a:prstGeom prst="rect">
            <a:avLst/>
          </a:prstGeom>
        </p:spPr>
      </p:pic>
      <p:sp>
        <p:nvSpPr>
          <p:cNvPr id="5" name="content-2"/>
          <p:cNvSpPr>
            <a:spLocks noGrp="1"/>
          </p:cNvSpPr>
          <p:nvPr/>
        </p:nvSpPr>
        <p:spPr>
          <a:xfrm>
            <a:off x="7191375" y="2038350"/>
            <a:ext cx="43338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四键控制双腿</a:t>
            </a:r>
            <a:endParaRPr sz="2250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ontent-3"/>
          <p:cNvSpPr>
            <a:spLocks noGrp="1"/>
          </p:cNvSpPr>
          <p:nvPr/>
        </p:nvSpPr>
        <p:spPr>
          <a:xfrm>
            <a:off x="7191375" y="2581275"/>
            <a:ext cx="43338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 / W / O / P 组成 16 类动作</a:t>
            </a:r>
            <a:endParaRPr sz="1875" b="0">
              <a:solidFill>
                <a:srgbClr val="1D2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content-4"/>
          <p:cNvSpPr>
            <a:spLocks noGrp="1"/>
          </p:cNvSpPr>
          <p:nvPr/>
        </p:nvSpPr>
        <p:spPr>
          <a:xfrm>
            <a:off x="7191375" y="3362325"/>
            <a:ext cx="43338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目标：稳定完成百米</a:t>
            </a:r>
            <a:endParaRPr sz="2250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ontent-5"/>
          <p:cNvSpPr>
            <a:spLocks noGrp="1"/>
          </p:cNvSpPr>
          <p:nvPr/>
        </p:nvSpPr>
        <p:spPr>
          <a:xfrm>
            <a:off x="7191375" y="3905250"/>
            <a:ext cx="43338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在原生计分规则下缩短完赛用时</a:t>
            </a:r>
            <a:endParaRPr sz="1875" b="0">
              <a:solidFill>
                <a:srgbClr val="1D2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ntent-6"/>
          <p:cNvSpPr>
            <a:spLocks noGrp="1"/>
          </p:cNvSpPr>
          <p:nvPr/>
        </p:nvSpPr>
        <p:spPr>
          <a:xfrm>
            <a:off x="7191375" y="4686300"/>
            <a:ext cx="43338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难点：全身连续协调</a:t>
            </a:r>
            <a:endParaRPr sz="2250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content-7"/>
          <p:cNvSpPr>
            <a:spLocks noGrp="1"/>
          </p:cNvSpPr>
          <p:nvPr/>
        </p:nvSpPr>
        <p:spPr>
          <a:xfrm>
            <a:off x="7191375" y="5229225"/>
            <a:ext cx="43338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平衡、推进与越栏需要连续配合</a:t>
            </a:r>
            <a:endParaRPr sz="1875" b="0">
              <a:solidFill>
                <a:srgbClr val="1D2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ontent-8"/>
          <p:cNvSpPr>
            <a:spLocks noGrp="1"/>
          </p:cNvSpPr>
          <p:nvPr/>
        </p:nvSpPr>
        <p:spPr>
          <a:xfrm>
            <a:off x="476250" y="5895975"/>
            <a:ext cx="657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原版 QWOP 游戏示意，图中数值不代表本项目成绩</a:t>
            </a:r>
            <a:endParaRPr sz="1425" b="0">
              <a:solidFill>
                <a:srgbClr val="5867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content-9"/>
          <p:cNvSpPr>
            <a:spLocks noGrp="1"/>
          </p:cNvSpPr>
          <p:nvPr/>
        </p:nvSpPr>
        <p:spPr>
          <a:xfrm>
            <a:off x="476250" y="6372225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Lionel_Zhao    课堂项目汇报</a:t>
            </a:r>
            <a:endParaRPr sz="1575" b="0">
              <a:solidFill>
                <a:srgbClr val="5867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10334625" cy="542925"/>
          </a:xfrm>
        </p:spPr>
        <p:txBody>
          <a:bodyPr wrap="none" lIns="0" tIns="0" rIns="0" bIns="0" anchor="ctr">
            <a:noAutofit/>
          </a:bodyPr>
          <a:lstStyle>
            <a:defPPr algn="l">
              <a:def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开源项目提供的训练基础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-1"/>
          <p:cNvSpPr>
            <a:spLocks noGrp="1"/>
          </p:cNvSpPr>
          <p:nvPr/>
        </p:nvSpPr>
        <p:spPr>
          <a:xfrm>
            <a:off x="476250" y="1114425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复用作者架构，在任务奖励与策略学习上开展实验</a:t>
            </a:r>
            <a:endParaRPr sz="2250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476250" y="1924050"/>
          <a:ext cx="11144250" cy="3476625"/>
        </p:xfrm>
        <a:graphic>
          <a:graphicData uri="http://schemas.openxmlformats.org/drawingml/2006/table">
            <a:tbl>
              <a:tblPr/>
              <a:tblGrid>
                <a:gridCol w="1809750"/>
                <a:gridCol w="4524375"/>
                <a:gridCol w="4810125"/>
              </a:tblGrid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工作层次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开源项目已提供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本地完成的工作</a:t>
                      </a:r>
                      <a:endParaRPr sz="20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R w="9525">
                      <a:solidFill>
                        <a:srgbClr val="D6E0EA"/>
                      </a:solidFill>
                    </a:lnR>
                    <a:lnT w="9525">
                      <a:solidFill>
                        <a:srgbClr val="D6E0EA"/>
                      </a:solidFill>
                    </a:lnT>
                    <a:lnB w="9525">
                      <a:solidFill>
                        <a:srgbClr val="D6E0EA"/>
                      </a:solidFill>
                    </a:lnB>
                    <a:solidFill>
                      <a:srgbClr val="064A8D"/>
                    </a:solidFill>
                  </a:tcPr>
                </a:tc>
              </a:tr>
              <a:tr h="9525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仿真环境</a:t>
                      </a:r>
                      <a:endParaRPr sz="1875" b="1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原生物理后端、Python 接口</a:t>
                      </a:r>
                      <a:endParaRPr sz="1875" b="0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百米、跨栏与跳远任务</a:t>
                      </a:r>
                      <a:endParaRPr sz="1875" b="0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Windows 11 / PyTorch / CUDA</a:t>
                      </a:r>
                      <a:endParaRPr sz="1875" b="0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跑通训练、重置和模型加载</a:t>
                      </a:r>
                      <a:endParaRPr sz="1875" b="0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训练算法</a:t>
                      </a:r>
                      <a:endParaRPr sz="1875" b="1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PPO、Actor / Critic、GAE</a:t>
                      </a:r>
                      <a:endParaRPr sz="1875" b="0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并行采样与策略蒸馏</a:t>
                      </a:r>
                      <a:endParaRPr sz="1875" b="0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奖励迭代、历史状态与探索</a:t>
                      </a:r>
                      <a:endParaRPr sz="1875" b="0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PPO 微调及局部参数搜索</a:t>
                      </a:r>
                      <a:endParaRPr sz="1875" b="0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实验工具</a:t>
                      </a:r>
                      <a:endParaRPr sz="1875" b="1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L w="9525">
                      <a:solidFill>
                        <a:srgbClr val="D6E0EA"/>
                      </a:solidFill>
                    </a:lnL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训练日志与 checkpoint</a:t>
                      </a:r>
                      <a:endParaRPr sz="1875" b="0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评估、模型加载及回放导出</a:t>
                      </a:r>
                      <a:endParaRPr sz="1875" b="0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公开回放采集与行为克隆</a:t>
                      </a:r>
                      <a:endParaRPr sz="1875" b="0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875" b="0">
                          <a:solidFill>
                            <a:srgbClr val="1D2A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原生闭环验证及结果归档</a:t>
                      </a:r>
                      <a:endParaRPr sz="1875" b="0">
                        <a:solidFill>
                          <a:srgbClr val="1D2A3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52400" marB="152400" anchor="ctr">
                    <a:lnR w="9525">
                      <a:solidFill>
                        <a:srgbClr val="D6E0EA"/>
                      </a:solidFill>
                    </a:lnR>
                    <a:lnB w="9525">
                      <a:solidFill>
                        <a:srgbClr val="D6E0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ntent-2"/>
          <p:cNvSpPr>
            <a:spLocks noGrp="1"/>
          </p:cNvSpPr>
          <p:nvPr/>
        </p:nvSpPr>
        <p:spPr>
          <a:xfrm>
            <a:off x="476250" y="574357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项目来源：LYiHub / QWOP_rl_training_public</a:t>
            </a:r>
            <a:endParaRPr sz="1800" b="0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ontent-3"/>
          <p:cNvSpPr>
            <a:spLocks noGrp="1"/>
          </p:cNvSpPr>
          <p:nvPr/>
        </p:nvSpPr>
        <p:spPr>
          <a:xfrm>
            <a:off x="476250" y="6248400"/>
            <a:ext cx="11144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保留作者的 PPO、采样、日志与模型保存流程</a:t>
            </a:r>
            <a:endParaRPr sz="1725" b="0">
              <a:solidFill>
                <a:srgbClr val="5867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3" name="直接箭头连接符 12"/>
          <p:cNvCxnSpPr>
            <a:stCxn id="8" idx="0"/>
            <a:endCxn id="5" idx="2"/>
          </p:cNvCxnSpPr>
          <p:nvPr/>
        </p:nvCxnSpPr>
        <p:spPr>
          <a:xfrm flipV="1">
            <a:off x="5772150" y="3152775"/>
            <a:ext cx="0" cy="914400"/>
          </a:xfrm>
          <a:prstGeom prst="straightConnector1">
            <a:avLst/>
          </a:prstGeom>
          <a:ln w="19050">
            <a:solidFill>
              <a:srgbClr val="064A8D"/>
            </a:solidFill>
            <a:tailEnd type="triangle" w="sm" len="sm"/>
          </a:ln>
        </p:spPr>
      </p:cxnSp>
      <p:cxnSp>
        <p:nvCxnSpPr>
          <p:cNvPr id="12" name="直接箭头连接符 11"/>
          <p:cNvCxnSpPr>
            <a:stCxn id="7" idx="1"/>
            <a:endCxn id="8" idx="3"/>
          </p:cNvCxnSpPr>
          <p:nvPr/>
        </p:nvCxnSpPr>
        <p:spPr>
          <a:xfrm flipH="1">
            <a:off x="7448550" y="4600575"/>
            <a:ext cx="1038225" cy="0"/>
          </a:xfrm>
          <a:prstGeom prst="straightConnector1">
            <a:avLst/>
          </a:prstGeom>
          <a:ln w="19050">
            <a:solidFill>
              <a:srgbClr val="064A8D"/>
            </a:solidFill>
            <a:tailEnd type="triangle" w="sm" len="sm"/>
          </a:ln>
        </p:spPr>
      </p:cxnSp>
      <p:cxnSp>
        <p:nvCxnSpPr>
          <p:cNvPr id="11" name="直接箭头连接符 10"/>
          <p:cNvCxnSpPr>
            <a:stCxn id="6" idx="2"/>
            <a:endCxn id="7" idx="0"/>
          </p:cNvCxnSpPr>
          <p:nvPr/>
        </p:nvCxnSpPr>
        <p:spPr>
          <a:xfrm>
            <a:off x="9996488" y="3152775"/>
            <a:ext cx="0" cy="914400"/>
          </a:xfrm>
          <a:prstGeom prst="straightConnector1">
            <a:avLst/>
          </a:prstGeom>
          <a:ln w="19050">
            <a:solidFill>
              <a:srgbClr val="064A8D"/>
            </a:solidFill>
            <a:tailEnd type="triangle" w="sm" len="sm"/>
          </a:ln>
        </p:spPr>
      </p:cxnSp>
      <p:cxnSp>
        <p:nvCxnSpPr>
          <p:cNvPr id="10" name="直接箭头连接符 9"/>
          <p:cNvCxnSpPr>
            <a:stCxn id="5" idx="3"/>
            <a:endCxn id="6" idx="1"/>
          </p:cNvCxnSpPr>
          <p:nvPr/>
        </p:nvCxnSpPr>
        <p:spPr>
          <a:xfrm>
            <a:off x="7448550" y="2619375"/>
            <a:ext cx="1038225" cy="0"/>
          </a:xfrm>
          <a:prstGeom prst="straightConnector1">
            <a:avLst/>
          </a:prstGeom>
          <a:ln w="19050">
            <a:solidFill>
              <a:srgbClr val="064A8D"/>
            </a:solidFill>
            <a:tailEnd type="triangle" w="sm" len="sm"/>
          </a:ln>
        </p:spPr>
      </p:cxnSp>
      <p:cxnSp>
        <p:nvCxnSpPr>
          <p:cNvPr id="9" name="直接箭头连接符 8"/>
          <p:cNvCxnSpPr>
            <a:stCxn id="4" idx="3"/>
            <a:endCxn id="5" idx="1"/>
          </p:cNvCxnSpPr>
          <p:nvPr/>
        </p:nvCxnSpPr>
        <p:spPr>
          <a:xfrm>
            <a:off x="3048000" y="2619375"/>
            <a:ext cx="1047750" cy="0"/>
          </a:xfrm>
          <a:prstGeom prst="straightConnector1">
            <a:avLst/>
          </a:prstGeom>
          <a:ln w="19050">
            <a:solidFill>
              <a:srgbClr val="064A8D"/>
            </a:solidFill>
            <a:tailEnd type="triangle" w="sm" len="sm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10334625" cy="542925"/>
          </a:xfrm>
        </p:spPr>
        <p:txBody>
          <a:bodyPr wrap="none" lIns="0" tIns="0" rIns="0" bIns="0" anchor="ctr">
            <a:noAutofit/>
          </a:bodyPr>
          <a:lstStyle>
            <a:defPPr algn="l">
              <a:def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PPO 强化学习训练流程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-1"/>
          <p:cNvSpPr>
            <a:spLocks noGrp="1"/>
          </p:cNvSpPr>
          <p:nvPr/>
        </p:nvSpPr>
        <p:spPr>
          <a:xfrm>
            <a:off x="476250" y="1114425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通过环境交互采样，再用价值估计更新动作策略</a:t>
            </a:r>
            <a:endParaRPr sz="2250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rocess-2"/>
          <p:cNvSpPr>
            <a:spLocks noGrp="1"/>
          </p:cNvSpPr>
          <p:nvPr/>
        </p:nvSpPr>
        <p:spPr>
          <a:xfrm>
            <a:off x="619125" y="2085975"/>
            <a:ext cx="2428875" cy="1066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64A8D"/>
            </a:solidFill>
          </a:ln>
        </p:spPr>
        <p:txBody>
          <a:bodyPr wrap="square" lIns="95250" tIns="95250" rIns="95250" bIns="95250" anchor="ctr">
            <a:noAutofit/>
          </a:bodyPr>
          <a:lstStyle>
            <a:def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身体状态</a:t>
            </a:r>
            <a:endParaRPr sz="202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 维 × 32 帧</a:t>
            </a:r>
            <a:endParaRPr sz="202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rocess-3"/>
          <p:cNvSpPr>
            <a:spLocks noGrp="1"/>
          </p:cNvSpPr>
          <p:nvPr/>
        </p:nvSpPr>
        <p:spPr>
          <a:xfrm>
            <a:off x="4095750" y="2085975"/>
            <a:ext cx="3352800" cy="1066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64A8D"/>
            </a:solidFill>
          </a:ln>
        </p:spPr>
        <p:txBody>
          <a:bodyPr wrap="square" lIns="95250" tIns="95250" rIns="95250" bIns="95250" anchor="ctr">
            <a:noAutofit/>
          </a:bodyPr>
          <a:lstStyle>
            <a:def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Actor 策略网络</a:t>
            </a:r>
            <a:endParaRPr sz="202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两层 256，输出 16 类</a:t>
            </a:r>
            <a:endParaRPr sz="202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rocess-4"/>
          <p:cNvSpPr>
            <a:spLocks noGrp="1"/>
          </p:cNvSpPr>
          <p:nvPr/>
        </p:nvSpPr>
        <p:spPr>
          <a:xfrm>
            <a:off x="8486775" y="2085975"/>
            <a:ext cx="3019425" cy="1066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64A8D"/>
            </a:solidFill>
          </a:ln>
        </p:spPr>
        <p:txBody>
          <a:bodyPr wrap="square" lIns="95250" tIns="95250" rIns="95250" bIns="95250" anchor="ctr">
            <a:noAutofit/>
          </a:bodyPr>
          <a:lstStyle>
            <a:def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原生环境执行</a:t>
            </a:r>
            <a:endParaRPr sz="202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奖励、新状态、终止</a:t>
            </a:r>
            <a:endParaRPr sz="202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rocess-5"/>
          <p:cNvSpPr>
            <a:spLocks noGrp="1"/>
          </p:cNvSpPr>
          <p:nvPr/>
        </p:nvSpPr>
        <p:spPr>
          <a:xfrm>
            <a:off x="8486775" y="4067175"/>
            <a:ext cx="3019425" cy="1066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64A8D"/>
            </a:solidFill>
          </a:ln>
        </p:spPr>
        <p:txBody>
          <a:bodyPr wrap="square" lIns="95250" tIns="95250" rIns="95250" bIns="95250" anchor="ctr">
            <a:noAutofit/>
          </a:bodyPr>
          <a:lstStyle>
            <a:def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Rollout 数据采集</a:t>
            </a:r>
            <a:endParaRPr sz="202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并行环境的连续交互</a:t>
            </a:r>
            <a:endParaRPr sz="202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rocess-6"/>
          <p:cNvSpPr>
            <a:spLocks noGrp="1"/>
          </p:cNvSpPr>
          <p:nvPr/>
        </p:nvSpPr>
        <p:spPr>
          <a:xfrm>
            <a:off x="4095750" y="4067175"/>
            <a:ext cx="3352800" cy="1066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64A8D"/>
            </a:solidFill>
          </a:ln>
        </p:spPr>
        <p:txBody>
          <a:bodyPr wrap="square" lIns="95250" tIns="95250" rIns="95250" bIns="95250" anchor="ctr">
            <a:noAutofit/>
          </a:bodyPr>
          <a:lstStyle>
            <a:def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 与 GAE 估计优势</a:t>
            </a:r>
            <a:endParaRPr sz="202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PPO 裁剪目标更新策略</a:t>
            </a:r>
            <a:endParaRPr sz="202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content-12"/>
          <p:cNvSpPr>
            <a:spLocks noGrp="1"/>
          </p:cNvSpPr>
          <p:nvPr/>
        </p:nvSpPr>
        <p:spPr>
          <a:xfrm>
            <a:off x="7553325" y="1704975"/>
            <a:ext cx="857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按键动作</a:t>
            </a:r>
            <a:endParaRPr sz="1500" b="0">
              <a:solidFill>
                <a:srgbClr val="5867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ontent-13"/>
          <p:cNvSpPr>
            <a:spLocks noGrp="1"/>
          </p:cNvSpPr>
          <p:nvPr/>
        </p:nvSpPr>
        <p:spPr>
          <a:xfrm>
            <a:off x="6248400" y="3419475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更新策略</a:t>
            </a:r>
            <a:endParaRPr sz="1575" b="0">
              <a:solidFill>
                <a:srgbClr val="5867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ontent-14"/>
          <p:cNvSpPr>
            <a:spLocks noGrp="1"/>
          </p:cNvSpPr>
          <p:nvPr/>
        </p:nvSpPr>
        <p:spPr>
          <a:xfrm>
            <a:off x="553085" y="561022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Actor 决定怎样动作，Critic 评估长期回报</a:t>
            </a:r>
            <a:endParaRPr sz="217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content-15"/>
          <p:cNvSpPr>
            <a:spLocks noGrp="1"/>
          </p:cNvSpPr>
          <p:nvPr/>
        </p:nvSpPr>
        <p:spPr>
          <a:xfrm>
            <a:off x="619125" y="61531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GAE 分配动作优势，PPO 限制单次策略变化，训练后保存 checkpoint</a:t>
            </a:r>
            <a:endParaRPr sz="1800" b="0">
              <a:solidFill>
                <a:srgbClr val="5867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10334625" cy="542925"/>
          </a:xfrm>
        </p:spPr>
        <p:txBody>
          <a:bodyPr wrap="none" lIns="0" tIns="0" rIns="0" bIns="0" anchor="ctr">
            <a:noAutofit/>
          </a:bodyPr>
          <a:lstStyle>
            <a:defPPr algn="l">
              <a:def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自主训练与策略优化结果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-1"/>
          <p:cNvSpPr>
            <a:spLocks noGrp="1"/>
          </p:cNvSpPr>
          <p:nvPr/>
        </p:nvSpPr>
        <p:spPr>
          <a:xfrm>
            <a:off x="476250" y="1200150"/>
            <a:ext cx="723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起步探索阶段：平均回合回报</a:t>
            </a:r>
            <a:endParaRPr sz="217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Chart"/>
          <p:cNvGraphicFramePr/>
          <p:nvPr/>
        </p:nvGraphicFramePr>
        <p:xfrm>
          <a:off x="409575" y="1809750"/>
          <a:ext cx="7096125" cy="3305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content-2"/>
          <p:cNvSpPr>
            <a:spLocks noGrp="1"/>
          </p:cNvSpPr>
          <p:nvPr/>
        </p:nvSpPr>
        <p:spPr>
          <a:xfrm>
            <a:off x="8096250" y="1362075"/>
            <a:ext cx="3333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 PPO 最好候选</a:t>
            </a:r>
            <a:endParaRPr sz="2025" b="0">
              <a:solidFill>
                <a:srgbClr val="5867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ontent-3"/>
          <p:cNvSpPr>
            <a:spLocks noGrp="1"/>
          </p:cNvSpPr>
          <p:nvPr/>
        </p:nvSpPr>
        <p:spPr>
          <a:xfrm>
            <a:off x="8058150" y="1895475"/>
            <a:ext cx="34766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2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42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45.400 秒</a:t>
            </a:r>
            <a:endParaRPr sz="427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content-4"/>
          <p:cNvSpPr>
            <a:spLocks noGrp="1"/>
          </p:cNvSpPr>
          <p:nvPr/>
        </p:nvSpPr>
        <p:spPr>
          <a:xfrm>
            <a:off x="8096250" y="3171825"/>
            <a:ext cx="3333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局部参数搜索后</a:t>
            </a:r>
            <a:endParaRPr sz="2025" b="0">
              <a:solidFill>
                <a:srgbClr val="5867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ontent-5"/>
          <p:cNvSpPr>
            <a:spLocks noGrp="1"/>
          </p:cNvSpPr>
          <p:nvPr/>
        </p:nvSpPr>
        <p:spPr>
          <a:xfrm>
            <a:off x="8058150" y="3705225"/>
            <a:ext cx="34766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275" b="1">
                <a:solidFill>
                  <a:srgbClr val="1179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4275" b="1">
                <a:solidFill>
                  <a:srgbClr val="1179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75" b="1">
                <a:solidFill>
                  <a:srgbClr val="1179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44.933 秒</a:t>
            </a:r>
            <a:endParaRPr sz="4275" b="1">
              <a:solidFill>
                <a:srgbClr val="1179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ntent-6"/>
          <p:cNvSpPr>
            <a:spLocks noGrp="1"/>
          </p:cNvSpPr>
          <p:nvPr/>
        </p:nvSpPr>
        <p:spPr>
          <a:xfrm>
            <a:off x="8096250" y="4705350"/>
            <a:ext cx="3476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均通过原生环境完赛验证</a:t>
            </a:r>
            <a:endParaRPr sz="1650" b="0">
              <a:solidFill>
                <a:srgbClr val="5867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content-7"/>
          <p:cNvSpPr>
            <a:spLocks noGrp="1"/>
          </p:cNvSpPr>
          <p:nvPr/>
        </p:nvSpPr>
        <p:spPr>
          <a:xfrm>
            <a:off x="476250" y="5172075"/>
            <a:ext cx="7191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 v33 单次续训，20 个记录点滚动均值</a:t>
            </a:r>
            <a:endParaRPr sz="1425" b="0">
              <a:solidFill>
                <a:srgbClr val="5867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ontent-8"/>
          <p:cNvSpPr>
            <a:spLocks noGrp="1"/>
          </p:cNvSpPr>
          <p:nvPr/>
        </p:nvSpPr>
        <p:spPr>
          <a:xfrm>
            <a:off x="476250" y="5715000"/>
            <a:ext cx="11144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调整进度、低姿态与完赛反馈，结合历史状态和起步探索</a:t>
            </a:r>
            <a:endParaRPr sz="202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content-9"/>
          <p:cNvSpPr>
            <a:spLocks noGrp="1"/>
          </p:cNvSpPr>
          <p:nvPr/>
        </p:nvSpPr>
        <p:spPr>
          <a:xfrm>
            <a:off x="476250" y="6229350"/>
            <a:ext cx="11144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RND 对照未刷新最快成绩，固定姿态偏好仍需实验检验</a:t>
            </a:r>
            <a:endParaRPr sz="1800" b="0">
              <a:solidFill>
                <a:srgbClr val="5867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直接箭头连接符 8"/>
          <p:cNvCxnSpPr>
            <a:stCxn id="5" idx="3"/>
            <a:endCxn id="6" idx="1"/>
          </p:cNvCxnSpPr>
          <p:nvPr/>
        </p:nvCxnSpPr>
        <p:spPr>
          <a:xfrm>
            <a:off x="8763000" y="1866900"/>
            <a:ext cx="285750" cy="0"/>
          </a:xfrm>
          <a:prstGeom prst="straightConnector1">
            <a:avLst/>
          </a:prstGeom>
          <a:ln w="19050">
            <a:solidFill>
              <a:srgbClr val="064A8D"/>
            </a:solidFill>
            <a:tailEnd type="triangle" w="sm" len="sm"/>
          </a:ln>
        </p:spPr>
      </p:cxnSp>
      <p:cxnSp>
        <p:nvCxnSpPr>
          <p:cNvPr id="8" name="直接箭头连接符 7"/>
          <p:cNvCxnSpPr>
            <a:stCxn id="4" idx="3"/>
            <a:endCxn id="5" idx="1"/>
          </p:cNvCxnSpPr>
          <p:nvPr/>
        </p:nvCxnSpPr>
        <p:spPr>
          <a:xfrm>
            <a:off x="5905500" y="1866900"/>
            <a:ext cx="285750" cy="0"/>
          </a:xfrm>
          <a:prstGeom prst="straightConnector1">
            <a:avLst/>
          </a:prstGeom>
          <a:ln w="19050">
            <a:solidFill>
              <a:srgbClr val="064A8D"/>
            </a:solidFill>
            <a:tailEnd type="triangle" w="sm" len="sm"/>
          </a:ln>
        </p:spPr>
      </p:cxnSp>
      <p:cxnSp>
        <p:nvCxnSpPr>
          <p:cNvPr id="7" name="直接箭头连接符 6"/>
          <p:cNvCxnSpPr>
            <a:stCxn id="3" idx="3"/>
            <a:endCxn id="4" idx="1"/>
          </p:cNvCxnSpPr>
          <p:nvPr/>
        </p:nvCxnSpPr>
        <p:spPr>
          <a:xfrm>
            <a:off x="3048000" y="1866900"/>
            <a:ext cx="285750" cy="0"/>
          </a:xfrm>
          <a:prstGeom prst="straightConnector1">
            <a:avLst/>
          </a:prstGeom>
          <a:ln w="19050">
            <a:solidFill>
              <a:srgbClr val="064A8D"/>
            </a:solidFill>
            <a:tailEnd type="triangle" w="sm" len="sm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10334625" cy="542925"/>
          </a:xfrm>
        </p:spPr>
        <p:txBody>
          <a:bodyPr wrap="none" lIns="0" tIns="0" rIns="0" bIns="0" anchor="ctr">
            <a:noAutofit/>
          </a:bodyPr>
          <a:lstStyle>
            <a:defPPr algn="l">
              <a:def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专家模仿的实现与结果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rocess-1"/>
          <p:cNvSpPr>
            <a:spLocks noGrp="1"/>
          </p:cNvSpPr>
          <p:nvPr/>
        </p:nvSpPr>
        <p:spPr>
          <a:xfrm>
            <a:off x="476250" y="1343025"/>
            <a:ext cx="2571750" cy="1047750"/>
          </a:xfrm>
          <a:prstGeom prst="rect">
            <a:avLst/>
          </a:prstGeom>
          <a:solidFill>
            <a:srgbClr val="FFFFFF"/>
          </a:solidFill>
          <a:ln w="15240">
            <a:solidFill>
              <a:srgbClr val="064A8D"/>
            </a:solidFill>
          </a:ln>
        </p:spPr>
        <p:txBody>
          <a:bodyPr wrap="square" lIns="95250" tIns="95250" rIns="95250" bIns="95250" anchor="ctr">
            <a:noAutofit/>
          </a:bodyPr>
          <a:lstStyle>
            <a:defPPr algn="ctr">
              <a:def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 XYF 回放</a:t>
            </a:r>
            <a:endParaRPr sz="187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991 帧按键动作</a:t>
            </a:r>
            <a:endParaRPr sz="187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rocess-2"/>
          <p:cNvSpPr>
            <a:spLocks noGrp="1"/>
          </p:cNvSpPr>
          <p:nvPr/>
        </p:nvSpPr>
        <p:spPr>
          <a:xfrm>
            <a:off x="3333750" y="1343025"/>
            <a:ext cx="2571750" cy="1047750"/>
          </a:xfrm>
          <a:prstGeom prst="rect">
            <a:avLst/>
          </a:prstGeom>
          <a:solidFill>
            <a:srgbClr val="FFFFFF"/>
          </a:solidFill>
          <a:ln w="15240">
            <a:solidFill>
              <a:srgbClr val="064A8D"/>
            </a:solidFill>
          </a:ln>
        </p:spPr>
        <p:txBody>
          <a:bodyPr wrap="square" lIns="95250" tIns="95250" rIns="95250" bIns="95250" anchor="ctr">
            <a:noAutofit/>
          </a:bodyPr>
          <a:lstStyle>
            <a:defPPr algn="ctr">
              <a:def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原生重放采样</a:t>
            </a:r>
            <a:endParaRPr sz="187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状态与动作对齐</a:t>
            </a:r>
            <a:endParaRPr sz="187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rocess-3"/>
          <p:cNvSpPr>
            <a:spLocks noGrp="1"/>
          </p:cNvSpPr>
          <p:nvPr/>
        </p:nvSpPr>
        <p:spPr>
          <a:xfrm>
            <a:off x="6191250" y="1343025"/>
            <a:ext cx="2571750" cy="1047750"/>
          </a:xfrm>
          <a:prstGeom prst="rect">
            <a:avLst/>
          </a:prstGeom>
          <a:solidFill>
            <a:srgbClr val="FFFFFF"/>
          </a:solidFill>
          <a:ln w="15240">
            <a:solidFill>
              <a:srgbClr val="064A8D"/>
            </a:solidFill>
          </a:ln>
        </p:spPr>
        <p:txBody>
          <a:bodyPr wrap="square" lIns="95250" tIns="95250" rIns="95250" bIns="95250" anchor="ctr">
            <a:noAutofit/>
          </a:bodyPr>
          <a:lstStyle>
            <a:defPPr algn="ctr">
              <a:def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行为克隆训练</a:t>
            </a:r>
            <a:endParaRPr sz="187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交叉熵更新 Actor</a:t>
            </a:r>
            <a:endParaRPr sz="187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rocess-4"/>
          <p:cNvSpPr>
            <a:spLocks noGrp="1"/>
          </p:cNvSpPr>
          <p:nvPr/>
        </p:nvSpPr>
        <p:spPr>
          <a:xfrm>
            <a:off x="9048750" y="1343025"/>
            <a:ext cx="2571750" cy="1047750"/>
          </a:xfrm>
          <a:prstGeom prst="rect">
            <a:avLst/>
          </a:prstGeom>
          <a:solidFill>
            <a:srgbClr val="FFFFFF"/>
          </a:solidFill>
          <a:ln w="15240">
            <a:solidFill>
              <a:srgbClr val="064A8D"/>
            </a:solidFill>
          </a:ln>
        </p:spPr>
        <p:txBody>
          <a:bodyPr wrap="square" lIns="95250" tIns="95250" rIns="95250" bIns="95250" anchor="ctr">
            <a:noAutofit/>
          </a:bodyPr>
          <a:lstStyle>
            <a:defPPr algn="ctr">
              <a:def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闭环验证</a:t>
            </a:r>
            <a:endParaRPr sz="187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实时观测决定动作</a:t>
            </a:r>
            <a:endParaRPr sz="1875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content-8"/>
          <p:cNvSpPr>
            <a:spLocks noGrp="1"/>
          </p:cNvSpPr>
          <p:nvPr/>
        </p:nvSpPr>
        <p:spPr>
          <a:xfrm>
            <a:off x="476250" y="2857500"/>
            <a:ext cx="63341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固定初态下的确定性百米用时</a:t>
            </a:r>
            <a:endParaRPr sz="2100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Chart"/>
          <p:cNvGraphicFramePr/>
          <p:nvPr/>
        </p:nvGraphicFramePr>
        <p:xfrm>
          <a:off x="400050" y="3467100"/>
          <a:ext cx="6410325" cy="232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content-9"/>
          <p:cNvSpPr>
            <a:spLocks noGrp="1"/>
          </p:cNvSpPr>
          <p:nvPr/>
        </p:nvSpPr>
        <p:spPr>
          <a:xfrm>
            <a:off x="7429500" y="3171825"/>
            <a:ext cx="41148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650" b="1">
                <a:solidFill>
                  <a:srgbClr val="1179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4650" b="1">
                <a:solidFill>
                  <a:srgbClr val="1179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0" b="1">
                <a:solidFill>
                  <a:srgbClr val="1179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33.033 秒</a:t>
            </a:r>
            <a:endParaRPr sz="4650" b="1">
              <a:solidFill>
                <a:srgbClr val="1179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ontent-10"/>
          <p:cNvSpPr>
            <a:spLocks noGrp="1"/>
          </p:cNvSpPr>
          <p:nvPr/>
        </p:nvSpPr>
        <p:spPr>
          <a:xfrm>
            <a:off x="7467600" y="4181475"/>
            <a:ext cx="4048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 轮行为克隆后完成百米</a:t>
            </a:r>
            <a:endParaRPr sz="1875" b="0">
              <a:solidFill>
                <a:srgbClr val="1D2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content-11"/>
          <p:cNvSpPr>
            <a:spLocks noGrp="1"/>
          </p:cNvSpPr>
          <p:nvPr/>
        </p:nvSpPr>
        <p:spPr>
          <a:xfrm>
            <a:off x="7467600" y="4762500"/>
            <a:ext cx="404812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D2A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固定初态确定性复测：16 / 16 成功</a:t>
            </a:r>
            <a:endParaRPr sz="1800" b="0">
              <a:solidFill>
                <a:srgbClr val="1D2A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ontent-12"/>
          <p:cNvSpPr>
            <a:spLocks noGrp="1"/>
          </p:cNvSpPr>
          <p:nvPr/>
        </p:nvSpPr>
        <p:spPr>
          <a:xfrm>
            <a:off x="476250" y="5838825"/>
            <a:ext cx="6486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867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自主优化含 PPO 后的局部参数搜索</a:t>
            </a:r>
            <a:endParaRPr sz="1425" b="0">
              <a:solidFill>
                <a:srgbClr val="5867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ontent-13"/>
          <p:cNvSpPr>
            <a:spLocks noGrp="1"/>
          </p:cNvSpPr>
          <p:nvPr/>
        </p:nvSpPr>
        <p:spPr>
          <a:xfrm>
            <a:off x="476250" y="6296025"/>
            <a:ext cx="1119187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64A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公开专家示范的本地复现，后续 PPO 微调尚未突破该时间</a:t>
            </a:r>
            <a:endParaRPr sz="1800" b="1">
              <a:solidFill>
                <a:srgbClr val="064A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</Words>
  <Application>WPS 演示</Application>
  <PresentationFormat>Converted Presentation</PresentationFormat>
  <Paragraphs>131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等线</vt:lpstr>
      <vt:lpstr>Arial Unicode MS</vt:lpstr>
      <vt:lpstr>等线 Light</vt:lpstr>
      <vt:lpstr>Office 主题​​</vt:lpstr>
      <vt:lpstr>QWOP 游戏简介与研究任务</vt:lpstr>
      <vt:lpstr>开源项目提供的训练基础</vt:lpstr>
      <vt:lpstr>PPO 强化学习训练流程</vt:lpstr>
      <vt:lpstr>自主训练与策略优化结果</vt:lpstr>
      <vt:lpstr>专家模仿的实现与结果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QWOP 游戏简介与研究任务</dc:title>
  <dc:creator>Walnut Exporter</dc:creator>
  <cp:lastModifiedBy>赵彦隆</cp:lastModifiedBy>
  <cp:revision>1</cp:revision>
  <dcterms:created xsi:type="dcterms:W3CDTF">2026-10-15T15:37:13Z</dcterms:created>
  <dcterms:modified xsi:type="dcterms:W3CDTF">2026-10-15T15:37:13Z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B3F86E23FF1947609BED0DAD4573E62B_12</vt:lpwstr>
  </property>
</Properties>
</file>