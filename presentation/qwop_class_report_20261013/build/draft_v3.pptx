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79d1695ae4ff2" /><Relationship Type="http://schemas.openxmlformats.org/officeDocument/2006/relationships/extended-properties" Target="/docProps/app.xml" Id="R11eed9f509ba48db" /><Relationship Type="http://schemas.openxmlformats.org/officeDocument/2006/relationships/officeDocument" Target="/ppt/presentation.xml" Id="R13f69a54e49649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2bee2013a4c73"/>
  </p:sldMasterIdLst>
  <p:notesMasterIdLst>
    <p:notesMasterId xmlns:r="http://schemas.openxmlformats.org/officeDocument/2006/relationships" r:id="Rf4f59814fca44fb2"/>
  </p:notesMasterIdLst>
  <p:sldIdLst>
    <p:sldId xmlns:r="http://schemas.openxmlformats.org/officeDocument/2006/relationships" id="256" r:id="R8a4d722dfce84088"/>
    <p:sldId xmlns:r="http://schemas.openxmlformats.org/officeDocument/2006/relationships" id="257" r:id="Re0849b8acacc4454"/>
    <p:sldId xmlns:r="http://schemas.openxmlformats.org/officeDocument/2006/relationships" id="258" r:id="R56ef6153f9234de6"/>
    <p:sldId xmlns:r="http://schemas.openxmlformats.org/officeDocument/2006/relationships" id="259" r:id="Rc2cdaabb484c4576"/>
    <p:sldId xmlns:r="http://schemas.openxmlformats.org/officeDocument/2006/relationships" id="260" r:id="Ra9a3898132c94590"/>
    <p:sldId xmlns:r="http://schemas.openxmlformats.org/officeDocument/2006/relationships" id="261" r:id="R5d2d5be94cbc424a"/>
    <p:sldId xmlns:r="http://schemas.openxmlformats.org/officeDocument/2006/relationships" id="262" r:id="Ra2e5b8028bdc4c77"/>
    <p:sldId xmlns:r="http://schemas.openxmlformats.org/officeDocument/2006/relationships" id="263" r:id="Rfc42f97bf4e444cf"/>
    <p:sldId xmlns:r="http://schemas.openxmlformats.org/officeDocument/2006/relationships" id="264" r:id="R30aa4f5a2c6e4fdf"/>
    <p:sldId xmlns:r="http://schemas.openxmlformats.org/officeDocument/2006/relationships" id="265" r:id="Raea230634ec94e87"/>
    <p:sldId xmlns:r="http://schemas.openxmlformats.org/officeDocument/2006/relationships" id="266" r:id="R11cd89a36bf04c5b"/>
    <p:sldId xmlns:r="http://schemas.openxmlformats.org/officeDocument/2006/relationships" id="267" r:id="Rab7f1044918945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ae2cc6f024b46" /><Relationship Type="http://schemas.openxmlformats.org/officeDocument/2006/relationships/slideMaster" Target="/ppt/slideMasters/slideMaster1.xml" Id="R0fd2bee2013a4c73" /><Relationship Type="http://schemas.openxmlformats.org/officeDocument/2006/relationships/notesMaster" Target="/ppt/notesMasters/notesMaster1.xml" Id="Rf4f59814fca44fb2" /><Relationship Type="http://schemas.openxmlformats.org/officeDocument/2006/relationships/presProps" Target="/ppt/presProps.xml" Id="R6e4c079df0c641ee" /><Relationship Type="http://schemas.openxmlformats.org/officeDocument/2006/relationships/tableStyles" Target="/ppt/tableStyles.xml" Id="Re683344b9e954116" /><Relationship Type="http://schemas.openxmlformats.org/officeDocument/2006/relationships/slide" Target="/ppt/slides/slide1.xml" Id="R8a4d722dfce84088" /><Relationship Type="http://schemas.openxmlformats.org/officeDocument/2006/relationships/slide" Target="/ppt/slides/slide2.xml" Id="Re0849b8acacc4454" /><Relationship Type="http://schemas.openxmlformats.org/officeDocument/2006/relationships/slide" Target="/ppt/slides/slide3.xml" Id="R56ef6153f9234de6" /><Relationship Type="http://schemas.openxmlformats.org/officeDocument/2006/relationships/slide" Target="/ppt/slides/slide4.xml" Id="Rc2cdaabb484c4576" /><Relationship Type="http://schemas.openxmlformats.org/officeDocument/2006/relationships/slide" Target="/ppt/slides/slide5.xml" Id="Ra9a3898132c94590" /><Relationship Type="http://schemas.openxmlformats.org/officeDocument/2006/relationships/slide" Target="/ppt/slides/slide6.xml" Id="R5d2d5be94cbc424a" /><Relationship Type="http://schemas.openxmlformats.org/officeDocument/2006/relationships/slide" Target="/ppt/slides/slide7.xml" Id="Ra2e5b8028bdc4c77" /><Relationship Type="http://schemas.openxmlformats.org/officeDocument/2006/relationships/slide" Target="/ppt/slides/slide8.xml" Id="Rfc42f97bf4e444cf" /><Relationship Type="http://schemas.openxmlformats.org/officeDocument/2006/relationships/slide" Target="/ppt/slides/slide9.xml" Id="R30aa4f5a2c6e4fdf" /><Relationship Type="http://schemas.openxmlformats.org/officeDocument/2006/relationships/slide" Target="/ppt/slides/slide10.xml" Id="Raea230634ec94e87" /><Relationship Type="http://schemas.openxmlformats.org/officeDocument/2006/relationships/slide" Target="/ppt/slides/slide11.xml" Id="R11cd89a36bf04c5b" /><Relationship Type="http://schemas.openxmlformats.org/officeDocument/2006/relationships/slide" Target="/ppt/slides/slide12.xml" Id="Rab7f10449189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be0c2590b47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9797a6a634ff9" /><Relationship Type="http://schemas.openxmlformats.org/officeDocument/2006/relationships/notesMaster" Target="/ppt/notesMasters/notesMaster1.xml" Id="Re31693ee3a93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a5f2e915db415c" /><Relationship Type="http://schemas.openxmlformats.org/officeDocument/2006/relationships/notesMaster" Target="/ppt/notesMasters/notesMaster1.xml" Id="R9e3068af04ae4d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e23027c39e4666" /><Relationship Type="http://schemas.openxmlformats.org/officeDocument/2006/relationships/notesMaster" Target="/ppt/notesMasters/notesMaster1.xml" Id="R38bd9ffc62f546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7d96dab7a64e9d" /><Relationship Type="http://schemas.openxmlformats.org/officeDocument/2006/relationships/notesMaster" Target="/ppt/notesMasters/notesMaster1.xml" Id="Re228ed39fe114c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eb123d865f4aff" /><Relationship Type="http://schemas.openxmlformats.org/officeDocument/2006/relationships/notesMaster" Target="/ppt/notesMasters/notesMaster1.xml" Id="R52851f8080e246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93dce8b2834a19" /><Relationship Type="http://schemas.openxmlformats.org/officeDocument/2006/relationships/notesMaster" Target="/ppt/notesMasters/notesMaster1.xml" Id="R41092dcf441b48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a56873eb69439d" /><Relationship Type="http://schemas.openxmlformats.org/officeDocument/2006/relationships/notesMaster" Target="/ppt/notesMasters/notesMaster1.xml" Id="R1bbe6bfd5dd84e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78755b2e0408b" /><Relationship Type="http://schemas.openxmlformats.org/officeDocument/2006/relationships/notesMaster" Target="/ppt/notesMasters/notesMaster1.xml" Id="R6a660cc820af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43baa428614b49" /><Relationship Type="http://schemas.openxmlformats.org/officeDocument/2006/relationships/notesMaster" Target="/ppt/notesMasters/notesMaster1.xml" Id="R5f4d42599d3047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05e58cc50468c" /><Relationship Type="http://schemas.openxmlformats.org/officeDocument/2006/relationships/notesMaster" Target="/ppt/notesMasters/notesMaster1.xml" Id="Re29d18f25bf14d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35f6d79dc04513" /><Relationship Type="http://schemas.openxmlformats.org/officeDocument/2006/relationships/notesMaster" Target="/ppt/notesMasters/notesMaster1.xml" Id="R117dc41c51d248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e4a79f36f44194" /><Relationship Type="http://schemas.openxmlformats.org/officeDocument/2006/relationships/notesMaster" Target="/ppt/notesMasters/notesMaster1.xml" Id="R7f926c8936ad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好，我汇报的题目是基于深度强化学习的QWOP运动控制与策略优化研究。项目从开源训练框架出发，围绕百米跑步和跳远，依次尝试奖励优化、探索和示范学习。我重点介绍方法、实验结果，以及哪些提升已经验证、哪些问题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</a:t>
            </a:r>
          </a:p>
          <a:p xmlns:a="http://schemas.openxmlformats.org/drawingml/2006/main">
            <a:r>
              <a:t>https://github.com/LYiHub/QWOP_rl_training_public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OP用四个按键控制腿部运动，动作需要连续协调，错误容易导致摔倒。模型读取身体位置、角度、速度和脚接触等状态，而不是读取游戏画面，输出四个按键的组合。百米模式还有50米处的障碍，120秒上限，所以并非全程平跑。跳远包括30米助跑、起跳和落地，原生有效通关还要求走出沙坑。评价百米看正式完赛用时，评价跳远看最终落点距离，同时统计成功率。右边是原版游戏的示意图，不代表本项目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第3节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https://s3.amazonaws.com/tci-assets/uploads/bennett-pic.jpg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入口是train_ppo.py。每轮先根据配置创建并行环境，归一化观测并堆叠历史，Actor根据这些状态采样动作。Python封装通过pybind11调用C++环境，再调用物理DLL执行按键并读回状态、奖励与终止标志。我们把本轮交互存入rollout，计算优势，再按小批量更新Actor和Critic。更新后保存权重、优化器、配置和计数，独立执行模型评测，并导出动作回放。项目保留原有PPO、日志和保存架构，改进主要集中在奖励、观测处理和局部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E:/Work/强化学习小项目/QWOP_rl_training_public/scripts/running_env.py</a:t>
            </a:r>
          </a:p>
          <a:p xmlns:a="http://schemas.openxmlformats.org/drawingml/2006/main">
            <a:r>
              <a:t>E:/Work/强化学习小项目/QWOP_rl_training_public/src/python_module.cpp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自行实现离散动作PPO，没有调用SAC或TD3。Actor输出按键概率，Critic预测未来回报。GAE结合当前奖励、下一状态价值和多步反馈，估计这个动作相对于预期好多少。PPO用新旧策略的概率比更新动作分布，裁剪机制会限制过度改变策略，减少一次更新破坏已有步态的风险。训练还使用熵奖励、Adam和梯度裁剪。本项目使用on-policy rollout，每轮采集新数据，不使用长期经验回放池。网络从128乘128的Tanh层扩展到256乘256，后期尝试独立Critic和32帧历史，也就是2176维输入。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完成Windows环境构建，确认观测和动作形状、reset、数值有限性，以及checkpoint保存和加载。原奖励续训约1049万条转移后，64次随机运行没有通关，平均前进35.59米。回放还暴露出低姿态前进的问题，原输入尺度使Tanh大量饱和。我们增加固定缩放、历史帧，使用躯干高度代理和脚支撑进度来减少持续低姿态。v3达到38次随机通关，确定性75.27秒。右图是这一轮自己的真实回合回报曲线，不能与更换奖励后的数值直接比较。后端没有膝盖碰撞标志，所以只能声称改善低姿态代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E:/Work/强化学习小项目/verification/baseline_report.md</a:t>
            </a:r>
          </a:p>
          <a:p xmlns:a="http://schemas.openxmlformats.org/drawingml/2006/main">
            <a:r>
              <a:t>E:/Work/强化学习小项目/verification/classic_training_report.md</a:t>
            </a:r>
          </a:p>
          <a:p xmlns:a="http://schemas.openxmlformats.org/drawingml/2006/main">
            <a:r>
              <a:t>E:/Work/强化学习小项目/verification/foot_running_training_report.md</a:t>
            </a:r>
          </a:p>
          <a:p xmlns:a="http://schemas.openxmlformats.org/drawingml/2006/main">
            <a:r>
              <a:t>E:/Work/强化学习小项目/verification/project_report/events_data.json：ppo_foot_running_v3/charts/episode_return_mean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加入姿态、近期速度、低速处罚和更早完赛反馈，并增加历史帧，让模型更容易识别运动阶段。纯PPO的已验证候选从75.27秒，改善到65.63秒、50.17秒，后期最好45.40秒。部分阶段还对Actor偏置做小幅参数搜索，保留49.97秒、44.97秒，最终44.93秒。搜索改变了网络权重，所以这些成绩必须与未经搜索的PPO快照区分。我们还尝试起步反馈、越栏恢复、独立Critic和较长信用分配，但没有完成43秒目标。这说明继续堆奖励项或训练步数，不一定能解决策略的局部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E:/Work/强化学习小项目/verification/forward_lean_training_report.md</a:t>
            </a:r>
          </a:p>
          <a:p xmlns:a="http://schemas.openxmlformats.org/drawingml/2006/main">
            <a:r>
              <a:t>E:/Work/强化学习小项目/QWOP_rl_training_public/docs/under50-training.md</a:t>
            </a:r>
          </a:p>
          <a:p xmlns:a="http://schemas.openxmlformats.org/drawingml/2006/main">
            <a:r>
              <a:t>E:/Work/强化学习小项目/QWOP_rl_training_public/docs/under45-training.md</a:t>
            </a:r>
          </a:p>
          <a:p xmlns:a="http://schemas.openxmlformats.org/drawingml/2006/main">
            <a:r>
              <a:t>E:/Work/强化学习小项目/QWOP_rl_training_public/docs/bottleneck-followup-training.md</a:t>
            </a:r>
          </a:p>
          <a:p xmlns:a="http://schemas.openxmlformats.org/drawingml/2006/main">
            <a:r>
              <a:t>E:/Work/强化学习小项目/verification/project_report/report_front.md 第6.7节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帧诊断发现，44.97秒策略约6.9秒才到10米，50米障碍附近又有腾空和落地恢复损失。但更根本的问题来自奖励审计。将33.03秒专家轨迹和44.93秒旧策略在原生环境重放，旧奖励给慢策略1877分，却只给快示范1451分。专家大量动作不符合旧姿态门槛，使快轨迹错失额外奖励。改成正式成功与用时导向奖励后，快轨迹获得更高分。这个结果直接指出旧规则对这两条轨迹的目标冲突，也提醒我们，5度前倾、步频更高、上下更平稳，都应作为假设验证。两条轨迹不足以证明新奖励在所有状态下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E:/Work/强化学习小项目/verification/bottleneck_baseline_comparison.json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E:/Work/强化学习小项目/QWOP_rl_training_public/src/reward_profiles.cpp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D固定一个随机目标网络，训练预测器模仿它，预测误差越大表示状态相对新颖，并提供内在奖励。本次对照从同一个44.93秒Actor开始，两组各采集约1678万条转移。关闭RND时随机成功57次，开启后61次，成功平均用时也略有改善。但最好确定性保存点从46.80秒变成47.23秒，都没有超过原模型。因此，这次看到的是部分稳定性指标改善，不能把RND写成已经证明的提速方法。实验只有一个训练种子，仍需多种子和相同随机评测集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E:/Work/强化学习小项目/QWOP_rl_training_public/docs/task-reward-rnd-experiment.md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https://arxiv.org/abs/1810.12894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探索速度受限后，我们使用网站公开冠军XYF的影子动作作为示范。先在原生环境执行这991帧动作，构建状态动作样本，再复用原Actor进行交叉熵训练。测试时网络读取当前观测自行选动作，没有按时间播放专家动作列表。epoch900的分类准确率已经99.899%，闭环仍在52米失败，epoch1000准确率100%后才复现33.03秒。这说明序列控制中很小的动作偏差也会累积。固定初始状态下16次都完成，但按原始概率随机采样的64次全部失败。降低采样温度筛出的33.13和33.17秒是不同真实回放，权重没变，也没有突破示范速度。我们需要训练偏离轨迹后的纠错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E:/Work/强化学习小项目/QWOP_rl_training_public/scripts/train_replay_imitation.py</a:t>
            </a:r>
          </a:p>
          <a:p xmlns:a="http://schemas.openxmlformats.org/drawingml/2006/main">
            <a:r>
              <a:t>E:/Work/强化学习小项目/verification/shadow_audit/imitation_pilot.json</a:t>
            </a:r>
          </a:p>
          <a:p xmlns:a="http://schemas.openxmlformats.org/drawingml/2006/main">
            <a:r>
              <a:t>E:/Work/强化学习小项目/verification/project_report/report_front.md 第6.10节</a:t>
            </a:r>
          </a:p>
          <a:p xmlns:a="http://schemas.openxmlformats.org/drawingml/2006/main">
            <a:r>
              <a:t>https://run.lyihub.com/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进一步把33秒跑步策略迁移到跳远。直接加载时很快摔倒，原因是百米和跳远虽然都为68维，但位置字段的原点和语义不同。通过第一层偏置校准输入原点后，前25米334帧动作和身体状态与百米一致。随后冻结助跑Actor和表征，只在起跳线附近训练动作调整层，同时使用独立Critic，继续沿用作者的跳远奖励。三轮训练后的确定性最好2.588米，2048次随机运行中最好3.161米，有1663次通关。独立64次评测51次成功，成功平均1.507米。最佳回放高于以前的2.802米，但两次搜索规模不同，确定性成绩仍未超过旧2.599米，稳定起跳还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E:/Work/强化学习小项目/QWOP_rl_training_public/docs/long-jump-training.md</a:t>
            </a:r>
          </a:p>
          <a:p xmlns:a="http://schemas.openxmlformats.org/drawingml/2006/main">
            <a:r>
              <a:t>E:/Work/强化学习小项目/QWOP_rl_training_public/docs/long-jump-shadow-transfer.md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总结果时，需要按方法来源分开。纯PPO最好已验证45.40秒，加入Actor偏置搜索得到44.93秒。33.03秒是本地模型模仿公开外部专家的成果，不能说成自主PPO探索出冠军策略。跳远迁移的随机最佳提高到3.16米，但确定性没有超过旧结果。训练奖励、原生正式成绩、成功率和成功回合均值也需要分别报告。这里的固定初态确定性复跑验证了保存、加载和执行的一致性，没有验证不同初始姿态下的泛化。项目已经形成可加载模型、日志和回放的完整产物，下一步应把重点转向稳定控制与可重复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第1、7、8节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首先建立统一评测协议，固定随机种子和测试条件，报告成功率、成功均值、分位数和最佳值，再加入初始状态扰动与多训练种子。策略方面，可以在行为克隆约束下小步PPO微调，通过受控扰动收集偏离轨迹后的状态，逐步训练纠错，防止破坏已学助跑。跳远继续按正式落点和有效通关选模，集中优化起跳时机。这些都是计划，尚未作为新结果验证。本项目的主要收获是跑通并保留训练架构，用真实回放发现奖励冲突，并验证了示范学习和跨任务迁移的价值与局限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第9节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c4330ebf146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7e3fa26fd4a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3553b7ba644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e28844aa644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91632bf1447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72e3770d5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C3572D-8071-4145-BBA9-7F3A165FF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E5749E-BF0F-4D7A-9D1E-FA38DC30C9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FB5ACC-1FDB-4CEE-8189-268EF50D3C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5800AF-9244-4092-8633-718A57DE8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98690C-C01A-4D75-B278-C8091D435F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8686E1-0962-4816-8FB4-3DB24F1FD7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4B7D0A-40FA-4BE9-ACD9-7B45DA2E5D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530C36-B9DD-4B21-84B1-F9BAA2A870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DC014-2FF3-4D3E-825C-83587023D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052738-1485-4907-AD15-63D77E9693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961620a064f52" /><Relationship Type="http://schemas.openxmlformats.org/officeDocument/2006/relationships/slideLayout" Target="/ppt/slideLayouts/slideLayout1.xml" Id="R9bc006834f7144c5" /><Relationship Type="http://schemas.openxmlformats.org/officeDocument/2006/relationships/slideLayout" Target="/ppt/slideLayouts/slideLayout2.xml" Id="Reb12371bd50343be" /><Relationship Type="http://schemas.openxmlformats.org/officeDocument/2006/relationships/slideLayout" Target="/ppt/slideLayouts/slideLayout3.xml" Id="R2ba0e002a09a4c2f" /><Relationship Type="http://schemas.openxmlformats.org/officeDocument/2006/relationships/slideLayout" Target="/ppt/slideLayouts/slideLayout4.xml" Id="R2b5aabaa6f6c4875" /><Relationship Type="http://schemas.openxmlformats.org/officeDocument/2006/relationships/slideLayout" Target="/ppt/slideLayouts/slideLayout5.xml" Id="R4d936df743ff4293" /><Relationship Type="http://schemas.openxmlformats.org/officeDocument/2006/relationships/slideLayout" Target="/ppt/slideLayouts/slideLayout6.xml" Id="R3ac190cd2d6f4c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006834f7144c5"/>
    <p:sldLayoutId xmlns:r="http://schemas.openxmlformats.org/officeDocument/2006/relationships" id="2147483650" r:id="Reb12371bd50343be"/>
    <p:sldLayoutId xmlns:r="http://schemas.openxmlformats.org/officeDocument/2006/relationships" id="2147483651" r:id="R2ba0e002a09a4c2f"/>
    <p:sldLayoutId xmlns:r="http://schemas.openxmlformats.org/officeDocument/2006/relationships" id="2147483652" r:id="R2b5aabaa6f6c4875"/>
    <p:sldLayoutId xmlns:r="http://schemas.openxmlformats.org/officeDocument/2006/relationships" id="2147483653" r:id="R4d936df743ff4293"/>
    <p:sldLayoutId xmlns:r="http://schemas.openxmlformats.org/officeDocument/2006/relationships" id="2147483654" r:id="R3ac190cd2d6f4c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c8e44ed69e46cf" /><Relationship Type="http://schemas.openxmlformats.org/officeDocument/2006/relationships/notesSlide" Target="/ppt/notesSlides/notesSlide1.xml" Id="Rb6cd10918b924a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5d486a5eb4be1" /><Relationship Type="http://schemas.openxmlformats.org/officeDocument/2006/relationships/image" Target="/ppt/media/image.jpeg" Id="R83c021e432444487" /><Relationship Type="http://schemas.openxmlformats.org/officeDocument/2006/relationships/notesSlide" Target="/ppt/notesSlides/notesSlide2.xml" Id="Rff5c1306024640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fd95e7d42446f" /><Relationship Type="http://schemas.openxmlformats.org/officeDocument/2006/relationships/notesSlide" Target="/ppt/notesSlides/notesSlide3.xml" Id="Ra51ec37895a34c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d44270b8f4b76" /><Relationship Type="http://schemas.openxmlformats.org/officeDocument/2006/relationships/notesSlide" Target="/ppt/notesSlides/notesSlide4.xml" Id="R95b640c6a8ef47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4b848e158428e" /><Relationship Type="http://schemas.openxmlformats.org/officeDocument/2006/relationships/chart" Target="/ppt/slides/charts/chart1.xml" Id="Rc79b40203e7a428a" /><Relationship Type="http://schemas.openxmlformats.org/officeDocument/2006/relationships/notesSlide" Target="/ppt/notesSlides/notesSlide5.xml" Id="R5628a2ee465241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5f8aa799aa416e" /><Relationship Type="http://schemas.openxmlformats.org/officeDocument/2006/relationships/chart" Target="/ppt/slides/charts/chart2.xml" Id="R3218a647f2294f9b" /><Relationship Type="http://schemas.openxmlformats.org/officeDocument/2006/relationships/notesSlide" Target="/ppt/notesSlides/notesSlide6.xml" Id="R3f7b1f267e044c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dd0e248a247ae" /><Relationship Type="http://schemas.openxmlformats.org/officeDocument/2006/relationships/chart" Target="/ppt/slides/charts/chart3.xml" Id="R9b8794a6cfc7496e" /><Relationship Type="http://schemas.openxmlformats.org/officeDocument/2006/relationships/chart" Target="/ppt/slides/charts/chart4.xml" Id="R72633ce57fbe493c" /><Relationship Type="http://schemas.openxmlformats.org/officeDocument/2006/relationships/notesSlide" Target="/ppt/notesSlides/notesSlide7.xml" Id="R9bae7fc6b9cd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f766fc1fd4f72" /><Relationship Type="http://schemas.openxmlformats.org/officeDocument/2006/relationships/notesSlide" Target="/ppt/notesSlides/notesSlide8.xml" Id="Rbd2856e6759145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608d4eb554a0f" /><Relationship Type="http://schemas.openxmlformats.org/officeDocument/2006/relationships/notesSlide" Target="/ppt/notesSlides/notesSlide9.xml" Id="R95f5e9074f514f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b1b065abd48b3" /><Relationship Type="http://schemas.openxmlformats.org/officeDocument/2006/relationships/notesSlide" Target="/ppt/notesSlides/notesSlide10.xml" Id="R0056e78a5d1341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4b4baa8bf44fd" /><Relationship Type="http://schemas.openxmlformats.org/officeDocument/2006/relationships/notesSlide" Target="/ppt/notesSlides/notesSlide11.xml" Id="R4f08191c94524f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66998fd4a4850" /><Relationship Type="http://schemas.openxmlformats.org/officeDocument/2006/relationships/notesSlide" Target="/ppt/notesSlides/notesSlide12.xml" Id="Rb0858395025c4c43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20点滚动均值</c:v>
          </c:tx>
          <c:spPr>
            <a:ln xmlns:a="http://schemas.openxmlformats.org/drawingml/2006/main" w="28575">
              <a:solidFill>
                <a:srgbClr val="078578"/>
              </a:solidFill>
            </a:ln>
          </c:spPr>
          <c:marker>
            <c:symbol val="none"/>
          </c:marker>
          <c:xVal>
            <c:numLit>
              <c:formatCode>General</c:formatCode>
              <c:ptCount val="31"/>
              <c:pt idx="0">
                <c:v>1</c:v>
              </c:pt>
              <c:pt idx="1">
                <c:v>29</c:v>
              </c:pt>
              <c:pt idx="2">
                <c:v>53</c:v>
              </c:pt>
              <c:pt idx="3">
                <c:v>75</c:v>
              </c:pt>
              <c:pt idx="4">
                <c:v>95</c:v>
              </c:pt>
              <c:pt idx="5">
                <c:v>115</c:v>
              </c:pt>
              <c:pt idx="6">
                <c:v>132</c:v>
              </c:pt>
              <c:pt idx="7">
                <c:v>148</c:v>
              </c:pt>
              <c:pt idx="8">
                <c:v>164</c:v>
              </c:pt>
              <c:pt idx="9">
                <c:v>180</c:v>
              </c:pt>
              <c:pt idx="10">
                <c:v>196</c:v>
              </c:pt>
              <c:pt idx="11">
                <c:v>212</c:v>
              </c:pt>
              <c:pt idx="12">
                <c:v>228</c:v>
              </c:pt>
              <c:pt idx="13">
                <c:v>244</c:v>
              </c:pt>
              <c:pt idx="14">
                <c:v>260</c:v>
              </c:pt>
              <c:pt idx="15">
                <c:v>276</c:v>
              </c:pt>
              <c:pt idx="16">
                <c:v>292</c:v>
              </c:pt>
              <c:pt idx="17">
                <c:v>308</c:v>
              </c:pt>
              <c:pt idx="18">
                <c:v>324</c:v>
              </c:pt>
              <c:pt idx="19">
                <c:v>340</c:v>
              </c:pt>
              <c:pt idx="20">
                <c:v>356</c:v>
              </c:pt>
              <c:pt idx="21">
                <c:v>372</c:v>
              </c:pt>
              <c:pt idx="22">
                <c:v>388</c:v>
              </c:pt>
              <c:pt idx="23">
                <c:v>404</c:v>
              </c:pt>
              <c:pt idx="24">
                <c:v>420</c:v>
              </c:pt>
              <c:pt idx="25">
                <c:v>436</c:v>
              </c:pt>
              <c:pt idx="26">
                <c:v>452</c:v>
              </c:pt>
              <c:pt idx="27">
                <c:v>468</c:v>
              </c:pt>
              <c:pt idx="28">
                <c:v>484</c:v>
              </c:pt>
              <c:pt idx="29">
                <c:v>500</c:v>
              </c:pt>
              <c:pt idx="30">
                <c:v>512</c:v>
              </c:pt>
            </c:numLit>
          </c:xVal>
          <c:yVal>
            <c:numLit>
              <c:formatCode>General</c:formatCode>
              <c:ptCount val="31"/>
              <c:pt idx="0">
                <c:v>-9.695274</c:v>
              </c:pt>
              <c:pt idx="1">
                <c:v>-21.875286</c:v>
              </c:pt>
              <c:pt idx="2">
                <c:v>-36.214269</c:v>
              </c:pt>
              <c:pt idx="3">
                <c:v>-40.187376</c:v>
              </c:pt>
              <c:pt idx="4">
                <c:v>-45.733682</c:v>
              </c:pt>
              <c:pt idx="5">
                <c:v>-45.529882</c:v>
              </c:pt>
              <c:pt idx="6">
                <c:v>-46.180762</c:v>
              </c:pt>
              <c:pt idx="7">
                <c:v>-45.758357</c:v>
              </c:pt>
              <c:pt idx="8">
                <c:v>-52.054057</c:v>
              </c:pt>
              <c:pt idx="9">
                <c:v>-51.22803</c:v>
              </c:pt>
              <c:pt idx="10">
                <c:v>-50.068916</c:v>
              </c:pt>
              <c:pt idx="11">
                <c:v>-39.284856</c:v>
              </c:pt>
              <c:pt idx="12">
                <c:v>-32.483026</c:v>
              </c:pt>
              <c:pt idx="13">
                <c:v>-24.145295</c:v>
              </c:pt>
              <c:pt idx="14">
                <c:v>-18.459542</c:v>
              </c:pt>
              <c:pt idx="15">
                <c:v>-13.29619</c:v>
              </c:pt>
              <c:pt idx="16">
                <c:v>-6.712887</c:v>
              </c:pt>
              <c:pt idx="17">
                <c:v>-0.736854</c:v>
              </c:pt>
              <c:pt idx="18">
                <c:v>5.783727</c:v>
              </c:pt>
              <c:pt idx="19">
                <c:v>9.085267</c:v>
              </c:pt>
              <c:pt idx="20">
                <c:v>11.104045</c:v>
              </c:pt>
              <c:pt idx="21">
                <c:v>21.708608</c:v>
              </c:pt>
              <c:pt idx="22">
                <c:v>59.273752</c:v>
              </c:pt>
              <c:pt idx="23">
                <c:v>92.058312</c:v>
              </c:pt>
              <c:pt idx="24">
                <c:v>119.338353</c:v>
              </c:pt>
              <c:pt idx="25">
                <c:v>128.566722</c:v>
              </c:pt>
              <c:pt idx="26">
                <c:v>135.245484</c:v>
              </c:pt>
              <c:pt idx="27">
                <c:v>135.681198</c:v>
              </c:pt>
              <c:pt idx="28">
                <c:v>134.833582</c:v>
              </c:pt>
              <c:pt idx="29">
                <c:v>138.191203</c:v>
              </c:pt>
              <c:pt idx="30">
                <c:v>142.410228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00"/>
        <c:majorUnit val="100"/>
      </c:valAx>
      <c:valAx>
        <c:axId val="48650112"/>
        <c:scaling>
          <c:orientation val="minMax"/>
          <c:max val="5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56578"/>
                    </a:solidFill>
                    <a:latin typeface="Microsoft YaHei"/>
                    <a:ea typeface="Microsoft YaHei"/>
                    <a:cs typeface="Microsoft YaHei"/>
                  </a:rPr>
                  <a:t>训练更新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565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8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原生百米用时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Lit>
              <c:ptCount val="4"/>
              <c:pt idx="0">
                <c:v>低姿态优化</c:v>
              </c:pt>
              <c:pt idx="1">
                <c:v>姿态与速度</c:v>
              </c:pt>
              <c:pt idx="2">
                <c:v>50秒阶段</c:v>
              </c:pt>
              <c:pt idx="3">
                <c:v>起步与探索</c:v>
              </c:pt>
            </c:strLit>
          </c:cat>
          <c:val>
            <c:numLit>
              <c:formatCode>General</c:formatCode>
              <c:ptCount val="4"/>
              <c:pt idx="0">
                <c:v>75.27</c:v>
              </c:pt>
              <c:pt idx="1">
                <c:v>65.63</c:v>
              </c:pt>
              <c:pt idx="2">
                <c:v>50.17</c:v>
              </c:pt>
              <c:pt idx="3">
                <c:v>45.4</c:v>
              </c:pt>
            </c:numLit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Lit>
              <c:ptCount val="2"/>
              <c:pt idx="0">
                <c:v>33.03秒示范</c:v>
              </c:pt>
              <c:pt idx="1">
                <c:v>44.93秒策略</c:v>
              </c:pt>
            </c:strLit>
          </c:cat>
          <c:val>
            <c:numLit>
              <c:formatCode>General</c:formatCode>
              <c:ptCount val="2"/>
              <c:pt idx="0">
                <c:v>1450.95</c:v>
              </c:pt>
              <c:pt idx="1">
                <c:v>1877.42</c:v>
              </c:pt>
            </c:numLit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Lit>
              <c:ptCount val="2"/>
              <c:pt idx="0">
                <c:v>33.03秒示范</c:v>
              </c:pt>
              <c:pt idx="1">
                <c:v>44.93秒策略</c:v>
              </c:pt>
            </c:strLit>
          </c:cat>
          <c:val>
            <c:numLit>
              <c:formatCode>General</c:formatCode>
              <c:ptCount val="2"/>
              <c:pt idx="0">
                <c:v>2300.67</c:v>
              </c:pt>
              <c:pt idx="1">
                <c:v>2055.8</c:v>
              </c:pt>
            </c:numLit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C9099D-C67F-403B-8306-DD4D8C8C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308BE2A-E5A1-4671-9387-3D3C552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基于深度强化学习的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724C5B6-B0D6-485A-B127-126E5F17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QWOP 运动控制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FDDC9DC-1E62-4504-9564-D3DF4C2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与策略优化研究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921E04A-EFD3-49D5-8E78-8F5C8F6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百米提速与跳远迁移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6BD30D6-F058-4D6E-8481-DE6511DB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Lionel_Zhao  ·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586259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C7242E-A89A-4A9F-A7B2-E9DC0989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研究任务：从按键到稳定运动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D383C7-FF48-411C-8E44-BBD92C6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A491BD9-7059-4139-AD13-BD29CB3D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60A1250-EE4D-4A3A-AB6B-F5DBDD4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观测：68维身体与任务状态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B5AED80-9754-406F-AAC4-BD2ED782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F2E2384-8FA9-45EA-84D6-A3BD4FA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动作：四键组合，共16类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0693800-FA6D-4019-8B40-4AFC15CE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79915E2-05A8-4507-A84B-CB9EA45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百米：成功完赛，用时越少越好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FBB0F62-CDF9-4089-92A1-33919647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5BD30187-6786-4A01-8D1B-107CF39A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跳远：有效落点，距离越大越好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D1C3E-361C-4379-B105-9B3CB0C55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21e432444487"/>
          <a:stretch xmlns:a="http://schemas.openxmlformats.org/drawingml/2006/main"/>
        </p:blipFill>
        <p:spPr>
          <a:xfrm xmlns:a="http://schemas.openxmlformats.org/drawingml/2006/main">
            <a:off x="5334966" y="1762125"/>
            <a:ext cx="6170269" cy="3857625"/>
          </a:xfrm>
          <a:prstGeom xmlns:a="http://schemas.openxmlformats.org/drawingml/2006/main" prst="rect">
            <a:avLst/>
          </a:prstGeom>
        </p:spPr>
      </p:pic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1EA6EA2-DCD8-47F6-BF7A-5805A26D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615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原版 QWOP 画面示意（非本项目成绩截图）</a:t>
            </a:r>
          </a:p>
        </p:txBody>
      </p:sp>
    </p:spTree>
    <p:extLst>
      <p:ext uri="{BB962C8B-B14F-4D97-AF65-F5344CB8AC3E}">
        <p14:creationId xmlns:p14="http://schemas.microsoft.com/office/powerpoint/2010/main" val="1157576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A16B4-73D0-40B6-A3C9-09E4F96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系统架构与训练闭环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A76E55-C055-4BD9-B141-C5D48C63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9AF830D-9C87-4041-9B80-2A8277F5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F9A1995-3B99-4E39-B558-9989AAA6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状态处理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244A498-3AD8-4C13-AB52-ACD4027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固定缩放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历史堆帧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ED66F16-DB02-4CC1-992F-895C558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2D08E51-CF9A-4D11-8817-77594DF0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环境交互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FA97582-0EA3-4974-BC39-78245313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并行C++环境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原生物理与计分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E4FB959-1DE4-4752-9F80-707F013C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D0C12095-9337-4C45-B60E-53C0F392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策略更新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4254175-577E-4A05-AE73-FC22B805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rollout 与 GAE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PPO 小批量更新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002A41FF-18C6-452E-8205-ABA0F466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87341874-5065-4DCC-A7C5-7E41D06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记录验证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6F603678-4493-4AA0-8F92-B3FB6B5B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日志与模型保存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独立评测与回放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1FB0AC6-5E4D-41AA-9A4A-CA83A2B6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Python / PyTorch 负责学习，C++ 环境与物理 DLL 提供交互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7BC53E7A-1D3F-4C4F-AA0E-267E23A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入口 train_ppo.py   ·   环境 training_env.cpp   ·   奖励 reward_profiles.cpp</a:t>
            </a:r>
          </a:p>
        </p:txBody>
      </p:sp>
    </p:spTree>
    <p:extLst>
      <p:ext uri="{BB962C8B-B14F-4D97-AF65-F5344CB8AC3E}">
        <p14:creationId xmlns:p14="http://schemas.microsoft.com/office/powerpoint/2010/main" val="1066722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53E193-CCC7-42AD-92CA-A479B8B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核心算法：PPO-Clip 与 GAE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349808-1304-4131-A92A-529D6B0B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53D9809-971B-4374-B072-05B935F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92DABE7-66D5-46A8-B355-3DA731E2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身体状态决定按键概率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16类离散动作分布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F9EADF5-B6F8-45DC-A243-85D68D6F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01976CB-09C7-4D42-B22E-3258F789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预测当前状态的未来回报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辅助GAE估计动作优势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C38D9EA-C6FE-400A-96FA-CB6B2D17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PPO 裁剪目标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D81AC9D-4A3D-4A3C-94ED-108EEF69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Lclip = E[min(ρₜ Âₜ, clip(ρₜ, 1−ε, 1+ε) Âₜ)]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0DAB711C-0701-4BB9-84B8-B2BB369F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概率比 ρₜ 衡量新旧策略变化；优势 Âₜ 表示动作相对预期的好坏</a:t>
            </a:r>
          </a:p>
        </p:txBody>
      </p:sp>
    </p:spTree>
    <p:extLst>
      <p:ext uri="{BB962C8B-B14F-4D97-AF65-F5344CB8AC3E}">
        <p14:creationId xmlns:p14="http://schemas.microsoft.com/office/powerpoint/2010/main" val="1091938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C217A1-93A9-4285-8AEE-1994C953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基线：链路跑通，运动策略仍低效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5E3861-A042-49E1-9AB8-E5D63A2C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D8059CB-E81C-472F-8339-545A4F83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0 / 64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C89D300-FE2B-41B7-BA25-2CDE360C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原奖励随机评测通关数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7AAC8EB-07BC-4486-823C-0C64EAB9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9909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低姿态前进、输入尺度失效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促使我们调整奖励与观测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AEDAE58-725E-4E09-AE5C-2789397A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990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v3：38 / 64 通关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确定性用时 75.27 秒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178CA4C-FAB7-440D-808B-61275ED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66875"/>
            <a:ext cx="6315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v3 单版本回合回报曲线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043B07E-162C-4006-AE4C-C8361435651A}"/>
              </a:ext>
            </a:extLst>
          </p:cNvPr>
          <p:cNvGraphicFramePr/>
          <p:nvPr/>
        </p:nvGraphicFramePr>
        <p:xfrm>
          <a:off xmlns:a="http://schemas.openxmlformats.org/drawingml/2006/main" x="4953000" y="2305050"/>
          <a:ext xmlns:a="http://schemas.openxmlformats.org/drawingml/2006/main" cx="6591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9b40203e7a428a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71DABE5-9EB7-4F97-936C-37E18736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34075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同一奖励版本，20点滚动均值；跨版本回报不可直接比较</a:t>
            </a:r>
          </a:p>
        </p:txBody>
      </p:sp>
    </p:spTree>
    <p:extLst>
      <p:ext uri="{BB962C8B-B14F-4D97-AF65-F5344CB8AC3E}">
        <p14:creationId xmlns:p14="http://schemas.microsoft.com/office/powerpoint/2010/main" val="1742559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262EF9-F311-4846-952E-10072FB2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奖励与时序迭代推动百米提速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B957A9-B947-401D-9702-22BDC04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C3A63F3-06C7-4579-8758-4603F124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纯 PPO 成功候选用时（秒，越低越好）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DE85F92-35B5-4112-B037-D9FE876CAE1E}"/>
              </a:ext>
            </a:extLst>
          </p:cNvPr>
          <p:cNvGraphicFramePr/>
          <p:nvPr/>
        </p:nvGraphicFramePr>
        <p:xfrm>
          <a:off xmlns:a="http://schemas.openxmlformats.org/drawingml/2006/main" x="571500" y="2343150"/>
          <a:ext xmlns:a="http://schemas.openxmlformats.org/drawingml/2006/main" cx="78390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18a647f2294f9b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F64264F-4AB8-48B9-AE6F-765525FB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62200"/>
            <a:ext cx="2686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45.40 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08867B4-0BDB-43AB-A783-021BAE81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纯PPO最好已验证候选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A764F9C-CC87-4FBA-97A0-F7276C3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86250"/>
            <a:ext cx="2667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44.93 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98446FC-D476-4455-8D51-CD7140D5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339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Actor偏置局部搜索后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4D0B1BC-7DAD-4315-8F25-AA2606BB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阶段改进：姿态与速度反馈、32帧历史、起步及越栏反馈；43秒目标未达成</a:t>
            </a:r>
          </a:p>
        </p:txBody>
      </p:sp>
    </p:spTree>
    <p:extLst>
      <p:ext uri="{BB962C8B-B14F-4D97-AF65-F5344CB8AC3E}">
        <p14:creationId xmlns:p14="http://schemas.microsoft.com/office/powerpoint/2010/main" val="111699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F6116C-AC8F-4C9E-A373-870DB422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提速瓶颈：动作阶段与奖励排序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3884FA-F922-46B8-9322-797A6CE4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E4E8848-CE8B-4A66-94C4-FEFBC036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起步与越栏恢复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295ABED-8657-4491-B57B-43C5EAB0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181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10米约需6.9秒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越栏后存在速度损失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14A22A3-2C49-4BFB-934E-BD9A93B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姿态规则是研究假设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F12B822-3B14-4C3F-B4F3-12E34F5A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5°前倾、步频和平稳度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未必对应更快的成功策略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818AE8B-42A6-48C9-B0FA-C60463F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旧奖励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170F1D7-7278-4D99-9A20-DC57B8BA03FD}"/>
              </a:ext>
            </a:extLst>
          </p:cNvPr>
          <p:cNvGraphicFramePr/>
          <p:nvPr/>
        </p:nvGraphicFramePr>
        <p:xfrm>
          <a:off xmlns:a="http://schemas.openxmlformats.org/drawingml/2006/main" x="4067175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8794a6cfc7496e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7AD4034-03A5-466B-A6DF-8CD555F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时间导向任务奖励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8528637-5E7B-4447-A506-C30F9214BDCF}"/>
              </a:ext>
            </a:extLst>
          </p:cNvPr>
          <p:cNvGraphicFramePr/>
          <p:nvPr/>
        </p:nvGraphicFramePr>
        <p:xfrm>
          <a:off xmlns:a="http://schemas.openxmlformats.org/drawingml/2006/main" x="7905750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633ce57fbe493c"/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C5B2EC2-35B8-4BE1-9D67-1FA43853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340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只比较每种奖励内部的排序；审计对象为两条成功轨迹</a:t>
            </a:r>
          </a:p>
        </p:txBody>
      </p:sp>
    </p:spTree>
    <p:extLst>
      <p:ext uri="{BB962C8B-B14F-4D97-AF65-F5344CB8AC3E}">
        <p14:creationId xmlns:p14="http://schemas.microsoft.com/office/powerpoint/2010/main" val="70311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2EE94E-8AD6-4AEF-8F5B-B56E79EB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RND：部分成功率改善，最快值未刷新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106525-997D-4704-8868-FC285C87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33D55FE-16C5-4CB5-93C3-4EEAB71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790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新颖性来自预测误差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D81EFBA-1090-4E55-A81D-565B2749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5909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随机固定目标网络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预测器学习拟合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误差提供内在奖励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AF2639B-999A-48C8-9EF6-C572FC9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59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两组同起点、同训练量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各约1678万条新转移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24217-E78B-4783-BA2C-EC66BECF48F1}"/>
              </a:ext>
            </a:extLst>
          </p:cNvPr>
          <p:cNvGraphicFramePr/>
          <p:nvPr/>
        </p:nvGraphicFramePr>
        <p:xfrm>
          <a:off xmlns:a="http://schemas.openxmlformats.org/drawingml/2006/main" x="4591050" y="1943100"/>
          <a:ext xmlns:a="http://schemas.openxmlformats.org/drawingml/2006/main" cx="6924675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2047875"/>
                <a:gridCol w="22193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 + RND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随机通关数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成功平均用时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49.26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48.84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最快保存点用时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E2E5B4D-BAB1-4FC4-AA4B-94585BD7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05450"/>
            <a:ext cx="6924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部分成功率改善，未刷新旧44.93秒纪录；只有一个训练种子</a:t>
            </a:r>
          </a:p>
        </p:txBody>
      </p:sp>
    </p:spTree>
    <p:extLst>
      <p:ext uri="{BB962C8B-B14F-4D97-AF65-F5344CB8AC3E}">
        <p14:creationId xmlns:p14="http://schemas.microsoft.com/office/powerpoint/2010/main" val="1118610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E12EAC-C768-45C6-AE21-6D8486A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公开影子模仿：本地网络复现33.03秒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E4DAB1-61C7-4072-836C-6EF06B98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872B6D4-56B2-451B-A93F-A06C4A3A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638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33.03 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6BDD4B8-E297-4007-A845-5177C52A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本地网络，固定初态闭环执行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0B1B43C-23CD-4F33-8E0B-F7207B75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429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公开冠军XYF的991帧示范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状态动作监督，交叉熵训练Actor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855B9FD-28C7-4D2D-9E3B-8EB7A8AC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4481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确定性16 / 16成功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原始随机采样0 / 64成功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148DE-93F6-41BB-8966-04294C1D4F55}"/>
              </a:ext>
            </a:extLst>
          </p:cNvPr>
          <p:cNvGraphicFramePr/>
          <p:nvPr/>
        </p:nvGraphicFramePr>
        <p:xfrm>
          <a:off xmlns:a="http://schemas.openxmlformats.org/drawingml/2006/main" x="5353050" y="2009775"/>
          <a:ext xmlns:a="http://schemas.openxmlformats.org/drawingml/2006/main" cx="6153150" cy="2343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1952625"/>
                <a:gridCol w="258127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动作准确率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99.899%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52米失败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33.03秒完成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75DB2EA-1596-4C4E-B57E-96FB87DC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43475"/>
            <a:ext cx="6029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极小动作偏差也会累积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偏离轨迹后的恢复仍是瓶颈</a:t>
            </a:r>
          </a:p>
        </p:txBody>
      </p:sp>
    </p:spTree>
    <p:extLst>
      <p:ext uri="{BB962C8B-B14F-4D97-AF65-F5344CB8AC3E}">
        <p14:creationId xmlns:p14="http://schemas.microsoft.com/office/powerpoint/2010/main" val="7115255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E7021-0E25-4324-A6C7-B1748CAF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跳远迁移：保留助跑，学习局部起跳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7A497C-1B3B-44C4-9AF4-5961AFB2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7AF9D32-D66E-45AD-87FF-3CBDF7AA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校准位置字段原点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B3F8F4A-8441-4BCD-9AB7-87428FA7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990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25米、334帧助跑动作一致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同为68维，语义仍需核对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AE9FF95-060A-420F-A857-CB0E313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冻结助跑，局部学习起跳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DFF0A4F-0099-4A25-8ECC-A536BBD8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起跳区域调整层 + 独立Critic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B40B6-614D-4799-9C4B-8BDE19BF6DA2}"/>
              </a:ext>
            </a:extLst>
          </p:cNvPr>
          <p:cNvGraphicFramePr/>
          <p:nvPr/>
        </p:nvGraphicFramePr>
        <p:xfrm>
          <a:off xmlns:a="http://schemas.openxmlformats.org/drawingml/2006/main" x="5219700" y="1914525"/>
          <a:ext xmlns:a="http://schemas.openxmlformats.org/drawingml/2006/main" cx="6286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1628775"/>
                <a:gridCol w="23336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旧PPO迁移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保留33秒助跑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3.16米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B678B0D-8623-4FC8-B7FB-BB769EB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新模型独立64次：51次成功，成功平均1.51米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搜索规模不同，最佳值不能代表平均能力</a:t>
            </a:r>
          </a:p>
        </p:txBody>
      </p:sp>
    </p:spTree>
    <p:extLst>
      <p:ext uri="{BB962C8B-B14F-4D97-AF65-F5344CB8AC3E}">
        <p14:creationId xmlns:p14="http://schemas.microsoft.com/office/powerpoint/2010/main" val="1117207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AD6BDF-92BE-49AD-A0EC-408B365C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结果：速度、稳定性与泛化分别评价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56DDB9-91BB-49D8-A711-721D6CD1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FE006-480C-49B6-BF2C-8BA42A453FCB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2295525"/>
                <a:gridCol w="53435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已验证成绩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评测与结论边界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PPO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45.40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自主训练的成功候选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+ 偏置搜索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包含局部权重搜索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公开示范 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固定初态复现，原始随机0/64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/ 3.16 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 / 2048次随机最佳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DCA2C7-FB69-4F94-A629-94D44D12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原生成绩、成功率与随机均值分开报告；固定初态复现尚不证明泛化</a:t>
            </a:r>
          </a:p>
        </p:txBody>
      </p:sp>
    </p:spTree>
    <p:extLst>
      <p:ext uri="{BB962C8B-B14F-4D97-AF65-F5344CB8AC3E}">
        <p14:creationId xmlns:p14="http://schemas.microsoft.com/office/powerpoint/2010/main" val="894724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CC5E59-9099-4C22-AA02-EA241867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后续：从轨迹复现走向稳定控制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86953B-F6B3-4018-80A2-4C411609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EF37EE9-0EAF-4B53-B0EB-C1D746A0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92F0339-D781-42A1-8324-B0F93240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先用原生成绩审计奖励，减少未经验证的姿态假设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ED5329E-22F6-4F1E-A67C-A32FC74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E775C24-40FC-4338-97F8-A7CEDFF3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BC约束下小步PPO微调，训练偏离轨迹后的恢复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FA6C939-F1EE-4C19-B340-BFCAEF1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54D780C-F4D3-42F6-ACE0-F09A9B95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统一初态、随机种子和扰动，开展多种子对照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F7BBB20-97FC-4243-BFDC-D0AC4ADB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E3928274-862C-4F30-BC47-E21CEEE7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跳远按正式距离和成功率选模，继续优化起跳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40FFF3B-118B-483D-9858-FE87252B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奖励对齐目标，原生评测检验进步</a:t>
            </a:r>
          </a:p>
        </p:txBody>
      </p:sp>
    </p:spTree>
    <p:extLst>
      <p:ext uri="{BB962C8B-B14F-4D97-AF65-F5344CB8AC3E}">
        <p14:creationId xmlns:p14="http://schemas.microsoft.com/office/powerpoint/2010/main" val="1902651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2026-10-13T06:14:43.0060000Z</dcterms:created>
  <dcterms:modified xsi:type="dcterms:W3CDTF">2026-10-13T06:14:43.0060000Z</dcterms:modified>
</coreProperties>
</file>