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6218a5944e42c3" /><Relationship Type="http://schemas.openxmlformats.org/officeDocument/2006/relationships/extended-properties" Target="/docProps/app.xml" Id="R8a35c6a53f874d9f" /><Relationship Type="http://schemas.openxmlformats.org/officeDocument/2006/relationships/officeDocument" Target="/ppt/presentation.xml" Id="R6958506b87594b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131dc038014a7d"/>
  </p:sldMasterIdLst>
  <p:notesMasterIdLst>
    <p:notesMasterId xmlns:r="http://schemas.openxmlformats.org/officeDocument/2006/relationships" r:id="R3ebf4717f2e1454b"/>
  </p:notesMasterIdLst>
  <p:sldIdLst>
    <p:sldId xmlns:r="http://schemas.openxmlformats.org/officeDocument/2006/relationships" id="256" r:id="R90eb15c1cebd440b"/>
    <p:sldId xmlns:r="http://schemas.openxmlformats.org/officeDocument/2006/relationships" id="257" r:id="R28b4411c119a499b"/>
    <p:sldId xmlns:r="http://schemas.openxmlformats.org/officeDocument/2006/relationships" id="258" r:id="Re6c59fa373184e38"/>
    <p:sldId xmlns:r="http://schemas.openxmlformats.org/officeDocument/2006/relationships" id="259" r:id="R4adf86ffeac44921"/>
    <p:sldId xmlns:r="http://schemas.openxmlformats.org/officeDocument/2006/relationships" id="260" r:id="Rcf3cc8407e5244a9"/>
    <p:sldId xmlns:r="http://schemas.openxmlformats.org/officeDocument/2006/relationships" id="261" r:id="R32bec415519147fe"/>
    <p:sldId xmlns:r="http://schemas.openxmlformats.org/officeDocument/2006/relationships" id="262" r:id="R85fc53e453b04b89"/>
    <p:sldId xmlns:r="http://schemas.openxmlformats.org/officeDocument/2006/relationships" id="263" r:id="R3cebb4c88414443e"/>
    <p:sldId xmlns:r="http://schemas.openxmlformats.org/officeDocument/2006/relationships" id="264" r:id="R5968d09d5f854ddf"/>
    <p:sldId xmlns:r="http://schemas.openxmlformats.org/officeDocument/2006/relationships" id="265" r:id="R3bb8e62e09c54656"/>
    <p:sldId xmlns:r="http://schemas.openxmlformats.org/officeDocument/2006/relationships" id="266" r:id="R958d49ddb50b4962"/>
    <p:sldId xmlns:r="http://schemas.openxmlformats.org/officeDocument/2006/relationships" id="267" r:id="R83c1a0684d3b4d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2a8ddd1cc34751" /><Relationship Type="http://schemas.openxmlformats.org/officeDocument/2006/relationships/slideMaster" Target="/ppt/slideMasters/slideMaster1.xml" Id="R26131dc038014a7d" /><Relationship Type="http://schemas.openxmlformats.org/officeDocument/2006/relationships/notesMaster" Target="/ppt/notesMasters/notesMaster1.xml" Id="R3ebf4717f2e1454b" /><Relationship Type="http://schemas.openxmlformats.org/officeDocument/2006/relationships/presProps" Target="/ppt/presProps.xml" Id="Re8efc536b34b4a81" /><Relationship Type="http://schemas.openxmlformats.org/officeDocument/2006/relationships/tableStyles" Target="/ppt/tableStyles.xml" Id="R9a66c50f918f4584" /><Relationship Type="http://schemas.openxmlformats.org/officeDocument/2006/relationships/slide" Target="/ppt/slides/slide1.xml" Id="R90eb15c1cebd440b" /><Relationship Type="http://schemas.openxmlformats.org/officeDocument/2006/relationships/slide" Target="/ppt/slides/slide2.xml" Id="R28b4411c119a499b" /><Relationship Type="http://schemas.openxmlformats.org/officeDocument/2006/relationships/slide" Target="/ppt/slides/slide3.xml" Id="Re6c59fa373184e38" /><Relationship Type="http://schemas.openxmlformats.org/officeDocument/2006/relationships/slide" Target="/ppt/slides/slide4.xml" Id="R4adf86ffeac44921" /><Relationship Type="http://schemas.openxmlformats.org/officeDocument/2006/relationships/slide" Target="/ppt/slides/slide5.xml" Id="Rcf3cc8407e5244a9" /><Relationship Type="http://schemas.openxmlformats.org/officeDocument/2006/relationships/slide" Target="/ppt/slides/slide6.xml" Id="R32bec415519147fe" /><Relationship Type="http://schemas.openxmlformats.org/officeDocument/2006/relationships/slide" Target="/ppt/slides/slide7.xml" Id="R85fc53e453b04b89" /><Relationship Type="http://schemas.openxmlformats.org/officeDocument/2006/relationships/slide" Target="/ppt/slides/slide8.xml" Id="R3cebb4c88414443e" /><Relationship Type="http://schemas.openxmlformats.org/officeDocument/2006/relationships/slide" Target="/ppt/slides/slide9.xml" Id="R5968d09d5f854ddf" /><Relationship Type="http://schemas.openxmlformats.org/officeDocument/2006/relationships/slide" Target="/ppt/slides/slide10.xml" Id="R3bb8e62e09c54656" /><Relationship Type="http://schemas.openxmlformats.org/officeDocument/2006/relationships/slide" Target="/ppt/slides/slide11.xml" Id="R958d49ddb50b4962" /><Relationship Type="http://schemas.openxmlformats.org/officeDocument/2006/relationships/slide" Target="/ppt/slides/slide12.xml" Id="R83c1a0684d3b4d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901fb405c14b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34e23008b842df" /><Relationship Type="http://schemas.openxmlformats.org/officeDocument/2006/relationships/notesMaster" Target="/ppt/notesMasters/notesMaster1.xml" Id="R40c838d2a5834b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1e14680673444a" /><Relationship Type="http://schemas.openxmlformats.org/officeDocument/2006/relationships/notesMaster" Target="/ppt/notesMasters/notesMaster1.xml" Id="Rcc4c5a8de1e545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900a64065d4be6" /><Relationship Type="http://schemas.openxmlformats.org/officeDocument/2006/relationships/notesMaster" Target="/ppt/notesMasters/notesMaster1.xml" Id="R4cc9a93bbcfe4a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3e02d87352459a" /><Relationship Type="http://schemas.openxmlformats.org/officeDocument/2006/relationships/notesMaster" Target="/ppt/notesMasters/notesMaster1.xml" Id="R37b936966dc847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a1300f59ec4c7a" /><Relationship Type="http://schemas.openxmlformats.org/officeDocument/2006/relationships/notesMaster" Target="/ppt/notesMasters/notesMaster1.xml" Id="R8a3eb506748f45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d9e1db3d7f40bb" /><Relationship Type="http://schemas.openxmlformats.org/officeDocument/2006/relationships/notesMaster" Target="/ppt/notesMasters/notesMaster1.xml" Id="R416d03d879f442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889fa615104a7f" /><Relationship Type="http://schemas.openxmlformats.org/officeDocument/2006/relationships/notesMaster" Target="/ppt/notesMasters/notesMaster1.xml" Id="Rcc96c3a46d3247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15d5fb8a7946b1" /><Relationship Type="http://schemas.openxmlformats.org/officeDocument/2006/relationships/notesMaster" Target="/ppt/notesMasters/notesMaster1.xml" Id="Rdf753e3ebe7747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1a431c99f4644d1" /><Relationship Type="http://schemas.openxmlformats.org/officeDocument/2006/relationships/notesMaster" Target="/ppt/notesMasters/notesMaster1.xml" Id="R6b80ababf15f4d7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0cfbf9e3f224a37" /><Relationship Type="http://schemas.openxmlformats.org/officeDocument/2006/relationships/notesMaster" Target="/ppt/notesMasters/notesMaster1.xml" Id="R4520e26f392748d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bc95f46e14d4a1f" /><Relationship Type="http://schemas.openxmlformats.org/officeDocument/2006/relationships/notesMaster" Target="/ppt/notesMasters/notesMaster1.xml" Id="Rc21067ab6cce48d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9a2264f336c4da7" /><Relationship Type="http://schemas.openxmlformats.org/officeDocument/2006/relationships/notesMaster" Target="/ppt/notesMasters/notesMaster1.xml" Id="R8c9105f89aad45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建议讲述时间：20秒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老师好，我汇报的题目是基于深度强化学习的QWOP运动控制与策略优化研究。项目从开源训练框架出发，围绕百米跑步和跳远，依次尝试奖励优化、探索和示范学习。我重点介绍方法、实验结果，以及哪些提升已经验证、哪些问题还没有解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E:/Work/强化学习小项目/verification/project_report/report_front.md</a:t>
            </a:r>
          </a:p>
          <a:p xmlns:a="http://schemas.openxmlformats.org/drawingml/2006/main">
            <a:r>
              <a:t>https://github.com/LYiHub/QWOP_rl_training_public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建议讲述时间：45秒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WOP用四个按键控制腿部运动，动作需要连续协调，错误容易导致摔倒。模型读取身体位置、角度、速度和脚接触等状态，而不是读取游戏画面，输出四个按键的组合。百米模式还有50米处的障碍，120秒上限，所以并非全程平跑。跳远包括30米助跑、起跳和落地，原生有效通关还要求走出沙坑。评价百米看正式完赛用时，评价跳远看最终落点距离，同时统计成功率。右边是原版游戏的示意图，不代表本项目成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E:/Work/强化学习小项目/verification/project_report/report_front.md 第3节</a:t>
            </a:r>
          </a:p>
          <a:p xmlns:a="http://schemas.openxmlformats.org/drawingml/2006/main">
            <a:r>
              <a:t>E:/Work/强化学习小项目/QWOP_rl_training_public/src/training_env.cpp</a:t>
            </a:r>
          </a:p>
          <a:p xmlns:a="http://schemas.openxmlformats.org/drawingml/2006/main">
            <a:r>
              <a:t>https://thecreativeindependent.com/people/bennett-foddy-on-the-pitfalls-of-perfectionism/</a:t>
            </a:r>
          </a:p>
          <a:p xmlns:a="http://schemas.openxmlformats.org/drawingml/2006/main">
            <a:r>
              <a:t>https://s3.amazonaws.com/tci-assets/uploads/bennett-pic.jpg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建议讲述时间：50秒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训练入口是train_ppo.py。每轮先根据配置创建并行环境，归一化观测并堆叠历史，Actor根据这些状态采样动作。Python封装通过pybind11调用C++环境，再调用物理DLL执行按键并读回状态、奖励与终止标志。我们把本轮交互存入rollout，计算优势，再按小批量更新Actor和Critic。更新后保存权重、优化器、配置和计数，独立执行模型评测，并导出动作回放。项目保留原有PPO、日志和保存架构，改进主要集中在奖励、观测处理和局部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E:/Work/强化学习小项目/QWOP_rl_training_public/scripts/train_ppo.py</a:t>
            </a:r>
          </a:p>
          <a:p xmlns:a="http://schemas.openxmlformats.org/drawingml/2006/main">
            <a:r>
              <a:t>E:/Work/强化学习小项目/QWOP_rl_training_public/scripts/running_env.py</a:t>
            </a:r>
          </a:p>
          <a:p xmlns:a="http://schemas.openxmlformats.org/drawingml/2006/main">
            <a:r>
              <a:t>E:/Work/强化学习小项目/QWOP_rl_training_public/src/python_module.cpp</a:t>
            </a:r>
          </a:p>
          <a:p xmlns:a="http://schemas.openxmlformats.org/drawingml/2006/main">
            <a:r>
              <a:t>E:/Work/强化学习小项目/QWOP_rl_training_public/src/training_env.cpp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建议讲述时间：60秒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自行实现离散动作PPO，没有调用SAC或TD3。Actor输出按键概率，Critic预测未来回报。GAE结合当前奖励、下一状态价值和多步反馈，估计这个动作相对于预期好多少。PPO用新旧策略的概率比更新动作分布，裁剪机制会限制过度改变策略，减少一次更新破坏已有步态的风险。训练还使用熵奖励、Adam和梯度裁剪。本项目使用on-policy rollout，每轮采集新数据，不使用长期经验回放池。网络从128乘128的Tanh层扩展到256乘256，后期尝试独立Critic和32帧历史，也就是2176维输入。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E:/Work/强化学习小项目/QWOP_rl_training_public/scripts/train_ppo.py</a:t>
            </a:r>
          </a:p>
          <a:p xmlns:a="http://schemas.openxmlformats.org/drawingml/2006/main">
            <a:r>
              <a:t>https://arxiv.org/abs/1707.06347</a:t>
            </a:r>
          </a:p>
          <a:p xmlns:a="http://schemas.openxmlformats.org/drawingml/2006/main">
            <a:r>
              <a:t>https://arxiv.org/abs/1506.02438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建议讲述时间：50秒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首先完成Windows环境构建，确认观测和动作形状、reset、数值有限性，以及checkpoint保存和加载。原奖励续训约1049万条转移后，64次随机运行没有通关，平均前进35.59米。回放还暴露出低姿态前进的问题，原输入尺度使Tanh大量饱和。我们增加固定缩放、历史帧，使用躯干高度代理和脚支撑进度来减少持续低姿态。v3达到38次随机通关，确定性75.27秒。右图是这一轮自己的真实回合回报曲线，不能与更换奖励后的数值直接比较。后端没有膝盖碰撞标志，所以只能声称改善低姿态代理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E:/Work/强化学习小项目/verification/baseline_report.md</a:t>
            </a:r>
          </a:p>
          <a:p xmlns:a="http://schemas.openxmlformats.org/drawingml/2006/main">
            <a:r>
              <a:t>E:/Work/强化学习小项目/verification/classic_training_report.md</a:t>
            </a:r>
          </a:p>
          <a:p xmlns:a="http://schemas.openxmlformats.org/drawingml/2006/main">
            <a:r>
              <a:t>E:/Work/强化学习小项目/verification/foot_running_training_report.md</a:t>
            </a:r>
          </a:p>
          <a:p xmlns:a="http://schemas.openxmlformats.org/drawingml/2006/main">
            <a:r>
              <a:t>E:/Work/强化学习小项目/verification/project_report/events_data.json：ppo_foot_running_v3/charts/episode_return_mean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建议讲述时间：55秒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随后加入姿态、近期速度、低速处罚和更早完赛反馈，并增加历史帧，让模型更容易识别运动阶段。纯PPO的已验证候选从75.27秒，改善到65.63秒、50.17秒，后期最好45.40秒。部分阶段还对Actor偏置做小幅参数搜索，保留49.97秒、44.97秒，最终44.93秒。搜索改变了网络权重，所以这些成绩必须与未经搜索的PPO快照区分。我们还尝试起步反馈、越栏恢复、独立Critic和较长信用分配，但没有完成43秒目标。这说明继续堆奖励项或训练步数，不一定能解决策略的局部最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E:/Work/强化学习小项目/verification/forward_lean_training_report.md</a:t>
            </a:r>
          </a:p>
          <a:p xmlns:a="http://schemas.openxmlformats.org/drawingml/2006/main">
            <a:r>
              <a:t>E:/Work/强化学习小项目/QWOP_rl_training_public/docs/under50-training.md</a:t>
            </a:r>
          </a:p>
          <a:p xmlns:a="http://schemas.openxmlformats.org/drawingml/2006/main">
            <a:r>
              <a:t>E:/Work/强化学习小项目/QWOP_rl_training_public/docs/under45-training.md</a:t>
            </a:r>
          </a:p>
          <a:p xmlns:a="http://schemas.openxmlformats.org/drawingml/2006/main">
            <a:r>
              <a:t>E:/Work/强化学习小项目/QWOP_rl_training_public/docs/bottleneck-followup-training.md</a:t>
            </a:r>
          </a:p>
          <a:p xmlns:a="http://schemas.openxmlformats.org/drawingml/2006/main">
            <a:r>
              <a:t>E:/Work/强化学习小项目/verification/project_report/report_front.md 第6.7节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建议讲述时间：55秒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帧诊断发现，44.97秒策略约6.9秒才到10米，50米障碍附近又有腾空和落地恢复损失。但更根本的问题来自奖励审计。将33.03秒专家轨迹和44.93秒旧策略在原生环境重放，旧奖励给慢策略1877分，却只给快示范1451分。因为专家大量动作不符合旧姿态门槛，速度优势被处罚抵消。改成正式成功与用时导向奖励后，快轨迹获得更高分。这个结果直接指出旧规则对这两条轨迹的目标冲突，也提醒我们，5度前倾、步频更高、上下更平稳，都应作为假设验证。两条轨迹不足以证明新奖励在所有状态下都最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E:/Work/强化学习小项目/verification/bottleneck_baseline_comparison.json</a:t>
            </a:r>
          </a:p>
          <a:p xmlns:a="http://schemas.openxmlformats.org/drawingml/2006/main">
            <a:r>
              <a:t>E:/Work/强化学习小项目/QWOP_rl_training_public/docs/shadow-imitation-pilot.md</a:t>
            </a:r>
          </a:p>
          <a:p xmlns:a="http://schemas.openxmlformats.org/drawingml/2006/main">
            <a:r>
              <a:t>E:/Work/强化学习小项目/QWOP_rl_training_public/src/reward_profiles.cpp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建议讲述时间：45秒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ND固定一个随机目标网络，训练预测器模仿它，预测误差越大表示状态相对新颖，并提供内在奖励。本次对照从同一个44.93秒Actor开始，两组各采集约1678万条转移。关闭RND时随机成功57次，开启后61次，成功平均用时也略有改善。但最好确定性保存点从46.80秒变成47.23秒，都没有超过原模型。因此，这次看到的是部分稳定性指标改善，不能把RND写成已经证明的提速方法。实验只有一个训练种子，仍需多种子和相同随机评测集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E:/Work/强化学习小项目/QWOP_rl_training_public/docs/task-reward-rnd-experiment.md</a:t>
            </a:r>
          </a:p>
          <a:p xmlns:a="http://schemas.openxmlformats.org/drawingml/2006/main">
            <a:r>
              <a:t>E:/Work/强化学习小项目/QWOP_rl_training_public/scripts/train_ppo.py</a:t>
            </a:r>
          </a:p>
          <a:p xmlns:a="http://schemas.openxmlformats.org/drawingml/2006/main">
            <a:r>
              <a:t>https://arxiv.org/abs/1810.12894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建议讲述时间：65秒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主探索速度受限后，我们使用网站公开冠军XYF的影子动作作为示范。先在原生环境执行这991帧动作，构建状态动作样本，再复用原Actor进行交叉熵训练。测试时网络读取当前观测自行选动作，没有按时间播放专家动作列表。epoch900的分类准确率已经99.899%，闭环仍在52米失败，epoch1000准确率100%后才复现33.03秒。这说明序列控制中很小的动作偏差也会累积。固定初始状态下16次都完成，但按原始概率随机采样的64次全部失败。降低采样温度筛出的33.13和33.17秒是不同真实回放，权重没变，也没有突破示范速度。我们需要训练偏离轨迹后的纠错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E:/Work/强化学习小项目/QWOP_rl_training_public/docs/shadow-imitation-pilot.md</a:t>
            </a:r>
          </a:p>
          <a:p xmlns:a="http://schemas.openxmlformats.org/drawingml/2006/main">
            <a:r>
              <a:t>E:/Work/强化学习小项目/QWOP_rl_training_public/scripts/train_replay_imitation.py</a:t>
            </a:r>
          </a:p>
          <a:p xmlns:a="http://schemas.openxmlformats.org/drawingml/2006/main">
            <a:r>
              <a:t>E:/Work/强化学习小项目/verification/shadow_audit/imitation_pilot.json</a:t>
            </a:r>
          </a:p>
          <a:p xmlns:a="http://schemas.openxmlformats.org/drawingml/2006/main">
            <a:r>
              <a:t>E:/Work/强化学习小项目/verification/project_report/report_front.md 第6.10节</a:t>
            </a:r>
          </a:p>
          <a:p xmlns:a="http://schemas.openxmlformats.org/drawingml/2006/main">
            <a:r>
              <a:t>https://run.lyihub.com/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建议讲述时间：60秒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进一步把33秒跑步策略迁移到跳远。直接加载时很快摔倒，原因是百米和跳远虽然都为68维，但位置字段的原点和语义不同。通过第一层偏置校准输入原点后，前25米334帧动作和身体状态与百米一致。随后冻结助跑Actor和表征，只在起跳线附近训练动作调整层，同时使用独立Critic，继续沿用作者的跳远奖励。三轮训练后的确定性最好2.588米，2048次随机运行中最好3.161米，有1663次通关。独立64次评测51次成功，成功平均1.507米。最佳回放高于以前的2.802米，但两次搜索规模不同，确定性成绩仍未超过旧2.599米，稳定起跳还需要改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E:/Work/强化学习小项目/QWOP_rl_training_public/docs/long-jump-training.md</a:t>
            </a:r>
          </a:p>
          <a:p xmlns:a="http://schemas.openxmlformats.org/drawingml/2006/main">
            <a:r>
              <a:t>E:/Work/强化学习小项目/QWOP_rl_training_public/docs/long-jump-shadow-transfer.md</a:t>
            </a:r>
          </a:p>
          <a:p xmlns:a="http://schemas.openxmlformats.org/drawingml/2006/main">
            <a:r>
              <a:t>E:/Work/强化学习小项目/verification/long_jump_shadow_final_report.json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建议讲述时间：50秒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汇总结果时，需要按方法来源分开。纯PPO最好已验证45.40秒，加入Actor偏置搜索得到44.93秒。33.03秒是本地模型模仿公开外部专家的成果，不能说成自主PPO探索出冠军策略。跳远迁移的随机最佳提高到3.16米，但确定性没有超过旧结果。训练奖励、原生正式成绩、成功率和成功回合均值也需要分别报告。这里的固定初态确定性复跑验证了保存、加载和执行的一致性，没有验证不同初始姿态下的泛化。项目已经形成可加载模型、日志和回放的完整产物，下一步应把重点转向稳定控制与可重复评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E:/Work/强化学习小项目/verification/project_report/report_front.md 第1、7、8节</a:t>
            </a:r>
          </a:p>
          <a:p xmlns:a="http://schemas.openxmlformats.org/drawingml/2006/main">
            <a:r>
              <a:t>E:/Work/强化学习小项目/verification/long_jump_shadow_final_report.json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建议讲述时间：45秒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后续首先建立统一评测协议，固定随机种子和测试条件，报告成功率、成功均值、分位数和最佳值，再加入初始状态扰动与多训练种子。策略方面，可以在行为克隆约束下小步PPO微调，通过受控扰动收集偏离轨迹后的状态，逐步训练纠错，防止破坏已学助跑。跳远继续按正式落点和有效通关选模，集中优化起跳时机。这些都是计划，尚未作为新结果验证。本项目的主要收获是跑通并保留训练架构，用真实回放发现奖励冲突，并验证了示范学习和跨任务迁移的价值与局限。谢谢老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E:/Work/强化学习小项目/verification/project_report/report_front.md 第9节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93adf2125045c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2f7e69fedf412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49b324571d401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18540a62ae49f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ff7ddffdda429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b4453af7ad4b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EB6663-A8EE-4BC1-ACCF-39E5F7419C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F01DD7C-5E25-4347-AD6A-426D6D6086F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285B155-5CC1-467E-9E11-3B6D63FB8D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AAB08B-771E-4AE4-AE1C-9813A8EBFE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D1B5F62-3778-4D15-BC7F-000639389B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32C3AD3-6C85-4792-92FF-B4852C90C9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FF95A1D-FDB4-4D84-8F3F-9A56778441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DC92DD6-C565-49AA-AD6D-63830D1BC15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6B443E-CD6E-43AA-9D7D-BD4B3DF48A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AB7B433-447C-4892-AF20-6AE0283D66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a0545959284a28" /><Relationship Type="http://schemas.openxmlformats.org/officeDocument/2006/relationships/slideLayout" Target="/ppt/slideLayouts/slideLayout1.xml" Id="R53d80ffbcaad4435" /><Relationship Type="http://schemas.openxmlformats.org/officeDocument/2006/relationships/slideLayout" Target="/ppt/slideLayouts/slideLayout2.xml" Id="Rec0b512715e0438c" /><Relationship Type="http://schemas.openxmlformats.org/officeDocument/2006/relationships/slideLayout" Target="/ppt/slideLayouts/slideLayout3.xml" Id="Ra942ffb6054f4cdb" /><Relationship Type="http://schemas.openxmlformats.org/officeDocument/2006/relationships/slideLayout" Target="/ppt/slideLayouts/slideLayout4.xml" Id="R745aaed45470420e" /><Relationship Type="http://schemas.openxmlformats.org/officeDocument/2006/relationships/slideLayout" Target="/ppt/slideLayouts/slideLayout5.xml" Id="R84b3c30df3684518" /><Relationship Type="http://schemas.openxmlformats.org/officeDocument/2006/relationships/slideLayout" Target="/ppt/slideLayouts/slideLayout6.xml" Id="R4bba797fdf8e45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d80ffbcaad4435"/>
    <p:sldLayoutId xmlns:r="http://schemas.openxmlformats.org/officeDocument/2006/relationships" id="2147483650" r:id="Rec0b512715e0438c"/>
    <p:sldLayoutId xmlns:r="http://schemas.openxmlformats.org/officeDocument/2006/relationships" id="2147483651" r:id="Ra942ffb6054f4cdb"/>
    <p:sldLayoutId xmlns:r="http://schemas.openxmlformats.org/officeDocument/2006/relationships" id="2147483652" r:id="R745aaed45470420e"/>
    <p:sldLayoutId xmlns:r="http://schemas.openxmlformats.org/officeDocument/2006/relationships" id="2147483653" r:id="R84b3c30df3684518"/>
    <p:sldLayoutId xmlns:r="http://schemas.openxmlformats.org/officeDocument/2006/relationships" id="2147483654" r:id="R4bba797fdf8e45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bc7d9aa9b2447e" /><Relationship Type="http://schemas.openxmlformats.org/officeDocument/2006/relationships/notesSlide" Target="/ppt/notesSlides/notesSlide1.xml" Id="R1f114b4daa654a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4abda9ad47428e" /><Relationship Type="http://schemas.openxmlformats.org/officeDocument/2006/relationships/image" Target="/ppt/media/image.jpeg" Id="R1ece88cb29f244b0" /><Relationship Type="http://schemas.openxmlformats.org/officeDocument/2006/relationships/notesSlide" Target="/ppt/notesSlides/notesSlide2.xml" Id="R65dc4965c36244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7c649de54f4de8" /><Relationship Type="http://schemas.openxmlformats.org/officeDocument/2006/relationships/notesSlide" Target="/ppt/notesSlides/notesSlide3.xml" Id="Rb3447f28ac8a46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f09d4932fb4169" /><Relationship Type="http://schemas.openxmlformats.org/officeDocument/2006/relationships/notesSlide" Target="/ppt/notesSlides/notesSlide4.xml" Id="Ra29b305e573a4a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bff705bc0d4c38" /><Relationship Type="http://schemas.openxmlformats.org/officeDocument/2006/relationships/chart" Target="/ppt/slides/charts/chart1.xml" Id="Rece5cf55ff4547ce" /><Relationship Type="http://schemas.openxmlformats.org/officeDocument/2006/relationships/notesSlide" Target="/ppt/notesSlides/notesSlide5.xml" Id="Raee78990c95f40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310d6492394edc" /><Relationship Type="http://schemas.openxmlformats.org/officeDocument/2006/relationships/chart" Target="/ppt/slides/charts/chart2.xml" Id="R2ec98a80e31f46a1" /><Relationship Type="http://schemas.openxmlformats.org/officeDocument/2006/relationships/notesSlide" Target="/ppt/notesSlides/notesSlide6.xml" Id="R2c594bad2b7e48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8587e293354ce9" /><Relationship Type="http://schemas.openxmlformats.org/officeDocument/2006/relationships/chart" Target="/ppt/slides/charts/chart3.xml" Id="Rb415a6a935c64a82" /><Relationship Type="http://schemas.openxmlformats.org/officeDocument/2006/relationships/chart" Target="/ppt/slides/charts/chart4.xml" Id="R0b4e634a06ce4811" /><Relationship Type="http://schemas.openxmlformats.org/officeDocument/2006/relationships/notesSlide" Target="/ppt/notesSlides/notesSlide7.xml" Id="Rcc419a8e1cb94c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05e0d66e094c96" /><Relationship Type="http://schemas.openxmlformats.org/officeDocument/2006/relationships/notesSlide" Target="/ppt/notesSlides/notesSlide8.xml" Id="R1b1b48e655d54d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a2b80500944f94" /><Relationship Type="http://schemas.openxmlformats.org/officeDocument/2006/relationships/notesSlide" Target="/ppt/notesSlides/notesSlide9.xml" Id="R88d4556c50ed440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73fbec0e16462d" /><Relationship Type="http://schemas.openxmlformats.org/officeDocument/2006/relationships/notesSlide" Target="/ppt/notesSlides/notesSlide10.xml" Id="R486d565b6c614c5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0232af71dd4228" /><Relationship Type="http://schemas.openxmlformats.org/officeDocument/2006/relationships/notesSlide" Target="/ppt/notesSlides/notesSlide11.xml" Id="R876df4ceea7a458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5b8b262f0c4460" /><Relationship Type="http://schemas.openxmlformats.org/officeDocument/2006/relationships/notesSlide" Target="/ppt/notesSlides/notesSlide12.xml" Id="Rf58c56534eef4d4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20点滚动均值</c:v>
          </c:tx>
          <c:spPr>
            <a:ln xmlns:a="http://schemas.openxmlformats.org/drawingml/2006/main" w="28575">
              <a:solidFill>
                <a:srgbClr val="078578"/>
              </a:solidFill>
            </a:ln>
          </c:spPr>
          <c:marker>
            <c:symbol val="none"/>
          </c:marker>
          <c:xVal>
            <c:numRef>
              <c:f>'Chart Data'!$A$2:$A$32</c:f>
              <c:numCache>
                <c:formatCode>General</c:formatCode>
                <c:ptCount val="31"/>
                <c:pt idx="0">
                  <c:v>1</c:v>
                </c:pt>
                <c:pt idx="1">
                  <c:v>29</c:v>
                </c:pt>
                <c:pt idx="2">
                  <c:v>53</c:v>
                </c:pt>
                <c:pt idx="3">
                  <c:v>75</c:v>
                </c:pt>
                <c:pt idx="4">
                  <c:v>95</c:v>
                </c:pt>
                <c:pt idx="5">
                  <c:v>115</c:v>
                </c:pt>
                <c:pt idx="6">
                  <c:v>132</c:v>
                </c:pt>
                <c:pt idx="7">
                  <c:v>148</c:v>
                </c:pt>
                <c:pt idx="8">
                  <c:v>164</c:v>
                </c:pt>
                <c:pt idx="9">
                  <c:v>180</c:v>
                </c:pt>
                <c:pt idx="10">
                  <c:v>196</c:v>
                </c:pt>
                <c:pt idx="11">
                  <c:v>212</c:v>
                </c:pt>
                <c:pt idx="12">
                  <c:v>228</c:v>
                </c:pt>
                <c:pt idx="13">
                  <c:v>244</c:v>
                </c:pt>
                <c:pt idx="14">
                  <c:v>260</c:v>
                </c:pt>
                <c:pt idx="15">
                  <c:v>276</c:v>
                </c:pt>
                <c:pt idx="16">
                  <c:v>292</c:v>
                </c:pt>
                <c:pt idx="17">
                  <c:v>308</c:v>
                </c:pt>
                <c:pt idx="18">
                  <c:v>324</c:v>
                </c:pt>
                <c:pt idx="19">
                  <c:v>340</c:v>
                </c:pt>
                <c:pt idx="20">
                  <c:v>356</c:v>
                </c:pt>
                <c:pt idx="21">
                  <c:v>372</c:v>
                </c:pt>
                <c:pt idx="22">
                  <c:v>388</c:v>
                </c:pt>
                <c:pt idx="23">
                  <c:v>404</c:v>
                </c:pt>
                <c:pt idx="24">
                  <c:v>420</c:v>
                </c:pt>
                <c:pt idx="25">
                  <c:v>436</c:v>
                </c:pt>
                <c:pt idx="26">
                  <c:v>452</c:v>
                </c:pt>
                <c:pt idx="27">
                  <c:v>468</c:v>
                </c:pt>
                <c:pt idx="28">
                  <c:v>484</c:v>
                </c:pt>
                <c:pt idx="29">
                  <c:v>500</c:v>
                </c:pt>
                <c:pt idx="30">
                  <c:v>512</c:v>
                </c:pt>
              </c:numCache>
            </c:numRef>
          </c:xVal>
          <c:yVal>
            <c:numRef>
              <c:f>'Chart Data'!$B$2:$B$32</c:f>
              <c:numCache>
                <c:formatCode>General</c:formatCode>
                <c:ptCount val="31"/>
                <c:pt idx="0">
                  <c:v>-9.695274</c:v>
                </c:pt>
                <c:pt idx="1">
                  <c:v>-21.875286</c:v>
                </c:pt>
                <c:pt idx="2">
                  <c:v>-36.214269</c:v>
                </c:pt>
                <c:pt idx="3">
                  <c:v>-40.187376</c:v>
                </c:pt>
                <c:pt idx="4">
                  <c:v>-45.733682</c:v>
                </c:pt>
                <c:pt idx="5">
                  <c:v>-45.529882</c:v>
                </c:pt>
                <c:pt idx="6">
                  <c:v>-46.180762</c:v>
                </c:pt>
                <c:pt idx="7">
                  <c:v>-45.758357</c:v>
                </c:pt>
                <c:pt idx="8">
                  <c:v>-52.054057</c:v>
                </c:pt>
                <c:pt idx="9">
                  <c:v>-51.22803</c:v>
                </c:pt>
                <c:pt idx="10">
                  <c:v>-50.068916</c:v>
                </c:pt>
                <c:pt idx="11">
                  <c:v>-39.284856</c:v>
                </c:pt>
                <c:pt idx="12">
                  <c:v>-32.483026</c:v>
                </c:pt>
                <c:pt idx="13">
                  <c:v>-24.145295</c:v>
                </c:pt>
                <c:pt idx="14">
                  <c:v>-18.459542</c:v>
                </c:pt>
                <c:pt idx="15">
                  <c:v>-13.29619</c:v>
                </c:pt>
                <c:pt idx="16">
                  <c:v>-6.712887</c:v>
                </c:pt>
                <c:pt idx="17">
                  <c:v>-0.736854</c:v>
                </c:pt>
                <c:pt idx="18">
                  <c:v>5.783727</c:v>
                </c:pt>
                <c:pt idx="19">
                  <c:v>9.085267</c:v>
                </c:pt>
                <c:pt idx="20">
                  <c:v>11.104045</c:v>
                </c:pt>
                <c:pt idx="21">
                  <c:v>21.708608</c:v>
                </c:pt>
                <c:pt idx="22">
                  <c:v>59.273752</c:v>
                </c:pt>
                <c:pt idx="23">
                  <c:v>92.058312</c:v>
                </c:pt>
                <c:pt idx="24">
                  <c:v>119.338353</c:v>
                </c:pt>
                <c:pt idx="25">
                  <c:v>128.566722</c:v>
                </c:pt>
                <c:pt idx="26">
                  <c:v>135.245484</c:v>
                </c:pt>
                <c:pt idx="27">
                  <c:v>135.681198</c:v>
                </c:pt>
                <c:pt idx="28">
                  <c:v>134.833582</c:v>
                </c:pt>
                <c:pt idx="29">
                  <c:v>138.191203</c:v>
                </c:pt>
                <c:pt idx="30">
                  <c:v>142.410228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00"/>
          <c:min val="-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-100"/>
        <c:majorUnit val="100"/>
      </c:valAx>
      <c:valAx>
        <c:axId val="48650112"/>
        <c:scaling>
          <c:orientation val="minMax"/>
          <c:max val="512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556578"/>
                    </a:solidFill>
                    <a:latin typeface="Microsoft YaHei"/>
                    <a:ea typeface="Microsoft YaHei"/>
                    <a:cs typeface="Microsoft YaHei"/>
                  </a:rPr>
                  <a:t>训练更新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55657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9E1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128"/>
      </c:valAx>
      <c:spPr>
        <a:solidFill xmlns:a="http://schemas.openxmlformats.org/drawingml/2006/main">
          <a:srgbClr val="FAFBF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AFBF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原生百米用时</c:v>
          </c:tx>
          <c:spPr>
            <a:solidFill xmlns:a="http://schemas.openxmlformats.org/drawingml/2006/main">
              <a:srgbClr val="225B85"/>
            </a:solidFill>
          </c:spPr>
          <c:invertIfNegative val="0"/>
          <c:dPt>
            <c:idx val="3"/>
            <c:invertIfNegative val="0"/>
            <c:spPr>
              <a:solidFill xmlns:a="http://schemas.openxmlformats.org/drawingml/2006/main">
                <a:srgbClr val="078578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低姿态优化</c:v>
                </c:pt>
                <c:pt idx="1">
                  <c:v>姿态与速度</c:v>
                </c:pt>
                <c:pt idx="2">
                  <c:v>50秒阶段</c:v>
                </c:pt>
                <c:pt idx="3">
                  <c:v>起步与探索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75.27</c:v>
                </c:pt>
                <c:pt idx="1">
                  <c:v>65.63</c:v>
                </c:pt>
                <c:pt idx="2">
                  <c:v>50.17</c:v>
                </c:pt>
                <c:pt idx="3">
                  <c:v>45.4</c:v>
                </c:pt>
              </c:numCache>
            </c:numRef>
          </c:val>
        </c:ser>
        <c:dLbls>
          <c:delete val="0"/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6243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1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8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AFBF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AFBF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累计回报</c:v>
          </c:tx>
          <c:spPr>
            <a:solidFill xmlns:a="http://schemas.openxmlformats.org/drawingml/2006/main">
              <a:srgbClr val="225B85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078578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33.03秒示范</c:v>
                </c:pt>
                <c:pt idx="1">
                  <c:v>44.93秒策略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1450.95</c:v>
                </c:pt>
                <c:pt idx="1">
                  <c:v>1877.42</c:v>
                </c:pt>
              </c:numCache>
            </c:numRef>
          </c:val>
        </c:ser>
        <c:dLbls>
          <c:delete val="0"/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 b="1">
                  <a:solidFill>
                    <a:srgbClr val="16243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1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6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00"/>
      </c:valAx>
      <c:spPr>
        <a:solidFill xmlns:a="http://schemas.openxmlformats.org/drawingml/2006/main">
          <a:srgbClr val="FAFBF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AFBF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累计回报</c:v>
          </c:tx>
          <c:spPr>
            <a:solidFill xmlns:a="http://schemas.openxmlformats.org/drawingml/2006/main">
              <a:srgbClr val="225B85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078578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33.03秒示范</c:v>
                </c:pt>
                <c:pt idx="1">
                  <c:v>44.93秒策略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2300.67</c:v>
                </c:pt>
                <c:pt idx="1">
                  <c:v>2055.8</c:v>
                </c:pt>
              </c:numCache>
            </c:numRef>
          </c:val>
        </c:ser>
        <c:dLbls>
          <c:delete val="0"/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 b="1">
                  <a:solidFill>
                    <a:srgbClr val="16243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1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6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00"/>
      </c:valAx>
      <c:spPr>
        <a:solidFill xmlns:a="http://schemas.openxmlformats.org/drawingml/2006/main">
          <a:srgbClr val="FAFBF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AFBF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B2DCDFE-3FB2-4481-A1EC-9BD65741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63938F08-22C2-4E5F-9E61-E720C7DE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35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基于深度强化学习的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81F8D363-4561-4060-B303-47894CBE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51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QWOP 运动控制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2812489A-76B4-4D38-BD52-EE4315B5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0820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51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与策略优化研究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E8C1A2F4-93BD-4B14-8BE1-44440CE6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百米提速与跳远迁移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CAC347D9-8DBC-4FDF-B764-03D61CB3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769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Lionel_Zhao  ·  课堂项目汇报</a:t>
            </a:r>
          </a:p>
        </p:txBody>
      </p:sp>
    </p:spTree>
    <p:extLst>
      <p:ext uri="{BB962C8B-B14F-4D97-AF65-F5344CB8AC3E}">
        <p14:creationId xmlns:p14="http://schemas.microsoft.com/office/powerpoint/2010/main" val="2236670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7A565B-3393-4594-8395-EDCD3807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研究任务：从按键到稳定运动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D06BCC3-4C51-48CB-A4D8-C8F3543F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E275C9BE-9F4F-4FF3-9183-9F7FBC68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1DFC1248-AB61-4285-9BC4-A4BBFAC9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85950"/>
            <a:ext cx="39243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观测：68维身体与任务状态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AACC342A-93A3-4BE3-A961-6A931A3C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9C45B0F8-A522-4862-910F-2189E32D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67025"/>
            <a:ext cx="39243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动作：四键组合，共16类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2E359FBF-BA25-475C-8E93-1EF49328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1F1FB14C-B719-4607-9971-E22EBBEB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48100"/>
            <a:ext cx="39243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百米：成功完赛，用时越少越好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3AE861DF-C329-4583-96A1-D031F207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4822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784E6885-A76E-4725-BD93-AFCEDD03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29175"/>
            <a:ext cx="39243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跳远：有效落点，距离越大越好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8163EA-318D-41FF-9DDB-E0BF2E3929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ce88cb29f244b0"/>
          <a:stretch xmlns:a="http://schemas.openxmlformats.org/drawingml/2006/main"/>
        </p:blipFill>
        <p:spPr>
          <a:xfrm xmlns:a="http://schemas.openxmlformats.org/drawingml/2006/main">
            <a:off x="5334966" y="1762125"/>
            <a:ext cx="6170269" cy="3857625"/>
          </a:xfrm>
          <a:prstGeom xmlns:a="http://schemas.openxmlformats.org/drawingml/2006/main" prst="rect">
            <a:avLst/>
          </a:prstGeom>
        </p:spPr>
      </p:pic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06BF324F-6140-45F5-BDEF-F21BBE3B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810250"/>
            <a:ext cx="6153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原版 QWOP 画面示意（非本项目成绩截图）</a:t>
            </a:r>
          </a:p>
        </p:txBody>
      </p:sp>
    </p:spTree>
    <p:extLst>
      <p:ext uri="{BB962C8B-B14F-4D97-AF65-F5344CB8AC3E}">
        <p14:creationId xmlns:p14="http://schemas.microsoft.com/office/powerpoint/2010/main" val="8108086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6F8BBCA-714F-4AB7-B960-581DBAC2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系统架构与训练闭环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FAE7DE1-4756-4DFE-A57F-8E7B3714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069170DB-64CB-46F7-9609-36EEA0E9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90725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F170F274-0162-4409-A0E4-CDB46D3D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2333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状态处理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C5B6D7AD-73B7-487B-BB58-8197C429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2381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固定缩放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历史堆帧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3B48356A-C78A-4CE0-9D61-10F0B2D4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990725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C02E620C-C0A9-4B36-B62C-41C35F63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800350"/>
            <a:ext cx="2333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环境交互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82193A7F-9A91-4C22-B419-67B66C8F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476625"/>
            <a:ext cx="2381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并行C++环境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原生物理与计分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8BBAFC50-414B-479C-B5C3-A00701B7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90725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B53EF906-6455-44BE-B3A6-3994875F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00350"/>
            <a:ext cx="2333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策略更新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78D904FB-A402-4EEC-9C43-8A0AC35D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76625"/>
            <a:ext cx="2381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rollout 与 GAE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PPO 小批量更新</a:t>
            </a:r>
          </a:p>
        </p:txBody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9AEE4A8C-1BBD-4D30-81C7-661E9BA6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990725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45CC6B91-63CD-4650-A885-8AD64A18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800350"/>
            <a:ext cx="2333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记录验证</a:t>
            </a:r>
          </a:p>
        </p:txBody>
      </p:sp>
      <p:sp>
        <p:nvSpPr>
          <p:cNvPr id="14" name="text-14">
            <a:extLst xmlns:a="http://schemas.openxmlformats.org/drawingml/2006/main">
              <a:ext uri="{FF2B5EF4-FFF2-40B4-BE49-F238E27FC236}">
                <a16:creationId xmlns:a16="http://schemas.microsoft.com/office/drawing/2014/main" id="{68552381-74CC-42A3-B3BE-D6D7B417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476625"/>
            <a:ext cx="2381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日志与模型保存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独立评测与回放</a:t>
            </a:r>
          </a:p>
        </p:txBody>
      </p:sp>
      <p:sp>
        <p:nvSpPr>
          <p:cNvPr id="15" name="text-15">
            <a:extLst xmlns:a="http://schemas.openxmlformats.org/drawingml/2006/main">
              <a:ext uri="{FF2B5EF4-FFF2-40B4-BE49-F238E27FC236}">
                <a16:creationId xmlns:a16="http://schemas.microsoft.com/office/drawing/2014/main" id="{A394E4A9-6472-4454-BA99-03DA26CA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Python / PyTorch 负责学习，C++ 环境与物理 DLL 提供交互</a:t>
            </a:r>
          </a:p>
        </p:txBody>
      </p:sp>
      <p:sp>
        <p:nvSpPr>
          <p:cNvPr id="16" name="text-16">
            <a:extLst xmlns:a="http://schemas.openxmlformats.org/drawingml/2006/main">
              <a:ext uri="{FF2B5EF4-FFF2-40B4-BE49-F238E27FC236}">
                <a16:creationId xmlns:a16="http://schemas.microsoft.com/office/drawing/2014/main" id="{0D6F2B39-CDAC-413C-82F3-1BF74D4D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入口 train_ppo.py   ·   环境 training_env.cpp   ·   奖励 reward_profiles.cpp</a:t>
            </a:r>
          </a:p>
        </p:txBody>
      </p:sp>
    </p:spTree>
    <p:extLst>
      <p:ext uri="{BB962C8B-B14F-4D97-AF65-F5344CB8AC3E}">
        <p14:creationId xmlns:p14="http://schemas.microsoft.com/office/powerpoint/2010/main" val="5935941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C2E9B13-A045-47B8-A0E8-CF5C4647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核心算法：PPO-Clip 与 GAE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C4AA5CD-2586-4AED-930E-8AF39807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92CE7032-1E7F-43CE-A7F6-3660DDE9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Actor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AD446B0F-B699-48B8-BBE0-7ED48DD1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667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身体状态决定按键概率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16类离散动作分布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51230E4D-AC36-44EB-B0F0-2DB1402A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38325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Critic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68A569FA-BEAE-4DD3-B533-336EB7FC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47950"/>
            <a:ext cx="4667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预测当前状态的未来回报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辅助GAE估计动作优势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16CF61F1-3AE4-4934-B74B-51F9DFFE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PPO 裁剪目标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0A37CFB5-382F-41CF-ADA9-9AB367EA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Lclip = E[min(ρₜ Âₜ, clip(ρₜ, 1−ε, 1+ε) Âₜ)]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C9F583B8-0EEA-4571-A1B1-C3E040CF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20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概率比 ρₜ 衡量新旧策略变化；优势 Âₜ 表示动作相对预期的好坏</a:t>
            </a:r>
          </a:p>
        </p:txBody>
      </p:sp>
    </p:spTree>
    <p:extLst>
      <p:ext uri="{BB962C8B-B14F-4D97-AF65-F5344CB8AC3E}">
        <p14:creationId xmlns:p14="http://schemas.microsoft.com/office/powerpoint/2010/main" val="5056135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877EFFF-C654-4581-82AB-3A547490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基线：链路跑通，运动策略仍低效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521016B-D95C-4F84-AFE2-2E8578E5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60565960-CAAE-4025-8432-129ABD0D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57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0 / 64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36FD16C0-EB5D-4094-928C-B39CC1A8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385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原奖励随机评测通关数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E42AF19F-2121-43DC-9076-CA6B95FD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39909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低姿态前进、输入尺度失效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促使我们调整奖励与观测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3DACE1C0-2D8F-4F46-904F-15FB655E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39909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v3：38 / 64 通关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确定性用时 75.27 秒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E1664F5E-17F8-441F-ADE2-E0821D69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666875"/>
            <a:ext cx="6315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v3 单版本回合回报曲线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698714B6-240D-44FB-ADB7-00045374240B}"/>
              </a:ext>
            </a:extLst>
          </p:cNvPr>
          <p:cNvGraphicFramePr/>
          <p:nvPr/>
        </p:nvGraphicFramePr>
        <p:xfrm>
          <a:off xmlns:a="http://schemas.openxmlformats.org/drawingml/2006/main" x="4953000" y="2305050"/>
          <a:ext xmlns:a="http://schemas.openxmlformats.org/drawingml/2006/main" cx="65913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ce5cf55ff4547ce"/>
          </a:graphicData>
        </a:graphic>
      </p:graphicFrame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D5C07BC-8093-4915-ADC6-6C950C55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934075"/>
            <a:ext cx="642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同一奖励版本，20点滚动均值；跨版本回报不可直接比较</a:t>
            </a:r>
          </a:p>
        </p:txBody>
      </p:sp>
    </p:spTree>
    <p:extLst>
      <p:ext uri="{BB962C8B-B14F-4D97-AF65-F5344CB8AC3E}">
        <p14:creationId xmlns:p14="http://schemas.microsoft.com/office/powerpoint/2010/main" val="2047458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0E2F5DD-6F4D-4E36-AB11-B2741E1D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奖励与时序迭代推动百米提速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28BD670-1015-41AD-9611-B08AE734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1BD48C82-CE57-40F4-9822-86B589E3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847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纯 PPO 成功候选用时（秒，越低越好）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3B6A68D2-E917-4F7E-83F9-511F1B1CD2B9}"/>
              </a:ext>
            </a:extLst>
          </p:cNvPr>
          <p:cNvGraphicFramePr/>
          <p:nvPr/>
        </p:nvGraphicFramePr>
        <p:xfrm>
          <a:off xmlns:a="http://schemas.openxmlformats.org/drawingml/2006/main" x="571500" y="2343150"/>
          <a:ext xmlns:a="http://schemas.openxmlformats.org/drawingml/2006/main" cx="783907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ec98a80e31f46a1"/>
          </a:graphicData>
        </a:graphic>
      </p:graphicFrame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76E3D18-F741-4F0C-914E-EB3199DA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362200"/>
            <a:ext cx="26860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45.40 秒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6182CA6-3F6D-42C7-9B34-F100EAAA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20992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纯PPO最好已验证候选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138129C5-B6C8-4DE1-BFD9-FF42A9E2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286250"/>
            <a:ext cx="2667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44.93 秒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756D73F-02BC-4AD1-915B-0BDFA13B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5133975"/>
            <a:ext cx="2619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Actor偏置局部搜索后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2F175761-39B2-4D3E-9D9E-73299433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82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阶段改进：姿态与速度反馈、32帧历史、起步及越栏反馈；43秒目标未达成</a:t>
            </a:r>
          </a:p>
        </p:txBody>
      </p:sp>
    </p:spTree>
    <p:extLst>
      <p:ext uri="{BB962C8B-B14F-4D97-AF65-F5344CB8AC3E}">
        <p14:creationId xmlns:p14="http://schemas.microsoft.com/office/powerpoint/2010/main" val="15233186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7397B1-CE74-466C-B51D-314B01EB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提速瓶颈：动作阶段与奖励排序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B465140-4AA3-4870-9A85-EAAA2506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1EDCEAE9-3311-4144-AFBE-E4923DDB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3286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起步与越栏恢复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A6975A48-D9DA-4D60-8291-2EDB46F4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31813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10米约需6.9秒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越栏后存在速度损失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6EC6AF75-E391-4509-9C07-0259C668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3286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姿态规则是研究假设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7E9E5629-5C0B-4275-AF5E-436E6015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5°前倾、步频和平稳度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未必对应更快的成功策略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CD335B99-2280-4E78-9BF0-3F6A416E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657350"/>
            <a:ext cx="3495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旧奖励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3714743C-4B5D-48C5-883F-57E559E9D1DF}"/>
              </a:ext>
            </a:extLst>
          </p:cNvPr>
          <p:cNvGraphicFramePr/>
          <p:nvPr/>
        </p:nvGraphicFramePr>
        <p:xfrm>
          <a:off xmlns:a="http://schemas.openxmlformats.org/drawingml/2006/main" x="4067175" y="2266950"/>
          <a:ext xmlns:a="http://schemas.openxmlformats.org/drawingml/2006/main" cx="3581400" cy="3438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415a6a935c64a82"/>
          </a:graphicData>
        </a:graphic>
      </p:graphicFrame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4F57681-C729-45B8-AF02-E05E9958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57350"/>
            <a:ext cx="3495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时间导向任务奖励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6676D578-BB76-4E3B-A177-30B428C5432F}"/>
              </a:ext>
            </a:extLst>
          </p:cNvPr>
          <p:cNvGraphicFramePr/>
          <p:nvPr/>
        </p:nvGraphicFramePr>
        <p:xfrm>
          <a:off xmlns:a="http://schemas.openxmlformats.org/drawingml/2006/main" x="7905750" y="2266950"/>
          <a:ext xmlns:a="http://schemas.openxmlformats.org/drawingml/2006/main" cx="3581400" cy="3438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b4e634a06ce4811"/>
          </a:graphicData>
        </a:graphic>
      </p:graphicFrame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6A01B33C-9A94-47BF-8214-BC7F6759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934075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只比较每种奖励内部的排序；审计对象为两条成功轨迹</a:t>
            </a:r>
          </a:p>
        </p:txBody>
      </p:sp>
    </p:spTree>
    <p:extLst>
      <p:ext uri="{BB962C8B-B14F-4D97-AF65-F5344CB8AC3E}">
        <p14:creationId xmlns:p14="http://schemas.microsoft.com/office/powerpoint/2010/main" val="5402334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A8C0062-69B3-4493-B4C8-6D6231F7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RND：部分成功率改善，最快值未刷新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47DB055-4DFB-4E4E-B2DE-D7604AB5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7A2899CE-7959-48D3-A50A-194F9D3F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3790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新颖性来自预测误差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A49AC9E9-E980-4287-8979-6AA38685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590925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随机固定目标网络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预测器学习拟合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误差提供内在奖励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1EDE9258-BC4A-42B8-AC5D-6ED6FCB4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35909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两组同起点、同训练量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各约1678万条新转移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BA9B0-F1D5-4E3C-9F32-871FE4F61160}"/>
              </a:ext>
            </a:extLst>
          </p:cNvPr>
          <p:cNvGraphicFramePr/>
          <p:nvPr/>
        </p:nvGraphicFramePr>
        <p:xfrm>
          <a:off xmlns:a="http://schemas.openxmlformats.org/drawingml/2006/main" x="4591050" y="1943100"/>
          <a:ext xmlns:a="http://schemas.openxmlformats.org/drawingml/2006/main" cx="6924675" cy="31718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57475"/>
                <a:gridCol w="2047875"/>
                <a:gridCol w="2219325"/>
              </a:tblGrid>
              <a:tr h="5143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任务奖励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任务奖励 + RND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</a:tr>
              <a:tr h="8858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随机通关数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57 / 64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 / 64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858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成功平均用时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49.26 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48.84 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858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最快保存点用时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46.80 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47.23 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CE0726D-54DE-48A4-9E52-E51F1BC2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505450"/>
            <a:ext cx="69246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部分成功率改善，未刷新旧44.93秒纪录；只有一个训练种子</a:t>
            </a:r>
          </a:p>
        </p:txBody>
      </p:sp>
    </p:spTree>
    <p:extLst>
      <p:ext uri="{BB962C8B-B14F-4D97-AF65-F5344CB8AC3E}">
        <p14:creationId xmlns:p14="http://schemas.microsoft.com/office/powerpoint/2010/main" val="14491664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D600B40-6726-4E40-8A24-452E8C81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公开影子模仿：本地网络复现33.03秒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67AEDE3-FFA8-4FDF-B0EB-7658667F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16FD177B-E4DD-4699-B7F9-364AB616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04975"/>
            <a:ext cx="46386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8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58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33.03 秒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56AA4782-89A3-4336-BCAF-821E3386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45910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本地网络，固定初态闭环执行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F115CE72-F465-4A60-A953-D8C1571D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44291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公开冠军XYF的991帧示范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状态动作监督，交叉熵训练Actor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06EB58F6-3515-4CE4-93FA-CC249C9F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0175"/>
            <a:ext cx="44481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确定性16 / 16成功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原始随机采样0 / 64成功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66C1B1-D94B-4865-A40B-D6ABBEC1E0E3}"/>
              </a:ext>
            </a:extLst>
          </p:cNvPr>
          <p:cNvGraphicFramePr/>
          <p:nvPr/>
        </p:nvGraphicFramePr>
        <p:xfrm>
          <a:off xmlns:a="http://schemas.openxmlformats.org/drawingml/2006/main" x="5353050" y="2009775"/>
          <a:ext xmlns:a="http://schemas.openxmlformats.org/drawingml/2006/main" cx="6153150" cy="23431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619250"/>
                <a:gridCol w="1952625"/>
                <a:gridCol w="2581275"/>
              </a:tblGrid>
              <a:tr h="5143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训练轮次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动作准确率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闭环结果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</a:tr>
              <a:tr h="91440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99.899%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52米失败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33.03秒完成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F5E19CB-21A0-4BB4-99FC-92A05668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943475"/>
            <a:ext cx="60293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极小动作偏差也会累积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偏离轨迹后的恢复仍是瓶颈</a:t>
            </a:r>
          </a:p>
        </p:txBody>
      </p:sp>
    </p:spTree>
    <p:extLst>
      <p:ext uri="{BB962C8B-B14F-4D97-AF65-F5344CB8AC3E}">
        <p14:creationId xmlns:p14="http://schemas.microsoft.com/office/powerpoint/2010/main" val="15746737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8EC9D4-F65D-4D3B-8B04-500DAA99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跳远迁移：保留助跑，学习局部起跳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823757D-61B8-4F40-A5ED-46C974A9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4D49E48A-C08D-4460-99D7-24DB191D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33575"/>
            <a:ext cx="4019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校准位置字段原点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5768D6D3-9661-47DD-BDEB-C6A6E4CC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39909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25米、334帧助跑动作一致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同为68维，语义仍需核对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EEF7FEE5-A553-4934-8F68-7BEB9966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冻结助跑，局部学习起跳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28E3CF4D-9A83-403F-B1D0-8356659A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29225"/>
            <a:ext cx="4057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起跳区域调整层 + 独立Critic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D5B81F-D40C-4298-9B1E-A0EE671DFFF5}"/>
              </a:ext>
            </a:extLst>
          </p:cNvPr>
          <p:cNvGraphicFramePr/>
          <p:nvPr/>
        </p:nvGraphicFramePr>
        <p:xfrm>
          <a:off xmlns:a="http://schemas.openxmlformats.org/drawingml/2006/main" x="5219700" y="1914525"/>
          <a:ext xmlns:a="http://schemas.openxmlformats.org/drawingml/2006/main" cx="6286500" cy="28956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24100"/>
                <a:gridCol w="1628775"/>
                <a:gridCol w="2333625"/>
              </a:tblGrid>
              <a:tr h="5143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跳远路线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确定性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随机最佳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</a:tr>
              <a:tr h="11906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旧PPO迁移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2.60米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2.80米</a:t>
                      </a:r>
                    </a:p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1024次搜索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保留33秒助跑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2.59米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3.16米</a:t>
                      </a:r>
                    </a:p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2048次搜索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4D8F50F0-5B68-419C-AD5A-6374F41F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67325"/>
            <a:ext cx="628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新模型独立64次：51次成功，成功平均1.51米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搜索规模不同，最佳值不能代表平均能力</a:t>
            </a:r>
          </a:p>
        </p:txBody>
      </p:sp>
    </p:spTree>
    <p:extLst>
      <p:ext uri="{BB962C8B-B14F-4D97-AF65-F5344CB8AC3E}">
        <p14:creationId xmlns:p14="http://schemas.microsoft.com/office/powerpoint/2010/main" val="16241195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1CF4064-FA24-4CD0-948A-F235FCC3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结果：速度、稳定性与泛化分别评价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5E306CB-A45D-44C0-A8BE-2761D81B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B9EF50-1E9A-4EE0-AC62-955D2BB0203F}"/>
              </a:ext>
            </a:extLst>
          </p:cNvPr>
          <p:cNvGraphicFramePr/>
          <p:nvPr/>
        </p:nvGraphicFramePr>
        <p:xfrm>
          <a:off xmlns:a="http://schemas.openxmlformats.org/drawingml/2006/main" x="685800" y="1819275"/>
          <a:ext xmlns:a="http://schemas.openxmlformats.org/drawingml/2006/main" cx="10820400" cy="35433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181350"/>
                <a:gridCol w="2295525"/>
                <a:gridCol w="5343525"/>
              </a:tblGrid>
              <a:tr h="5143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方法路线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已验证成绩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评测与结论边界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</a:tr>
              <a:tr h="757238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纯 PPO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45.40 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自主训练的成功候选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7238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PPO + 偏置搜索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44.93 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包含局部权重搜索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7238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公开示范 BC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33.03 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固定初态复现，原始随机0/64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7238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跳远迁移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2.59 / 3.16 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确定性 / 2048次随机最佳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5BCFBE6-3493-403E-8554-7DCDC51C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原生成绩、成功率与随机均值分开报告；固定初态复现尚不证明泛化</a:t>
            </a:r>
          </a:p>
        </p:txBody>
      </p:sp>
    </p:spTree>
    <p:extLst>
      <p:ext uri="{BB962C8B-B14F-4D97-AF65-F5344CB8AC3E}">
        <p14:creationId xmlns:p14="http://schemas.microsoft.com/office/powerpoint/2010/main" val="10668656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1B8C37-0A56-4ACC-BDA8-3BDEEC6D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后续：从轨迹复现走向稳定控制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19AC969-3B96-402D-B101-09DD3F09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AD2605D3-5F80-4F08-96CA-A7FB2F6D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DC4F8780-FBA2-4037-A091-DE329210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52600"/>
            <a:ext cx="102679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先用原生成绩审计奖励，减少未经验证的姿态假设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39EDF3DF-4456-4F0A-9CDB-B51F1AFB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A826E24A-F406-4649-88DC-7594FC1B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76525"/>
            <a:ext cx="102679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BC约束下小步PPO微调，训练偏离轨迹后的恢复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FD0B2D6D-87C5-480C-8C67-C715BE28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7139B5C1-C6E2-4E3B-A0CF-6B005DDB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00450"/>
            <a:ext cx="102679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统一初态、随机种子和扰动，开展多种子对照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255A934B-8C22-4921-8555-18D16537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342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33A524BC-7B4B-4926-A70B-DACA36AF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24375"/>
            <a:ext cx="102679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跳远按正式距离和成功率选模，继续优化起跳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CDD43201-5A07-4A19-829E-6F76BE77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奖励对齐目标，原生评测检验进步</a:t>
            </a:r>
          </a:p>
        </p:txBody>
      </p:sp>
    </p:spTree>
    <p:extLst>
      <p:ext uri="{BB962C8B-B14F-4D97-AF65-F5344CB8AC3E}">
        <p14:creationId xmlns:p14="http://schemas.microsoft.com/office/powerpoint/2010/main" val="9091452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2026-10-13T06:11:14.3030000Z</dcterms:created>
  <dcterms:modified xsi:type="dcterms:W3CDTF">2026-10-13T06:11:14.3030000Z</dcterms:modified>
</coreProperties>
</file>