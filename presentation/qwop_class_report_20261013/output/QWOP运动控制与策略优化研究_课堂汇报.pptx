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2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3.xml" ContentType="application/vnd.openxmlformats-officedocument.drawingml.chart+xml"/>
  <Override PartName="/ppt/slides/charts/chart4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f379d1695ae4ff2" /><Relationship Type="http://schemas.openxmlformats.org/officeDocument/2006/relationships/extended-properties" Target="/docProps/app.xml" Id="R11eed9f509ba48db" /><Relationship Type="http://schemas.openxmlformats.org/officeDocument/2006/relationships/officeDocument" Target="/ppt/presentation.xml" Id="R13f69a54e49649c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fd2bee2013a4c73"/>
  </p:sldMasterIdLst>
  <p:notesMasterIdLst>
    <p:notesMasterId xmlns:r="http://schemas.openxmlformats.org/officeDocument/2006/relationships" r:id="Rf4f59814fca44fb2"/>
  </p:notesMasterIdLst>
  <p:sldIdLst>
    <p:sldId xmlns:r="http://schemas.openxmlformats.org/officeDocument/2006/relationships" id="256" r:id="R8a4d722dfce84088"/>
    <p:sldId xmlns:r="http://schemas.openxmlformats.org/officeDocument/2006/relationships" id="257" r:id="Re0849b8acacc4454"/>
    <p:sldId xmlns:r="http://schemas.openxmlformats.org/officeDocument/2006/relationships" id="258" r:id="R56ef6153f9234de6"/>
    <p:sldId xmlns:r="http://schemas.openxmlformats.org/officeDocument/2006/relationships" id="259" r:id="Rc2cdaabb484c4576"/>
    <p:sldId xmlns:r="http://schemas.openxmlformats.org/officeDocument/2006/relationships" id="260" r:id="Ra9a3898132c94590"/>
    <p:sldId xmlns:r="http://schemas.openxmlformats.org/officeDocument/2006/relationships" id="261" r:id="R5d2d5be94cbc424a"/>
    <p:sldId xmlns:r="http://schemas.openxmlformats.org/officeDocument/2006/relationships" id="262" r:id="Ra2e5b8028bdc4c77"/>
    <p:sldId xmlns:r="http://schemas.openxmlformats.org/officeDocument/2006/relationships" id="263" r:id="Rfc42f97bf4e444cf"/>
    <p:sldId xmlns:r="http://schemas.openxmlformats.org/officeDocument/2006/relationships" id="264" r:id="R30aa4f5a2c6e4fdf"/>
    <p:sldId xmlns:r="http://schemas.openxmlformats.org/officeDocument/2006/relationships" id="265" r:id="Raea230634ec94e87"/>
    <p:sldId xmlns:r="http://schemas.openxmlformats.org/officeDocument/2006/relationships" id="266" r:id="R11cd89a36bf04c5b"/>
    <p:sldId xmlns:r="http://schemas.openxmlformats.org/officeDocument/2006/relationships" id="267" r:id="Rab7f1044918945a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eeae2cc6f024b46" /><Relationship Type="http://schemas.openxmlformats.org/officeDocument/2006/relationships/slideMaster" Target="/ppt/slideMasters/slideMaster1.xml" Id="R0fd2bee2013a4c73" /><Relationship Type="http://schemas.openxmlformats.org/officeDocument/2006/relationships/notesMaster" Target="/ppt/notesMasters/notesMaster1.xml" Id="Rf4f59814fca44fb2" /><Relationship Type="http://schemas.openxmlformats.org/officeDocument/2006/relationships/presProps" Target="/ppt/presProps.xml" Id="R6e4c079df0c641ee" /><Relationship Type="http://schemas.openxmlformats.org/officeDocument/2006/relationships/tableStyles" Target="/ppt/tableStyles.xml" Id="Re683344b9e954116" /><Relationship Type="http://schemas.openxmlformats.org/officeDocument/2006/relationships/slide" Target="/ppt/slides/slide1.xml" Id="R8a4d722dfce84088" /><Relationship Type="http://schemas.openxmlformats.org/officeDocument/2006/relationships/slide" Target="/ppt/slides/slide2.xml" Id="Re0849b8acacc4454" /><Relationship Type="http://schemas.openxmlformats.org/officeDocument/2006/relationships/slide" Target="/ppt/slides/slide3.xml" Id="R56ef6153f9234de6" /><Relationship Type="http://schemas.openxmlformats.org/officeDocument/2006/relationships/slide" Target="/ppt/slides/slide4.xml" Id="Rc2cdaabb484c4576" /><Relationship Type="http://schemas.openxmlformats.org/officeDocument/2006/relationships/slide" Target="/ppt/slides/slide5.xml" Id="Ra9a3898132c94590" /><Relationship Type="http://schemas.openxmlformats.org/officeDocument/2006/relationships/slide" Target="/ppt/slides/slide6.xml" Id="R5d2d5be94cbc424a" /><Relationship Type="http://schemas.openxmlformats.org/officeDocument/2006/relationships/slide" Target="/ppt/slides/slide7.xml" Id="Ra2e5b8028bdc4c77" /><Relationship Type="http://schemas.openxmlformats.org/officeDocument/2006/relationships/slide" Target="/ppt/slides/slide8.xml" Id="Rfc42f97bf4e444cf" /><Relationship Type="http://schemas.openxmlformats.org/officeDocument/2006/relationships/slide" Target="/ppt/slides/slide9.xml" Id="R30aa4f5a2c6e4fdf" /><Relationship Type="http://schemas.openxmlformats.org/officeDocument/2006/relationships/slide" Target="/ppt/slides/slide10.xml" Id="Raea230634ec94e87" /><Relationship Type="http://schemas.openxmlformats.org/officeDocument/2006/relationships/slide" Target="/ppt/slides/slide11.xml" Id="R11cd89a36bf04c5b" /><Relationship Type="http://schemas.openxmlformats.org/officeDocument/2006/relationships/slide" Target="/ppt/slides/slide12.xml" Id="Rab7f1044918945a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d0be0c2590b477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cf9797a6a634ff9" /><Relationship Type="http://schemas.openxmlformats.org/officeDocument/2006/relationships/notesMaster" Target="/ppt/notesMasters/notesMaster1.xml" Id="Re31693ee3a9341d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ca5f2e915db415c" /><Relationship Type="http://schemas.openxmlformats.org/officeDocument/2006/relationships/notesMaster" Target="/ppt/notesMasters/notesMaster1.xml" Id="R9e3068af04ae4d7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0e23027c39e4666" /><Relationship Type="http://schemas.openxmlformats.org/officeDocument/2006/relationships/notesMaster" Target="/ppt/notesMasters/notesMaster1.xml" Id="R38bd9ffc62f5465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87d96dab7a64e9d" /><Relationship Type="http://schemas.openxmlformats.org/officeDocument/2006/relationships/notesMaster" Target="/ppt/notesMasters/notesMaster1.xml" Id="Re228ed39fe114c3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feb123d865f4aff" /><Relationship Type="http://schemas.openxmlformats.org/officeDocument/2006/relationships/notesMaster" Target="/ppt/notesMasters/notesMaster1.xml" Id="R52851f8080e2464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893dce8b2834a19" /><Relationship Type="http://schemas.openxmlformats.org/officeDocument/2006/relationships/notesMaster" Target="/ppt/notesMasters/notesMaster1.xml" Id="R41092dcf441b481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7a56873eb69439d" /><Relationship Type="http://schemas.openxmlformats.org/officeDocument/2006/relationships/notesMaster" Target="/ppt/notesMasters/notesMaster1.xml" Id="R1bbe6bfd5dd84e1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2678755b2e0408b" /><Relationship Type="http://schemas.openxmlformats.org/officeDocument/2006/relationships/notesMaster" Target="/ppt/notesMasters/notesMaster1.xml" Id="R6a660cc820af403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643baa428614b49" /><Relationship Type="http://schemas.openxmlformats.org/officeDocument/2006/relationships/notesMaster" Target="/ppt/notesMasters/notesMaster1.xml" Id="R5f4d42599d3047b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7105e58cc50468c" /><Relationship Type="http://schemas.openxmlformats.org/officeDocument/2006/relationships/notesMaster" Target="/ppt/notesMasters/notesMaster1.xml" Id="Re29d18f25bf14d4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935f6d79dc04513" /><Relationship Type="http://schemas.openxmlformats.org/officeDocument/2006/relationships/notesMaster" Target="/ppt/notesMasters/notesMaster1.xml" Id="R117dc41c51d2487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1e4a79f36f44194" /><Relationship Type="http://schemas.openxmlformats.org/officeDocument/2006/relationships/notesMaster" Target="/ppt/notesMasters/notesMaster1.xml" Id="R7f926c8936ad4bc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建议讲述时间：20秒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老师好，我汇报的题目是基于深度强化学习的QWOP运动控制与策略优化研究。项目从开源训练框架出发，围绕百米跑步和跳远，依次尝试奖励优化、探索和示范学习。我重点介绍方法、实验结果，以及哪些提升已经验证、哪些问题还没有解决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来源（不朗读）：</a:t>
            </a:r>
          </a:p>
          <a:p xmlns:a="http://schemas.openxmlformats.org/drawingml/2006/main">
            <a:r>
              <a:t>E:/Work/强化学习小项目/verification/project_report/report_front.md</a:t>
            </a:r>
          </a:p>
          <a:p xmlns:a="http://schemas.openxmlformats.org/drawingml/2006/main">
            <a:r>
              <a:t>https://github.com/LYiHub/QWOP_rl_training_public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建议讲述时间：45秒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QWOP用四个按键控制腿部运动，动作需要连续协调，错误容易导致摔倒。模型读取身体位置、角度、速度和脚接触等状态，而不是读取游戏画面，输出四个按键的组合。百米模式还有50米处的障碍，120秒上限，所以并非全程平跑。跳远包括30米助跑、起跳和落地，原生有效通关还要求走出沙坑。评价百米看正式完赛用时，评价跳远看最终落点距离，同时统计成功率。右边是原版游戏的示意图，不代表本项目成绩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来源（不朗读）：</a:t>
            </a:r>
          </a:p>
          <a:p xmlns:a="http://schemas.openxmlformats.org/drawingml/2006/main">
            <a:r>
              <a:t>E:/Work/强化学习小项目/verification/project_report/report_front.md 第3节</a:t>
            </a:r>
          </a:p>
          <a:p xmlns:a="http://schemas.openxmlformats.org/drawingml/2006/main">
            <a:r>
              <a:t>E:/Work/强化学习小项目/QWOP_rl_training_public/src/training_env.cpp</a:t>
            </a:r>
          </a:p>
          <a:p xmlns:a="http://schemas.openxmlformats.org/drawingml/2006/main">
            <a:r>
              <a:t>https://thecreativeindependent.com/people/bennett-foddy-on-the-pitfalls-of-perfectionism/</a:t>
            </a:r>
          </a:p>
          <a:p xmlns:a="http://schemas.openxmlformats.org/drawingml/2006/main">
            <a:r>
              <a:t>https://s3.amazonaws.com/tci-assets/uploads/bennett-pic.jpg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建议讲述时间：50秒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训练入口是train_ppo.py。每轮先根据配置创建并行环境，归一化观测并堆叠历史，Actor根据这些状态采样动作。Python封装通过pybind11调用C++环境，再调用物理DLL执行按键并读回状态、奖励与终止标志。我们把本轮交互存入rollout，计算优势，再按小批量更新Actor和Critic。更新后保存权重、优化器、配置和计数，独立执行模型评测，并导出动作回放。项目保留原有PPO、日志和保存架构，改进主要集中在奖励、观测处理和局部策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来源（不朗读）：</a:t>
            </a:r>
          </a:p>
          <a:p xmlns:a="http://schemas.openxmlformats.org/drawingml/2006/main">
            <a:r>
              <a:t>E:/Work/强化学习小项目/QWOP_rl_training_public/scripts/train_ppo.py</a:t>
            </a:r>
          </a:p>
          <a:p xmlns:a="http://schemas.openxmlformats.org/drawingml/2006/main">
            <a:r>
              <a:t>E:/Work/强化学习小项目/QWOP_rl_training_public/scripts/running_env.py</a:t>
            </a:r>
          </a:p>
          <a:p xmlns:a="http://schemas.openxmlformats.org/drawingml/2006/main">
            <a:r>
              <a:t>E:/Work/强化学习小项目/QWOP_rl_training_public/src/python_module.cpp</a:t>
            </a:r>
          </a:p>
          <a:p xmlns:a="http://schemas.openxmlformats.org/drawingml/2006/main">
            <a:r>
              <a:t>E:/Work/强化学习小项目/QWOP_rl_training_public/src/training_env.cpp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建议讲述时间：60秒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项目自行实现离散动作PPO，没有调用SAC或TD3。Actor输出按键概率，Critic预测未来回报。GAE结合当前奖励、下一状态价值和多步反馈，估计这个动作相对于预期好多少。PPO用新旧策略的概率比更新动作分布，裁剪机制会限制过度改变策略，减少一次更新破坏已有步态的风险。训练还使用熵奖励、Adam和梯度裁剪。本项目使用on-policy rollout，每轮采集新数据，不使用长期经验回放池。网络从128乘128的Tanh层扩展到256乘256，后期尝试独立Critic和32帧历史，也就是2176维输入。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来源（不朗读）：</a:t>
            </a:r>
          </a:p>
          <a:p xmlns:a="http://schemas.openxmlformats.org/drawingml/2006/main">
            <a:r>
              <a:t>E:/Work/强化学习小项目/QWOP_rl_training_public/scripts/train_ppo.py</a:t>
            </a:r>
          </a:p>
          <a:p xmlns:a="http://schemas.openxmlformats.org/drawingml/2006/main">
            <a:r>
              <a:t>https://arxiv.org/abs/1707.06347</a:t>
            </a:r>
          </a:p>
          <a:p xmlns:a="http://schemas.openxmlformats.org/drawingml/2006/main">
            <a:r>
              <a:t>https://arxiv.org/abs/1506.02438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建议讲述时间：50秒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首先完成Windows环境构建，确认观测和动作形状、reset、数值有限性，以及checkpoint保存和加载。原奖励续训约1049万条转移后，64次随机运行没有通关，平均前进35.59米。回放还暴露出低姿态前进的问题，原输入尺度使Tanh大量饱和。我们增加固定缩放、历史帧，使用躯干高度代理和脚支撑进度来减少持续低姿态。v3达到38次随机通关，确定性75.27秒。右图是这一轮自己的真实回合回报曲线，不能与更换奖励后的数值直接比较。后端没有膝盖碰撞标志，所以只能声称改善低姿态代理指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来源（不朗读）：</a:t>
            </a:r>
          </a:p>
          <a:p xmlns:a="http://schemas.openxmlformats.org/drawingml/2006/main">
            <a:r>
              <a:t>E:/Work/强化学习小项目/verification/baseline_report.md</a:t>
            </a:r>
          </a:p>
          <a:p xmlns:a="http://schemas.openxmlformats.org/drawingml/2006/main">
            <a:r>
              <a:t>E:/Work/强化学习小项目/verification/classic_training_report.md</a:t>
            </a:r>
          </a:p>
          <a:p xmlns:a="http://schemas.openxmlformats.org/drawingml/2006/main">
            <a:r>
              <a:t>E:/Work/强化学习小项目/verification/foot_running_training_report.md</a:t>
            </a:r>
          </a:p>
          <a:p xmlns:a="http://schemas.openxmlformats.org/drawingml/2006/main">
            <a:r>
              <a:t>E:/Work/强化学习小项目/verification/project_report/events_data.json：ppo_foot_running_v3/charts/episode_return_mean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建议讲述时间：55秒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随后加入姿态、近期速度、低速处罚和更早完赛反馈，并增加历史帧，让模型更容易识别运动阶段。纯PPO的已验证候选从75.27秒，改善到65.63秒、50.17秒，后期最好45.40秒。部分阶段还对Actor偏置做小幅参数搜索，保留49.97秒、44.97秒，最终44.93秒。搜索改变了网络权重，所以这些成绩必须与未经搜索的PPO快照区分。我们还尝试起步反馈、越栏恢复、独立Critic和较长信用分配，但没有完成43秒目标。这说明继续堆奖励项或训练步数，不一定能解决策略的局部最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来源（不朗读）：</a:t>
            </a:r>
          </a:p>
          <a:p xmlns:a="http://schemas.openxmlformats.org/drawingml/2006/main">
            <a:r>
              <a:t>E:/Work/强化学习小项目/verification/forward_lean_training_report.md</a:t>
            </a:r>
          </a:p>
          <a:p xmlns:a="http://schemas.openxmlformats.org/drawingml/2006/main">
            <a:r>
              <a:t>E:/Work/强化学习小项目/QWOP_rl_training_public/docs/under50-training.md</a:t>
            </a:r>
          </a:p>
          <a:p xmlns:a="http://schemas.openxmlformats.org/drawingml/2006/main">
            <a:r>
              <a:t>E:/Work/强化学习小项目/QWOP_rl_training_public/docs/under45-training.md</a:t>
            </a:r>
          </a:p>
          <a:p xmlns:a="http://schemas.openxmlformats.org/drawingml/2006/main">
            <a:r>
              <a:t>E:/Work/强化学习小项目/QWOP_rl_training_public/docs/bottleneck-followup-training.md</a:t>
            </a:r>
          </a:p>
          <a:p xmlns:a="http://schemas.openxmlformats.org/drawingml/2006/main">
            <a:r>
              <a:t>E:/Work/强化学习小项目/verification/project_report/report_front.md 第6.7节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建议讲述时间：55秒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逐帧诊断发现，44.97秒策略约6.9秒才到10米，50米障碍附近又有腾空和落地恢复损失。但更根本的问题来自奖励审计。将33.03秒专家轨迹和44.93秒旧策略在原生环境重放，旧奖励给慢策略1877分，却只给快示范1451分。专家大量动作不符合旧姿态门槛，使快轨迹错失额外奖励。改成正式成功与用时导向奖励后，快轨迹获得更高分。这个结果直接指出旧规则对这两条轨迹的目标冲突，也提醒我们，5度前倾、步频更高、上下更平稳，都应作为假设验证。两条轨迹不足以证明新奖励在所有状态下都最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来源（不朗读）：</a:t>
            </a:r>
          </a:p>
          <a:p xmlns:a="http://schemas.openxmlformats.org/drawingml/2006/main">
            <a:r>
              <a:t>E:/Work/强化学习小项目/verification/bottleneck_baseline_comparison.json</a:t>
            </a:r>
          </a:p>
          <a:p xmlns:a="http://schemas.openxmlformats.org/drawingml/2006/main">
            <a:r>
              <a:t>E:/Work/强化学习小项目/QWOP_rl_training_public/docs/shadow-imitation-pilot.md</a:t>
            </a:r>
          </a:p>
          <a:p xmlns:a="http://schemas.openxmlformats.org/drawingml/2006/main">
            <a:r>
              <a:t>E:/Work/强化学习小项目/QWOP_rl_training_public/src/reward_profiles.cpp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建议讲述时间：45秒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ND固定一个随机目标网络，训练预测器模仿它，预测误差越大表示状态相对新颖，并提供内在奖励。本次对照从同一个44.93秒Actor开始，两组各采集约1678万条转移。关闭RND时随机成功57次，开启后61次，成功平均用时也略有改善。但最好确定性保存点从46.80秒变成47.23秒，都没有超过原模型。因此，这次看到的是部分稳定性指标改善，不能把RND写成已经证明的提速方法。实验只有一个训练种子，仍需多种子和相同随机评测集验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来源（不朗读）：</a:t>
            </a:r>
          </a:p>
          <a:p xmlns:a="http://schemas.openxmlformats.org/drawingml/2006/main">
            <a:r>
              <a:t>E:/Work/强化学习小项目/QWOP_rl_training_public/docs/task-reward-rnd-experiment.md</a:t>
            </a:r>
          </a:p>
          <a:p xmlns:a="http://schemas.openxmlformats.org/drawingml/2006/main">
            <a:r>
              <a:t>E:/Work/强化学习小项目/QWOP_rl_training_public/scripts/train_ppo.py</a:t>
            </a:r>
          </a:p>
          <a:p xmlns:a="http://schemas.openxmlformats.org/drawingml/2006/main">
            <a:r>
              <a:t>https://arxiv.org/abs/1810.12894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建议讲述时间：65秒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自主探索速度受限后，我们使用网站公开冠军XYF的影子动作作为示范。先在原生环境执行这991帧动作，构建状态动作样本，再复用原Actor进行交叉熵训练。测试时网络读取当前观测自行选动作，没有按时间播放专家动作列表。epoch900的分类准确率已经99.899%，闭环仍在52米失败，epoch1000准确率100%后才复现33.03秒。这说明序列控制中很小的动作偏差也会累积。固定初始状态下16次都完成，但按原始概率随机采样的64次全部失败。降低采样温度筛出的33.13和33.17秒是不同真实回放，权重没变，也没有突破示范速度。我们需要训练偏离轨迹后的纠错能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来源（不朗读）：</a:t>
            </a:r>
          </a:p>
          <a:p xmlns:a="http://schemas.openxmlformats.org/drawingml/2006/main">
            <a:r>
              <a:t>E:/Work/强化学习小项目/QWOP_rl_training_public/docs/shadow-imitation-pilot.md</a:t>
            </a:r>
          </a:p>
          <a:p xmlns:a="http://schemas.openxmlformats.org/drawingml/2006/main">
            <a:r>
              <a:t>E:/Work/强化学习小项目/QWOP_rl_training_public/scripts/train_replay_imitation.py</a:t>
            </a:r>
          </a:p>
          <a:p xmlns:a="http://schemas.openxmlformats.org/drawingml/2006/main">
            <a:r>
              <a:t>E:/Work/强化学习小项目/verification/shadow_audit/imitation_pilot.json</a:t>
            </a:r>
          </a:p>
          <a:p xmlns:a="http://schemas.openxmlformats.org/drawingml/2006/main">
            <a:r>
              <a:t>E:/Work/强化学习小项目/verification/project_report/report_front.md 第6.10节</a:t>
            </a:r>
          </a:p>
          <a:p xmlns:a="http://schemas.openxmlformats.org/drawingml/2006/main">
            <a:r>
              <a:t>https://run.lyihub.com/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建议讲述时间：60秒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我们进一步把33秒跑步策略迁移到跳远。直接加载时很快摔倒，原因是百米和跳远虽然都为68维，但位置字段的原点和语义不同。通过第一层偏置校准输入原点后，前25米334帧动作和身体状态与百米一致。随后冻结助跑Actor和表征，只在起跳线附近训练动作调整层，同时使用独立Critic，继续沿用作者的跳远奖励。三轮训练后的确定性最好2.588米，2048次随机运行中最好3.161米，有1663次通关。独立64次评测51次成功，成功平均1.507米。最佳回放高于以前的2.802米，但两次搜索规模不同，确定性成绩仍未超过旧2.599米，稳定起跳还需要改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来源（不朗读）：</a:t>
            </a:r>
          </a:p>
          <a:p xmlns:a="http://schemas.openxmlformats.org/drawingml/2006/main">
            <a:r>
              <a:t>E:/Work/强化学习小项目/QWOP_rl_training_public/docs/long-jump-training.md</a:t>
            </a:r>
          </a:p>
          <a:p xmlns:a="http://schemas.openxmlformats.org/drawingml/2006/main">
            <a:r>
              <a:t>E:/Work/强化学习小项目/QWOP_rl_training_public/docs/long-jump-shadow-transfer.md</a:t>
            </a:r>
          </a:p>
          <a:p xmlns:a="http://schemas.openxmlformats.org/drawingml/2006/main">
            <a:r>
              <a:t>E:/Work/强化学习小项目/verification/long_jump_shadow_final_report.json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建议讲述时间：50秒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汇总结果时，需要按方法来源分开。纯PPO最好已验证45.40秒，加入Actor偏置搜索得到44.93秒。33.03秒是本地模型模仿公开外部专家的成果，不能说成自主PPO探索出冠军策略。跳远迁移的随机最佳提高到3.16米，但确定性没有超过旧结果。训练奖励、原生正式成绩、成功率和成功回合均值也需要分别报告。这里的固定初态确定性复跑验证了保存、加载和执行的一致性，没有验证不同初始姿态下的泛化。项目已经形成可加载模型、日志和回放的完整产物，下一步应把重点转向稳定控制与可重复评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来源（不朗读）：</a:t>
            </a:r>
          </a:p>
          <a:p xmlns:a="http://schemas.openxmlformats.org/drawingml/2006/main">
            <a:r>
              <a:t>E:/Work/强化学习小项目/verification/project_report/report_front.md 第1、7、8节</a:t>
            </a:r>
          </a:p>
          <a:p xmlns:a="http://schemas.openxmlformats.org/drawingml/2006/main">
            <a:r>
              <a:t>E:/Work/强化学习小项目/verification/long_jump_shadow_final_report.json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建议讲述时间：45秒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后续首先建立统一评测协议，固定随机种子和测试条件，报告成功率、成功均值、分位数和最佳值，再加入初始状态扰动与多训练种子。策略方面，可以在行为克隆约束下小步PPO微调，通过受控扰动收集偏离轨迹后的状态，逐步训练纠错，防止破坏已学助跑。跳远继续按正式落点和有效通关选模，集中优化起跳时机。这些都是计划，尚未作为新结果验证。本项目的主要收获是跑通并保留训练架构，用真实回放发现奖励冲突，并验证了示范学习和跨任务迁移的价值与局限。谢谢老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来源（不朗读）：</a:t>
            </a:r>
          </a:p>
          <a:p xmlns:a="http://schemas.openxmlformats.org/drawingml/2006/main">
            <a:r>
              <a:t>E:/Work/强化学习小项目/verification/project_report/report_front.md 第9节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17c4330ebf146f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ee7e3fa26fd4a0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843553b7ba644f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2be28844aa6445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1991632bf14471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e172e3770d5482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EC3572D-8071-4145-BBA9-7F3A165FFD2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17E5749E-BF0F-4D7A-9D1E-FA38DC30C93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12FB5ACC-1FDB-4CEE-8189-268EF50D3C0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25800AF-9244-4092-8633-718A57DE8A4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2098690C-C01A-4D75-B278-C8091D435F6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88686E1-0962-4816-8FB4-3DB24F1FD7E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24B7D0A-40FA-4BE9-ACD9-7B45DA2E5DE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FA530C36-B9DD-4B21-84B1-F9BAA2A8704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C2DC014-2FF3-4D3E-825C-83587023DCA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B052738-1485-4907-AD15-63D77E96935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4a961620a064f52" /><Relationship Type="http://schemas.openxmlformats.org/officeDocument/2006/relationships/slideLayout" Target="/ppt/slideLayouts/slideLayout1.xml" Id="R9bc006834f7144c5" /><Relationship Type="http://schemas.openxmlformats.org/officeDocument/2006/relationships/slideLayout" Target="/ppt/slideLayouts/slideLayout2.xml" Id="Reb12371bd50343be" /><Relationship Type="http://schemas.openxmlformats.org/officeDocument/2006/relationships/slideLayout" Target="/ppt/slideLayouts/slideLayout3.xml" Id="R2ba0e002a09a4c2f" /><Relationship Type="http://schemas.openxmlformats.org/officeDocument/2006/relationships/slideLayout" Target="/ppt/slideLayouts/slideLayout4.xml" Id="R2b5aabaa6f6c4875" /><Relationship Type="http://schemas.openxmlformats.org/officeDocument/2006/relationships/slideLayout" Target="/ppt/slideLayouts/slideLayout5.xml" Id="R4d936df743ff4293" /><Relationship Type="http://schemas.openxmlformats.org/officeDocument/2006/relationships/slideLayout" Target="/ppt/slideLayouts/slideLayout6.xml" Id="R3ac190cd2d6f4c4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bc006834f7144c5"/>
    <p:sldLayoutId xmlns:r="http://schemas.openxmlformats.org/officeDocument/2006/relationships" id="2147483650" r:id="Reb12371bd50343be"/>
    <p:sldLayoutId xmlns:r="http://schemas.openxmlformats.org/officeDocument/2006/relationships" id="2147483651" r:id="R2ba0e002a09a4c2f"/>
    <p:sldLayoutId xmlns:r="http://schemas.openxmlformats.org/officeDocument/2006/relationships" id="2147483652" r:id="R2b5aabaa6f6c4875"/>
    <p:sldLayoutId xmlns:r="http://schemas.openxmlformats.org/officeDocument/2006/relationships" id="2147483653" r:id="R4d936df743ff4293"/>
    <p:sldLayoutId xmlns:r="http://schemas.openxmlformats.org/officeDocument/2006/relationships" id="2147483654" r:id="R3ac190cd2d6f4c4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cc8e44ed69e46cf" /><Relationship Type="http://schemas.openxmlformats.org/officeDocument/2006/relationships/notesSlide" Target="/ppt/notesSlides/notesSlide1.xml" Id="Rb6cd10918b924aa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e25d486a5eb4be1" /><Relationship Type="http://schemas.openxmlformats.org/officeDocument/2006/relationships/image" Target="/ppt/media/image.jpeg" Id="R83c021e432444487" /><Relationship Type="http://schemas.openxmlformats.org/officeDocument/2006/relationships/notesSlide" Target="/ppt/notesSlides/notesSlide2.xml" Id="Rff5c13060246408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8bfd95e7d42446f" /><Relationship Type="http://schemas.openxmlformats.org/officeDocument/2006/relationships/notesSlide" Target="/ppt/notesSlides/notesSlide3.xml" Id="Ra51ec37895a34cc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95d44270b8f4b76" /><Relationship Type="http://schemas.openxmlformats.org/officeDocument/2006/relationships/notesSlide" Target="/ppt/notesSlides/notesSlide4.xml" Id="R95b640c6a8ef475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384b848e158428e" /><Relationship Type="http://schemas.openxmlformats.org/officeDocument/2006/relationships/chart" Target="/ppt/slides/charts/chart1.xml" Id="Rc79b40203e7a428a" /><Relationship Type="http://schemas.openxmlformats.org/officeDocument/2006/relationships/notesSlide" Target="/ppt/notesSlides/notesSlide5.xml" Id="R5628a2ee4652410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c5f8aa799aa416e" /><Relationship Type="http://schemas.openxmlformats.org/officeDocument/2006/relationships/chart" Target="/ppt/slides/charts/chart2.xml" Id="R3218a647f2294f9b" /><Relationship Type="http://schemas.openxmlformats.org/officeDocument/2006/relationships/notesSlide" Target="/ppt/notesSlides/notesSlide6.xml" Id="R3f7b1f267e044c5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9edd0e248a247ae" /><Relationship Type="http://schemas.openxmlformats.org/officeDocument/2006/relationships/chart" Target="/ppt/slides/charts/chart3.xml" Id="R9b8794a6cfc7496e" /><Relationship Type="http://schemas.openxmlformats.org/officeDocument/2006/relationships/chart" Target="/ppt/slides/charts/chart4.xml" Id="R72633ce57fbe493c" /><Relationship Type="http://schemas.openxmlformats.org/officeDocument/2006/relationships/notesSlide" Target="/ppt/notesSlides/notesSlide7.xml" Id="R9bae7fc6b9cd443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7cf766fc1fd4f72" /><Relationship Type="http://schemas.openxmlformats.org/officeDocument/2006/relationships/notesSlide" Target="/ppt/notesSlides/notesSlide8.xml" Id="Rbd2856e6759145a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a8608d4eb554a0f" /><Relationship Type="http://schemas.openxmlformats.org/officeDocument/2006/relationships/notesSlide" Target="/ppt/notesSlides/notesSlide9.xml" Id="R95f5e9074f514fc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d3b1b065abd48b3" /><Relationship Type="http://schemas.openxmlformats.org/officeDocument/2006/relationships/notesSlide" Target="/ppt/notesSlides/notesSlide10.xml" Id="R0056e78a5d1341a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114b4baa8bf44fd" /><Relationship Type="http://schemas.openxmlformats.org/officeDocument/2006/relationships/notesSlide" Target="/ppt/notesSlides/notesSlide11.xml" Id="R4f08191c94524fd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0f66998fd4a4850" /><Relationship Type="http://schemas.openxmlformats.org/officeDocument/2006/relationships/notesSlide" Target="/ppt/notesSlides/notesSlide12.xml" Id="Rb0858395025c4c43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"/>
        <c:varyColors val="0"/>
        <c:ser>
          <c:idx val="0"/>
          <c:order val="0"/>
          <c:tx>
            <c:v>20点滚动均值</c:v>
          </c:tx>
          <c:spPr>
            <a:ln xmlns:a="http://schemas.openxmlformats.org/drawingml/2006/main" w="28575">
              <a:solidFill>
                <a:srgbClr val="078578"/>
              </a:solidFill>
            </a:ln>
          </c:spPr>
          <c:marker>
            <c:symbol val="none"/>
          </c:marker>
          <c:xVal>
            <c:numRef>
              <c:f>'Chart Data'!$A$2:$A$32</c:f>
              <c:numCache>
                <c:formatCode>General</c:formatCode>
                <c:ptCount val="31"/>
                <c:pt idx="0">
                  <c:v>1</c:v>
                </c:pt>
                <c:pt idx="1">
                  <c:v>29</c:v>
                </c:pt>
                <c:pt idx="2">
                  <c:v>53</c:v>
                </c:pt>
                <c:pt idx="3">
                  <c:v>75</c:v>
                </c:pt>
                <c:pt idx="4">
                  <c:v>95</c:v>
                </c:pt>
                <c:pt idx="5">
                  <c:v>115</c:v>
                </c:pt>
                <c:pt idx="6">
                  <c:v>132</c:v>
                </c:pt>
                <c:pt idx="7">
                  <c:v>148</c:v>
                </c:pt>
                <c:pt idx="8">
                  <c:v>164</c:v>
                </c:pt>
                <c:pt idx="9">
                  <c:v>180</c:v>
                </c:pt>
                <c:pt idx="10">
                  <c:v>196</c:v>
                </c:pt>
                <c:pt idx="11">
                  <c:v>212</c:v>
                </c:pt>
                <c:pt idx="12">
                  <c:v>228</c:v>
                </c:pt>
                <c:pt idx="13">
                  <c:v>244</c:v>
                </c:pt>
                <c:pt idx="14">
                  <c:v>260</c:v>
                </c:pt>
                <c:pt idx="15">
                  <c:v>276</c:v>
                </c:pt>
                <c:pt idx="16">
                  <c:v>292</c:v>
                </c:pt>
                <c:pt idx="17">
                  <c:v>308</c:v>
                </c:pt>
                <c:pt idx="18">
                  <c:v>324</c:v>
                </c:pt>
                <c:pt idx="19">
                  <c:v>340</c:v>
                </c:pt>
                <c:pt idx="20">
                  <c:v>356</c:v>
                </c:pt>
                <c:pt idx="21">
                  <c:v>372</c:v>
                </c:pt>
                <c:pt idx="22">
                  <c:v>388</c:v>
                </c:pt>
                <c:pt idx="23">
                  <c:v>404</c:v>
                </c:pt>
                <c:pt idx="24">
                  <c:v>420</c:v>
                </c:pt>
                <c:pt idx="25">
                  <c:v>436</c:v>
                </c:pt>
                <c:pt idx="26">
                  <c:v>452</c:v>
                </c:pt>
                <c:pt idx="27">
                  <c:v>468</c:v>
                </c:pt>
                <c:pt idx="28">
                  <c:v>484</c:v>
                </c:pt>
                <c:pt idx="29">
                  <c:v>500</c:v>
                </c:pt>
                <c:pt idx="30">
                  <c:v>512</c:v>
                </c:pt>
              </c:numCache>
            </c:numRef>
          </c:xVal>
          <c:yVal>
            <c:numRef>
              <c:f>'Chart Data'!$B$2:$B$32</c:f>
              <c:numCache>
                <c:formatCode>General</c:formatCode>
                <c:ptCount val="31"/>
                <c:pt idx="0">
                  <c:v>-9.695274</c:v>
                </c:pt>
                <c:pt idx="1">
                  <c:v>-21.875286</c:v>
                </c:pt>
                <c:pt idx="2">
                  <c:v>-36.214269</c:v>
                </c:pt>
                <c:pt idx="3">
                  <c:v>-40.187376</c:v>
                </c:pt>
                <c:pt idx="4">
                  <c:v>-45.733682</c:v>
                </c:pt>
                <c:pt idx="5">
                  <c:v>-45.529882</c:v>
                </c:pt>
                <c:pt idx="6">
                  <c:v>-46.180762</c:v>
                </c:pt>
                <c:pt idx="7">
                  <c:v>-45.758357</c:v>
                </c:pt>
                <c:pt idx="8">
                  <c:v>-52.054057</c:v>
                </c:pt>
                <c:pt idx="9">
                  <c:v>-51.22803</c:v>
                </c:pt>
                <c:pt idx="10">
                  <c:v>-50.068916</c:v>
                </c:pt>
                <c:pt idx="11">
                  <c:v>-39.284856</c:v>
                </c:pt>
                <c:pt idx="12">
                  <c:v>-32.483026</c:v>
                </c:pt>
                <c:pt idx="13">
                  <c:v>-24.145295</c:v>
                </c:pt>
                <c:pt idx="14">
                  <c:v>-18.459542</c:v>
                </c:pt>
                <c:pt idx="15">
                  <c:v>-13.29619</c:v>
                </c:pt>
                <c:pt idx="16">
                  <c:v>-6.712887</c:v>
                </c:pt>
                <c:pt idx="17">
                  <c:v>-0.736854</c:v>
                </c:pt>
                <c:pt idx="18">
                  <c:v>5.783727</c:v>
                </c:pt>
                <c:pt idx="19">
                  <c:v>9.085267</c:v>
                </c:pt>
                <c:pt idx="20">
                  <c:v>11.104045</c:v>
                </c:pt>
                <c:pt idx="21">
                  <c:v>21.708608</c:v>
                </c:pt>
                <c:pt idx="22">
                  <c:v>59.273752</c:v>
                </c:pt>
                <c:pt idx="23">
                  <c:v>92.058312</c:v>
                </c:pt>
                <c:pt idx="24">
                  <c:v>119.338353</c:v>
                </c:pt>
                <c:pt idx="25">
                  <c:v>128.566722</c:v>
                </c:pt>
                <c:pt idx="26">
                  <c:v>135.245484</c:v>
                </c:pt>
                <c:pt idx="27">
                  <c:v>135.681198</c:v>
                </c:pt>
                <c:pt idx="28">
                  <c:v>134.833582</c:v>
                </c:pt>
                <c:pt idx="29">
                  <c:v>138.191203</c:v>
                </c:pt>
                <c:pt idx="30">
                  <c:v>142.410228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200"/>
          <c:min val="-10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E1E8"/>
              </a:solidFill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esAt val="-100"/>
        <c:majorUnit val="100"/>
      </c:valAx>
      <c:valAx>
        <c:axId val="48650112"/>
        <c:scaling>
          <c:orientation val="minMax"/>
          <c:max val="512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425">
                    <a:solidFill>
                      <a:srgbClr val="556578"/>
                    </a:solidFill>
                    <a:latin typeface="Microsoft YaHei"/>
                    <a:ea typeface="Microsoft YaHei"/>
                    <a:cs typeface="Microsoft YaHei"/>
                  </a:rPr>
                  <a:t>训练更新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425">
                  <a:solidFill>
                    <a:srgbClr val="556578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D9E1E8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  <c:majorUnit val="128"/>
      </c:valAx>
      <c:spPr>
        <a:solidFill xmlns:a="http://schemas.openxmlformats.org/drawingml/2006/main">
          <a:srgbClr val="FAFBFC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AFBFC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原生百米用时</c:v>
          </c:tx>
          <c:spPr>
            <a:solidFill xmlns:a="http://schemas.openxmlformats.org/drawingml/2006/main">
              <a:srgbClr val="225B85"/>
            </a:solidFill>
          </c:spPr>
          <c:invertIfNegative val="0"/>
          <c:dPt>
            <c:idx val="3"/>
            <c:invertIfNegative val="0"/>
            <c:spPr>
              <a:solidFill xmlns:a="http://schemas.openxmlformats.org/drawingml/2006/main">
                <a:srgbClr val="078578"/>
              </a:solidFill>
            </c:spPr>
          </c:dPt>
          <c:cat>
            <c:strRef>
              <c:f>'Chart Data'!$A$2:$A$5</c:f>
              <c:strCache>
                <c:ptCount val="4"/>
                <c:pt idx="0">
                  <c:v>低姿态优化</c:v>
                </c:pt>
                <c:pt idx="1">
                  <c:v>姿态与速度</c:v>
                </c:pt>
                <c:pt idx="2">
                  <c:v>50秒阶段</c:v>
                </c:pt>
                <c:pt idx="3">
                  <c:v>起步与探索</c:v>
                </c:pt>
              </c:strCache>
            </c:strRef>
          </c:cat>
          <c:val>
            <c:numRef>
              <c:f>'Chart Data'!$B$2:$B$5</c:f>
              <c:numCache>
                <c:formatCode>General</c:formatCode>
                <c:ptCount val="4"/>
                <c:pt idx="0">
                  <c:v>75.27</c:v>
                </c:pt>
                <c:pt idx="1">
                  <c:v>65.63</c:v>
                </c:pt>
                <c:pt idx="2">
                  <c:v>50.17</c:v>
                </c:pt>
                <c:pt idx="3">
                  <c:v>45.4</c:v>
                </c:pt>
              </c:numCache>
            </c:numRef>
          </c:val>
        </c:ser>
        <c:dLbls>
          <c:delete val="0"/>
          <c:numFmt formatCode="0.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 b="1">
                  <a:solidFill>
                    <a:srgbClr val="16243A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E1E8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8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E1E8"/>
              </a:solidFill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20"/>
      </c:valAx>
      <c:spPr>
        <a:solidFill xmlns:a="http://schemas.openxmlformats.org/drawingml/2006/main">
          <a:srgbClr val="FAFBFC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AFBFC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varyColors val="0"/>
        <c:ser>
          <c:idx val="0"/>
          <c:order val="0"/>
          <c:tx>
            <c:v>累计回报</c:v>
          </c:tx>
          <c:spPr>
            <a:solidFill xmlns:a="http://schemas.openxmlformats.org/drawingml/2006/main">
              <a:srgbClr val="225B85"/>
            </a:solidFill>
          </c:spPr>
          <c:invertIfNegative val="0"/>
          <c:dPt>
            <c:idx val="0"/>
            <c:invertIfNegative val="0"/>
            <c:spPr>
              <a:solidFill xmlns:a="http://schemas.openxmlformats.org/drawingml/2006/main">
                <a:srgbClr val="078578"/>
              </a:solidFill>
            </c:spPr>
          </c:dPt>
          <c:cat>
            <c:strRef>
              <c:f>'Chart Data'!$A$2:$A$3</c:f>
              <c:strCache>
                <c:ptCount val="2"/>
                <c:pt idx="0">
                  <c:v>33.03秒示范</c:v>
                </c:pt>
                <c:pt idx="1">
                  <c:v>44.93秒策略</c:v>
                </c:pt>
              </c:strCache>
            </c:strRef>
          </c:cat>
          <c:val>
            <c:numRef>
              <c:f>'Chart Data'!$B$2:$B$3</c:f>
              <c:numCache>
                <c:formatCode>General</c:formatCode>
                <c:ptCount val="2"/>
                <c:pt idx="0">
                  <c:v>1450.95</c:v>
                </c:pt>
                <c:pt idx="1">
                  <c:v>1877.42</c:v>
                </c:pt>
              </c:numCache>
            </c:numRef>
          </c:val>
        </c:ser>
        <c:dLbls>
          <c:delete val="0"/>
          <c:numFmt formatCode="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75" b="1">
                  <a:solidFill>
                    <a:srgbClr val="16243A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2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E1E8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26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E1E8"/>
              </a:solidFill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1000"/>
      </c:valAx>
      <c:spPr>
        <a:solidFill xmlns:a="http://schemas.openxmlformats.org/drawingml/2006/main">
          <a:srgbClr val="FAFBFC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AFBFC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4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varyColors val="0"/>
        <c:ser>
          <c:idx val="0"/>
          <c:order val="0"/>
          <c:tx>
            <c:v>累计回报</c:v>
          </c:tx>
          <c:spPr>
            <a:solidFill xmlns:a="http://schemas.openxmlformats.org/drawingml/2006/main">
              <a:srgbClr val="225B85"/>
            </a:solidFill>
          </c:spPr>
          <c:invertIfNegative val="0"/>
          <c:dPt>
            <c:idx val="0"/>
            <c:invertIfNegative val="0"/>
            <c:spPr>
              <a:solidFill xmlns:a="http://schemas.openxmlformats.org/drawingml/2006/main">
                <a:srgbClr val="078578"/>
              </a:solidFill>
            </c:spPr>
          </c:dPt>
          <c:cat>
            <c:strRef>
              <c:f>'Chart Data'!$A$2:$A$3</c:f>
              <c:strCache>
                <c:ptCount val="2"/>
                <c:pt idx="0">
                  <c:v>33.03秒示范</c:v>
                </c:pt>
                <c:pt idx="1">
                  <c:v>44.93秒策略</c:v>
                </c:pt>
              </c:strCache>
            </c:strRef>
          </c:cat>
          <c:val>
            <c:numRef>
              <c:f>'Chart Data'!$B$2:$B$3</c:f>
              <c:numCache>
                <c:formatCode>General</c:formatCode>
                <c:ptCount val="2"/>
                <c:pt idx="0">
                  <c:v>2300.67</c:v>
                </c:pt>
                <c:pt idx="1">
                  <c:v>2055.8</c:v>
                </c:pt>
              </c:numCache>
            </c:numRef>
          </c:val>
        </c:ser>
        <c:dLbls>
          <c:delete val="0"/>
          <c:numFmt formatCode="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75" b="1">
                  <a:solidFill>
                    <a:srgbClr val="16243A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2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E1E8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26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E1E8"/>
              </a:solidFill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1000"/>
      </c:valAx>
      <c:spPr>
        <a:solidFill xmlns:a="http://schemas.openxmlformats.org/drawingml/2006/main">
          <a:srgbClr val="FAFBFC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AFBFC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page-number">
            <a:extLst xmlns:a="http://schemas.openxmlformats.org/drawingml/2006/main">
              <a:ext uri="{FF2B5EF4-FFF2-40B4-BE49-F238E27FC236}">
                <a16:creationId xmlns:a16="http://schemas.microsoft.com/office/drawing/2014/main" id="{81C9099D-C67F-403B-8306-DD4D8C8C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91275"/>
            <a:ext cx="428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135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0308BE2A-E5A1-4671-9387-3D3C5527A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108204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350" b="1">
                <a:solidFill>
                  <a:srgbClr val="225B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4350" b="1">
                <a:solidFill>
                  <a:srgbClr val="225B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225B85"/>
                </a:solidFill>
                <a:latin typeface="Microsoft YaHei"/>
                <a:ea typeface="Microsoft YaHei"/>
                <a:cs typeface="Microsoft YaHei"/>
              </a:rPr>
              <a:t>基于深度强化学习的</a:t>
            </a:r>
          </a:p>
        </p:txBody>
      </p:sp>
      <p:sp>
        <p:nvSpPr>
          <p:cNvPr id="3" name="text-3">
            <a:extLst xmlns:a="http://schemas.openxmlformats.org/drawingml/2006/main">
              <a:ext uri="{FF2B5EF4-FFF2-40B4-BE49-F238E27FC236}">
                <a16:creationId xmlns:a16="http://schemas.microsoft.com/office/drawing/2014/main" id="{7724C5B6-B0D6-485A-B127-126E5F176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2675"/>
            <a:ext cx="108204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510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510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10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rPr>
              <a:t>QWOP 运动控制</a:t>
            </a:r>
          </a:p>
        </p:txBody>
      </p:sp>
      <p:sp>
        <p:nvSpPr>
          <p:cNvPr id="4" name="text-4">
            <a:extLst xmlns:a="http://schemas.openxmlformats.org/drawingml/2006/main">
              <a:ext uri="{FF2B5EF4-FFF2-40B4-BE49-F238E27FC236}">
                <a16:creationId xmlns:a16="http://schemas.microsoft.com/office/drawing/2014/main" id="{1FDDC9DC-1E62-4504-9564-D3DF4C260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76600"/>
            <a:ext cx="108204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510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510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10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rPr>
              <a:t>与策略优化研究</a:t>
            </a:r>
          </a:p>
        </p:txBody>
      </p:sp>
      <p:sp>
        <p:nvSpPr>
          <p:cNvPr id="5" name="text-5">
            <a:extLst xmlns:a="http://schemas.openxmlformats.org/drawingml/2006/main">
              <a:ext uri="{FF2B5EF4-FFF2-40B4-BE49-F238E27FC236}">
                <a16:creationId xmlns:a16="http://schemas.microsoft.com/office/drawing/2014/main" id="{1921E04A-EFD3-49D5-8E78-8F5C8F652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524375"/>
            <a:ext cx="990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25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rPr>
              <a:t>百米提速与跳远迁移</a:t>
            </a:r>
          </a:p>
        </p:txBody>
      </p:sp>
      <p:sp>
        <p:nvSpPr>
          <p:cNvPr id="6" name="text-6">
            <a:extLst xmlns:a="http://schemas.openxmlformats.org/drawingml/2006/main">
              <a:ext uri="{FF2B5EF4-FFF2-40B4-BE49-F238E27FC236}">
                <a16:creationId xmlns:a16="http://schemas.microsoft.com/office/drawing/2014/main" id="{D6BD30D6-F058-4D6E-8481-DE6511DB0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676900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25B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950" b="0">
                <a:solidFill>
                  <a:srgbClr val="225B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25B85"/>
                </a:solidFill>
                <a:latin typeface="Microsoft YaHei"/>
                <a:ea typeface="Microsoft YaHei"/>
                <a:cs typeface="Microsoft YaHei"/>
              </a:rPr>
              <a:t>Lionel_Zhao  ·  课堂项目汇报</a:t>
            </a:r>
          </a:p>
        </p:txBody>
      </p:sp>
    </p:spTree>
    <p:extLst>
      <p:ext uri="{BB962C8B-B14F-4D97-AF65-F5344CB8AC3E}">
        <p14:creationId xmlns:p14="http://schemas.microsoft.com/office/powerpoint/2010/main" val="58625964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0C7242E-A89A-4A9F-A7B2-E9DC0989F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rPr>
              <a:t>研究任务：从按键到稳定运动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2AD383C7-FF48-411C-8E44-BBD92C65D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91275"/>
            <a:ext cx="428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135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3" name="text-3">
            <a:extLst xmlns:a="http://schemas.openxmlformats.org/drawingml/2006/main">
              <a:ext uri="{FF2B5EF4-FFF2-40B4-BE49-F238E27FC236}">
                <a16:creationId xmlns:a16="http://schemas.microsoft.com/office/drawing/2014/main" id="{0A491BD9-7059-4139-AD13-BD29CB3DB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0"/>
            <a:ext cx="419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4" name="text-4">
            <a:extLst xmlns:a="http://schemas.openxmlformats.org/drawingml/2006/main">
              <a:ext uri="{FF2B5EF4-FFF2-40B4-BE49-F238E27FC236}">
                <a16:creationId xmlns:a16="http://schemas.microsoft.com/office/drawing/2014/main" id="{760A1250-EE4D-4A3A-AB6B-F5DBDD43C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885950"/>
            <a:ext cx="39243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950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rPr>
              <a:t>观测：68维身体与任务状态</a:t>
            </a:r>
          </a:p>
        </p:txBody>
      </p:sp>
      <p:sp>
        <p:nvSpPr>
          <p:cNvPr id="5" name="text-5">
            <a:extLst xmlns:a="http://schemas.openxmlformats.org/drawingml/2006/main">
              <a:ext uri="{FF2B5EF4-FFF2-40B4-BE49-F238E27FC236}">
                <a16:creationId xmlns:a16="http://schemas.microsoft.com/office/drawing/2014/main" id="{FB5AED80-9754-406F-AAC4-BD2ED782E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86075"/>
            <a:ext cx="419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6" name="text-6">
            <a:extLst xmlns:a="http://schemas.openxmlformats.org/drawingml/2006/main">
              <a:ext uri="{FF2B5EF4-FFF2-40B4-BE49-F238E27FC236}">
                <a16:creationId xmlns:a16="http://schemas.microsoft.com/office/drawing/2014/main" id="{7F2E2384-8FA9-45EA-84D6-A3BD4FAE9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867025"/>
            <a:ext cx="39243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950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rPr>
              <a:t>动作：四键组合，共16类</a:t>
            </a:r>
          </a:p>
        </p:txBody>
      </p:sp>
      <p:sp>
        <p:nvSpPr>
          <p:cNvPr id="7" name="text-7">
            <a:extLst xmlns:a="http://schemas.openxmlformats.org/drawingml/2006/main">
              <a:ext uri="{FF2B5EF4-FFF2-40B4-BE49-F238E27FC236}">
                <a16:creationId xmlns:a16="http://schemas.microsoft.com/office/drawing/2014/main" id="{60693800-FA6D-4019-8B40-4AFC15CE7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67150"/>
            <a:ext cx="419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8" name="text-8">
            <a:extLst xmlns:a="http://schemas.openxmlformats.org/drawingml/2006/main">
              <a:ext uri="{FF2B5EF4-FFF2-40B4-BE49-F238E27FC236}">
                <a16:creationId xmlns:a16="http://schemas.microsoft.com/office/drawing/2014/main" id="{B79915E2-05A8-4507-A84B-CB9EA45E8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848100"/>
            <a:ext cx="39243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950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rPr>
              <a:t>百米：成功完赛，用时越少越好</a:t>
            </a:r>
          </a:p>
        </p:txBody>
      </p:sp>
      <p:sp>
        <p:nvSpPr>
          <p:cNvPr id="9" name="text-9">
            <a:extLst xmlns:a="http://schemas.openxmlformats.org/drawingml/2006/main">
              <a:ext uri="{FF2B5EF4-FFF2-40B4-BE49-F238E27FC236}">
                <a16:creationId xmlns:a16="http://schemas.microsoft.com/office/drawing/2014/main" id="{8FBB0F62-CDF9-4089-92A1-339196471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48225"/>
            <a:ext cx="419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0" name="text-10">
            <a:extLst xmlns:a="http://schemas.openxmlformats.org/drawingml/2006/main">
              <a:ext uri="{FF2B5EF4-FFF2-40B4-BE49-F238E27FC236}">
                <a16:creationId xmlns:a16="http://schemas.microsoft.com/office/drawing/2014/main" id="{5BD30187-6786-4A01-8D1B-107CF39AD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829175"/>
            <a:ext cx="39243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950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rPr>
              <a:t>跳远：有效落点，距离越大越好</a:t>
            </a:r>
          </a:p>
        </p:txBody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FD1C3E-361C-4379-B105-9B3CB0C558E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c021e432444487"/>
          <a:stretch xmlns:a="http://schemas.openxmlformats.org/drawingml/2006/main"/>
        </p:blipFill>
        <p:spPr>
          <a:xfrm xmlns:a="http://schemas.openxmlformats.org/drawingml/2006/main">
            <a:off x="5334966" y="1762125"/>
            <a:ext cx="6170269" cy="3857625"/>
          </a:xfrm>
          <a:prstGeom xmlns:a="http://schemas.openxmlformats.org/drawingml/2006/main" prst="rect">
            <a:avLst/>
          </a:prstGeom>
        </p:spPr>
      </p:pic>
      <p:sp>
        <p:nvSpPr>
          <p:cNvPr id="12" name="text-11">
            <a:extLst xmlns:a="http://schemas.openxmlformats.org/drawingml/2006/main">
              <a:ext uri="{FF2B5EF4-FFF2-40B4-BE49-F238E27FC236}">
                <a16:creationId xmlns:a16="http://schemas.microsoft.com/office/drawing/2014/main" id="{91EA6EA2-DCD8-47F6-BF7A-5805A26D7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5810250"/>
            <a:ext cx="61531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rPr>
              <a:t>原版 QWOP 画面示意（非本项目成绩截图）</a:t>
            </a:r>
          </a:p>
        </p:txBody>
      </p:sp>
    </p:spTree>
    <p:extLst>
      <p:ext uri="{BB962C8B-B14F-4D97-AF65-F5344CB8AC3E}">
        <p14:creationId xmlns:p14="http://schemas.microsoft.com/office/powerpoint/2010/main" val="115757678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B4A16B4-73D0-40B6-A3C9-09E4F963E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rPr>
              <a:t>系统架构与训练闭环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CDA76E55-C055-4BD9-B141-C5D48C637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91275"/>
            <a:ext cx="428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135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3" name="text-3">
            <a:extLst xmlns:a="http://schemas.openxmlformats.org/drawingml/2006/main">
              <a:ext uri="{FF2B5EF4-FFF2-40B4-BE49-F238E27FC236}">
                <a16:creationId xmlns:a16="http://schemas.microsoft.com/office/drawing/2014/main" id="{C9AF830D-9C87-4041-9B80-2A8277F5A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90725"/>
            <a:ext cx="2095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4" name="text-4">
            <a:extLst xmlns:a="http://schemas.openxmlformats.org/drawingml/2006/main">
              <a:ext uri="{FF2B5EF4-FFF2-40B4-BE49-F238E27FC236}">
                <a16:creationId xmlns:a16="http://schemas.microsoft.com/office/drawing/2014/main" id="{FF9A1995-3B99-4E39-B558-9989AAA63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00350"/>
            <a:ext cx="23336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40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rPr>
              <a:t>状态处理</a:t>
            </a:r>
          </a:p>
        </p:txBody>
      </p:sp>
      <p:sp>
        <p:nvSpPr>
          <p:cNvPr id="5" name="text-5">
            <a:extLst xmlns:a="http://schemas.openxmlformats.org/drawingml/2006/main">
              <a:ext uri="{FF2B5EF4-FFF2-40B4-BE49-F238E27FC236}">
                <a16:creationId xmlns:a16="http://schemas.microsoft.com/office/drawing/2014/main" id="{7244A498-3AD8-4C13-AB52-ACD40279B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76625"/>
            <a:ext cx="23812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rPr>
              <a:t>固定缩放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rPr>
              <a:t>历史堆帧</a:t>
            </a:r>
          </a:p>
        </p:txBody>
      </p:sp>
      <p:sp>
        <p:nvSpPr>
          <p:cNvPr id="6" name="text-6">
            <a:extLst xmlns:a="http://schemas.openxmlformats.org/drawingml/2006/main">
              <a:ext uri="{FF2B5EF4-FFF2-40B4-BE49-F238E27FC236}">
                <a16:creationId xmlns:a16="http://schemas.microsoft.com/office/drawing/2014/main" id="{0ED66F16-DB02-4CC1-992F-895C55866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1990725"/>
            <a:ext cx="2095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7" name="text-7">
            <a:extLst xmlns:a="http://schemas.openxmlformats.org/drawingml/2006/main">
              <a:ext uri="{FF2B5EF4-FFF2-40B4-BE49-F238E27FC236}">
                <a16:creationId xmlns:a16="http://schemas.microsoft.com/office/drawing/2014/main" id="{52D08E51-CF9A-4D11-8817-77594DF0C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2800350"/>
            <a:ext cx="23336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40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rPr>
              <a:t>环境交互</a:t>
            </a:r>
          </a:p>
        </p:txBody>
      </p:sp>
      <p:sp>
        <p:nvSpPr>
          <p:cNvPr id="8" name="text-8">
            <a:extLst xmlns:a="http://schemas.openxmlformats.org/drawingml/2006/main">
              <a:ext uri="{FF2B5EF4-FFF2-40B4-BE49-F238E27FC236}">
                <a16:creationId xmlns:a16="http://schemas.microsoft.com/office/drawing/2014/main" id="{1FA97582-0EA3-4974-BC39-782453135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3476625"/>
            <a:ext cx="23812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rPr>
              <a:t>并行C++环境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rPr>
              <a:t>原生物理与计分</a:t>
            </a:r>
          </a:p>
        </p:txBody>
      </p:sp>
      <p:sp>
        <p:nvSpPr>
          <p:cNvPr id="9" name="text-9">
            <a:extLst xmlns:a="http://schemas.openxmlformats.org/drawingml/2006/main">
              <a:ext uri="{FF2B5EF4-FFF2-40B4-BE49-F238E27FC236}">
                <a16:creationId xmlns:a16="http://schemas.microsoft.com/office/drawing/2014/main" id="{7E4FB959-1DE4-4752-9F80-707F013C6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990725"/>
            <a:ext cx="2095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0" name="text-10">
            <a:extLst xmlns:a="http://schemas.openxmlformats.org/drawingml/2006/main">
              <a:ext uri="{FF2B5EF4-FFF2-40B4-BE49-F238E27FC236}">
                <a16:creationId xmlns:a16="http://schemas.microsoft.com/office/drawing/2014/main" id="{D0C12095-9337-4C45-B60E-53C0F392D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800350"/>
            <a:ext cx="23336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40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rPr>
              <a:t>策略更新</a:t>
            </a:r>
          </a:p>
        </p:txBody>
      </p:sp>
      <p:sp>
        <p:nvSpPr>
          <p:cNvPr id="11" name="text-11">
            <a:extLst xmlns:a="http://schemas.openxmlformats.org/drawingml/2006/main">
              <a:ext uri="{FF2B5EF4-FFF2-40B4-BE49-F238E27FC236}">
                <a16:creationId xmlns:a16="http://schemas.microsoft.com/office/drawing/2014/main" id="{44254175-577E-4A05-AE73-FC22B805F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476625"/>
            <a:ext cx="23812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rPr>
              <a:t>rollout 与 GAE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rPr>
              <a:t>PPO 小批量更新</a:t>
            </a:r>
          </a:p>
        </p:txBody>
      </p:sp>
      <p:sp>
        <p:nvSpPr>
          <p:cNvPr id="12" name="text-12">
            <a:extLst xmlns:a="http://schemas.openxmlformats.org/drawingml/2006/main">
              <a:ext uri="{FF2B5EF4-FFF2-40B4-BE49-F238E27FC236}">
                <a16:creationId xmlns:a16="http://schemas.microsoft.com/office/drawing/2014/main" id="{002A41FF-18C6-452E-8205-ABA0F4668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1990725"/>
            <a:ext cx="2095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3" name="text-13">
            <a:extLst xmlns:a="http://schemas.openxmlformats.org/drawingml/2006/main">
              <a:ext uri="{FF2B5EF4-FFF2-40B4-BE49-F238E27FC236}">
                <a16:creationId xmlns:a16="http://schemas.microsoft.com/office/drawing/2014/main" id="{87341874-5065-4DCC-A7C5-7E41D063E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2800350"/>
            <a:ext cx="23336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40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rPr>
              <a:t>记录验证</a:t>
            </a:r>
          </a:p>
        </p:txBody>
      </p:sp>
      <p:sp>
        <p:nvSpPr>
          <p:cNvPr id="14" name="text-14">
            <a:extLst xmlns:a="http://schemas.openxmlformats.org/drawingml/2006/main">
              <a:ext uri="{FF2B5EF4-FFF2-40B4-BE49-F238E27FC236}">
                <a16:creationId xmlns:a16="http://schemas.microsoft.com/office/drawing/2014/main" id="{6F603678-4493-4AA0-8F92-B3FB6B5B8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3476625"/>
            <a:ext cx="23812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rPr>
              <a:t>日志与模型保存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rPr>
              <a:t>独立评测与回放</a:t>
            </a:r>
          </a:p>
        </p:txBody>
      </p:sp>
      <p:sp>
        <p:nvSpPr>
          <p:cNvPr id="15" name="text-15">
            <a:extLst xmlns:a="http://schemas.openxmlformats.org/drawingml/2006/main">
              <a:ext uri="{FF2B5EF4-FFF2-40B4-BE49-F238E27FC236}">
                <a16:creationId xmlns:a16="http://schemas.microsoft.com/office/drawing/2014/main" id="{E1FB0AC6-5E4D-41AA-9A4A-CA83A2B67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225B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250" b="0">
                <a:solidFill>
                  <a:srgbClr val="225B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25B85"/>
                </a:solidFill>
                <a:latin typeface="Microsoft YaHei"/>
                <a:ea typeface="Microsoft YaHei"/>
                <a:cs typeface="Microsoft YaHei"/>
              </a:rPr>
              <a:t>Python / PyTorch 负责学习，C++ 环境与物理 DLL 提供交互</a:t>
            </a:r>
          </a:p>
        </p:txBody>
      </p:sp>
      <p:sp>
        <p:nvSpPr>
          <p:cNvPr id="16" name="text-16">
            <a:extLst xmlns:a="http://schemas.openxmlformats.org/drawingml/2006/main">
              <a:ext uri="{FF2B5EF4-FFF2-40B4-BE49-F238E27FC236}">
                <a16:creationId xmlns:a16="http://schemas.microsoft.com/office/drawing/2014/main" id="{7BC53E7A-1D3F-4C4F-AA0E-267E23AB0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43575"/>
            <a:ext cx="10820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rPr>
              <a:t>入口 train_ppo.py   ·   环境 training_env.cpp   ·   奖励 reward_profiles.cpp</a:t>
            </a:r>
          </a:p>
        </p:txBody>
      </p:sp>
    </p:spTree>
    <p:extLst>
      <p:ext uri="{BB962C8B-B14F-4D97-AF65-F5344CB8AC3E}">
        <p14:creationId xmlns:p14="http://schemas.microsoft.com/office/powerpoint/2010/main" val="106672273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E53E193-CCC7-42AD-92CA-A479B8B23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rPr>
              <a:t>核心算法：PPO-Clip 与 GAE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59349808-1304-4131-A92A-529D6B0B0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91275"/>
            <a:ext cx="428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135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3" name="text-3">
            <a:extLst xmlns:a="http://schemas.openxmlformats.org/drawingml/2006/main">
              <a:ext uri="{FF2B5EF4-FFF2-40B4-BE49-F238E27FC236}">
                <a16:creationId xmlns:a16="http://schemas.microsoft.com/office/drawing/2014/main" id="{553D9809-971B-4374-B072-05B935F63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38325"/>
            <a:ext cx="4667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25B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300" b="1">
                <a:solidFill>
                  <a:srgbClr val="225B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25B85"/>
                </a:solidFill>
                <a:latin typeface="Microsoft YaHei"/>
                <a:ea typeface="Microsoft YaHei"/>
                <a:cs typeface="Microsoft YaHei"/>
              </a:rPr>
              <a:t>Actor</a:t>
            </a:r>
          </a:p>
        </p:txBody>
      </p:sp>
      <p:sp>
        <p:nvSpPr>
          <p:cNvPr id="4" name="text-4">
            <a:extLst xmlns:a="http://schemas.openxmlformats.org/drawingml/2006/main">
              <a:ext uri="{FF2B5EF4-FFF2-40B4-BE49-F238E27FC236}">
                <a16:creationId xmlns:a16="http://schemas.microsoft.com/office/drawing/2014/main" id="{392DABE7-66D5-46A8-B355-3DA731E25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47950"/>
            <a:ext cx="46672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175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rPr>
              <a:t>身体状态决定按键概率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175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rPr>
              <a:t>16类离散动作分布</a:t>
            </a:r>
          </a:p>
        </p:txBody>
      </p:sp>
      <p:sp>
        <p:nvSpPr>
          <p:cNvPr id="5" name="text-5">
            <a:extLst xmlns:a="http://schemas.openxmlformats.org/drawingml/2006/main">
              <a:ext uri="{FF2B5EF4-FFF2-40B4-BE49-F238E27FC236}">
                <a16:creationId xmlns:a16="http://schemas.microsoft.com/office/drawing/2014/main" id="{EF9EADF5-B6F8-45DC-A243-85D68D6FE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838325"/>
            <a:ext cx="4667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300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rPr>
              <a:t>Critic</a:t>
            </a:r>
          </a:p>
        </p:txBody>
      </p:sp>
      <p:sp>
        <p:nvSpPr>
          <p:cNvPr id="6" name="text-6">
            <a:extLst xmlns:a="http://schemas.openxmlformats.org/drawingml/2006/main">
              <a:ext uri="{FF2B5EF4-FFF2-40B4-BE49-F238E27FC236}">
                <a16:creationId xmlns:a16="http://schemas.microsoft.com/office/drawing/2014/main" id="{E01976CB-09C7-4D42-B22E-3258F789D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647950"/>
            <a:ext cx="46672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175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rPr>
              <a:t>预测当前状态的未来回报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175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rPr>
              <a:t>辅助GAE估计动作优势</a:t>
            </a:r>
          </a:p>
        </p:txBody>
      </p:sp>
      <p:sp>
        <p:nvSpPr>
          <p:cNvPr id="7" name="text-7">
            <a:extLst xmlns:a="http://schemas.openxmlformats.org/drawingml/2006/main">
              <a:ext uri="{FF2B5EF4-FFF2-40B4-BE49-F238E27FC236}">
                <a16:creationId xmlns:a16="http://schemas.microsoft.com/office/drawing/2014/main" id="{3C38D9EA-C6FE-400A-96FA-CB6B2D179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67175"/>
            <a:ext cx="9906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25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rPr>
              <a:t>PPO 裁剪目标</a:t>
            </a:r>
          </a:p>
        </p:txBody>
      </p:sp>
      <p:sp>
        <p:nvSpPr>
          <p:cNvPr id="8" name="text-8">
            <a:extLst xmlns:a="http://schemas.openxmlformats.org/drawingml/2006/main">
              <a:ext uri="{FF2B5EF4-FFF2-40B4-BE49-F238E27FC236}">
                <a16:creationId xmlns:a16="http://schemas.microsoft.com/office/drawing/2014/main" id="{7D81AC9D-4A3D-4A3C-94ED-108EEF696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95825"/>
            <a:ext cx="108204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0">
                <a:solidFill>
                  <a:srgbClr val="225B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550" b="0">
                <a:solidFill>
                  <a:srgbClr val="225B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225B85"/>
                </a:solidFill>
                <a:latin typeface="Microsoft YaHei"/>
                <a:ea typeface="Microsoft YaHei"/>
                <a:cs typeface="Microsoft YaHei"/>
              </a:rPr>
              <a:t>Lclip = E[min(ρₜ Âₜ, clip(ρₜ, 1−ε, 1+ε) Âₜ)]</a:t>
            </a:r>
          </a:p>
        </p:txBody>
      </p:sp>
      <p:sp>
        <p:nvSpPr>
          <p:cNvPr id="9" name="text-9">
            <a:extLst xmlns:a="http://schemas.openxmlformats.org/drawingml/2006/main">
              <a:ext uri="{FF2B5EF4-FFF2-40B4-BE49-F238E27FC236}">
                <a16:creationId xmlns:a16="http://schemas.microsoft.com/office/drawing/2014/main" id="{0DAB711C-0701-4BB9-84B8-B2BB369F3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05450"/>
            <a:ext cx="108204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rPr>
              <a:t>概率比 ρₜ 衡量新旧策略变化；优势 Âₜ 表示动作相对预期的好坏</a:t>
            </a:r>
          </a:p>
        </p:txBody>
      </p:sp>
    </p:spTree>
    <p:extLst>
      <p:ext uri="{BB962C8B-B14F-4D97-AF65-F5344CB8AC3E}">
        <p14:creationId xmlns:p14="http://schemas.microsoft.com/office/powerpoint/2010/main" val="109193842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6C217A1-93A9-4285-8AEE-1994C9539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rPr>
              <a:t>基线：链路跑通，运动策略仍低效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395E3861-A042-49E1-9AB8-E5D63A2CB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91275"/>
            <a:ext cx="428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135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3" name="text-3">
            <a:extLst xmlns:a="http://schemas.openxmlformats.org/drawingml/2006/main">
              <a:ext uri="{FF2B5EF4-FFF2-40B4-BE49-F238E27FC236}">
                <a16:creationId xmlns:a16="http://schemas.microsoft.com/office/drawing/2014/main" id="{ED8059CB-E81C-472F-8339-545A4F83F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24025"/>
            <a:ext cx="3810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5700" b="1">
                <a:solidFill>
                  <a:srgbClr val="225B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5700" b="1">
                <a:solidFill>
                  <a:srgbClr val="225B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700" b="1">
                <a:solidFill>
                  <a:srgbClr val="225B85"/>
                </a:solidFill>
                <a:latin typeface="Microsoft YaHei"/>
                <a:ea typeface="Microsoft YaHei"/>
                <a:cs typeface="Microsoft YaHei"/>
              </a:rPr>
              <a:t>0 / 64</a:t>
            </a:r>
          </a:p>
        </p:txBody>
      </p:sp>
      <p:sp>
        <p:nvSpPr>
          <p:cNvPr id="4" name="text-4">
            <a:extLst xmlns:a="http://schemas.openxmlformats.org/drawingml/2006/main">
              <a:ext uri="{FF2B5EF4-FFF2-40B4-BE49-F238E27FC236}">
                <a16:creationId xmlns:a16="http://schemas.microsoft.com/office/drawing/2014/main" id="{4C89D300-FE2B-41B7-BA25-2CDE360CC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24150"/>
            <a:ext cx="3857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75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rPr>
              <a:t>原奖励随机评测通关数</a:t>
            </a:r>
          </a:p>
        </p:txBody>
      </p:sp>
      <p:sp>
        <p:nvSpPr>
          <p:cNvPr id="5" name="text-5">
            <a:extLst xmlns:a="http://schemas.openxmlformats.org/drawingml/2006/main">
              <a:ext uri="{FF2B5EF4-FFF2-40B4-BE49-F238E27FC236}">
                <a16:creationId xmlns:a16="http://schemas.microsoft.com/office/drawing/2014/main" id="{D7AAC8EB-07BC-4486-823C-0C64EAB92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76650"/>
            <a:ext cx="3990975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rPr>
              <a:t>低姿态前进、输入尺度失效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rPr>
              <a:t>促使我们调整奖励与观测</a:t>
            </a:r>
          </a:p>
        </p:txBody>
      </p:sp>
      <p:sp>
        <p:nvSpPr>
          <p:cNvPr id="6" name="text-6">
            <a:extLst xmlns:a="http://schemas.openxmlformats.org/drawingml/2006/main">
              <a:ext uri="{FF2B5EF4-FFF2-40B4-BE49-F238E27FC236}">
                <a16:creationId xmlns:a16="http://schemas.microsoft.com/office/drawing/2014/main" id="{BAEDAE58-725E-4E09-AE5C-2789397A4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39909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rPr>
              <a:t>v3：38 / 64 通关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rPr>
              <a:t>确定性用时 75.27 秒</a:t>
            </a:r>
          </a:p>
        </p:txBody>
      </p:sp>
      <p:sp>
        <p:nvSpPr>
          <p:cNvPr id="7" name="text-7">
            <a:extLst xmlns:a="http://schemas.openxmlformats.org/drawingml/2006/main">
              <a:ext uri="{FF2B5EF4-FFF2-40B4-BE49-F238E27FC236}">
                <a16:creationId xmlns:a16="http://schemas.microsoft.com/office/drawing/2014/main" id="{D178CA4C-FAB7-440D-808B-61275EDB3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1666875"/>
            <a:ext cx="63150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025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rPr>
              <a:t>v3 单版本回合回报曲线</a:t>
            </a:r>
          </a:p>
        </p:txBody>
      </p:sp>
      <p:graphicFrame>
        <p:nvGraphicFramePr>
          <p:cNvPr id="8" name="Chart">
            <a:extLst xmlns:a="http://schemas.openxmlformats.org/drawingml/2006/main">
              <a:ext uri="{FF2B5EF4-FFF2-40B4-BE49-F238E27FC236}">
                <a16:creationId xmlns:a16="http://schemas.microsoft.com/office/drawing/2014/main" id="{A043B07E-162C-4006-AE4C-C8361435651A}"/>
              </a:ext>
            </a:extLst>
          </p:cNvPr>
          <p:cNvGraphicFramePr/>
          <p:nvPr/>
        </p:nvGraphicFramePr>
        <p:xfrm>
          <a:off xmlns:a="http://schemas.openxmlformats.org/drawingml/2006/main" x="4953000" y="2305050"/>
          <a:ext xmlns:a="http://schemas.openxmlformats.org/drawingml/2006/main" cx="6591300" cy="3333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79b40203e7a428a"/>
          </a:graphicData>
        </a:graphic>
      </p:graphicFrame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971DABE5-9EB7-4F97-936C-37E187362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5934075"/>
            <a:ext cx="6429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rPr>
              <a:t>同一奖励版本，20点滚动均值；跨版本回报不可直接比较</a:t>
            </a:r>
          </a:p>
        </p:txBody>
      </p:sp>
    </p:spTree>
    <p:extLst>
      <p:ext uri="{BB962C8B-B14F-4D97-AF65-F5344CB8AC3E}">
        <p14:creationId xmlns:p14="http://schemas.microsoft.com/office/powerpoint/2010/main" val="174255928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5262EF9-F311-4846-952E-10072FB24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rPr>
              <a:t>奖励与时序迭代推动百米提速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FCB957A9-B947-401D-9702-22BDC0433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91275"/>
            <a:ext cx="428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135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3" name="text-3">
            <a:extLst xmlns:a="http://schemas.openxmlformats.org/drawingml/2006/main">
              <a:ext uri="{FF2B5EF4-FFF2-40B4-BE49-F238E27FC236}">
                <a16:creationId xmlns:a16="http://schemas.microsoft.com/office/drawing/2014/main" id="{8C3A63F3-06C7-4579-8758-4603F124F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9725"/>
            <a:ext cx="8477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025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rPr>
              <a:t>纯 PPO 成功候选用时（秒，越低越好）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1DE85F92-35B5-4112-B037-D9FE876CAE1E}"/>
              </a:ext>
            </a:extLst>
          </p:cNvPr>
          <p:cNvGraphicFramePr/>
          <p:nvPr/>
        </p:nvGraphicFramePr>
        <p:xfrm>
          <a:off xmlns:a="http://schemas.openxmlformats.org/drawingml/2006/main" x="571500" y="2343150"/>
          <a:ext xmlns:a="http://schemas.openxmlformats.org/drawingml/2006/main" cx="7839075" cy="3333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218a647f2294f9b"/>
          </a:graphicData>
        </a:graphic>
      </p:graphicFrame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4F64264F-4AB8-48B9-AE6F-765525FBB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2362200"/>
            <a:ext cx="268605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600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rPr>
              <a:t>45.40 秒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208867B4-0BDB-43AB-A783-021BAE816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3209925"/>
            <a:ext cx="266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rPr>
              <a:t>纯PPO最好已验证候选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FA764F9C-CC87-4FBA-97A0-F7276C34D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4286250"/>
            <a:ext cx="26670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25B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600" b="1">
                <a:solidFill>
                  <a:srgbClr val="225B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225B85"/>
                </a:solidFill>
                <a:latin typeface="Microsoft YaHei"/>
                <a:ea typeface="Microsoft YaHei"/>
                <a:cs typeface="Microsoft YaHei"/>
              </a:rPr>
              <a:t>44.93 秒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698446FC-D476-4455-8D51-CD7140D58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5133975"/>
            <a:ext cx="2619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rPr>
              <a:t>Actor偏置局部搜索后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D4D0B1BC-7DAD-4315-8F25-AA2606BBB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19800"/>
            <a:ext cx="108204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rPr>
              <a:t>阶段改进：姿态与速度反馈、32帧历史、起步及越栏反馈；43秒目标未达成</a:t>
            </a:r>
          </a:p>
        </p:txBody>
      </p:sp>
    </p:spTree>
    <p:extLst>
      <p:ext uri="{BB962C8B-B14F-4D97-AF65-F5344CB8AC3E}">
        <p14:creationId xmlns:p14="http://schemas.microsoft.com/office/powerpoint/2010/main" val="11169900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4F6116C-AC8F-4C9E-A373-870DB4229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rPr>
              <a:t>提速瓶颈：动作阶段与奖励排序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703884FA-F922-46B8-9322-797A6CE40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91275"/>
            <a:ext cx="428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135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3" name="text-3">
            <a:extLst xmlns:a="http://schemas.openxmlformats.org/drawingml/2006/main">
              <a:ext uri="{FF2B5EF4-FFF2-40B4-BE49-F238E27FC236}">
                <a16:creationId xmlns:a16="http://schemas.microsoft.com/office/drawing/2014/main" id="{BE4E8848-CE8B-4A66-94C4-FEFBC0363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3286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225B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325" b="1">
                <a:solidFill>
                  <a:srgbClr val="225B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25B85"/>
                </a:solidFill>
                <a:latin typeface="Microsoft YaHei"/>
                <a:ea typeface="Microsoft YaHei"/>
                <a:cs typeface="Microsoft YaHei"/>
              </a:rPr>
              <a:t>起步与越栏恢复</a:t>
            </a:r>
          </a:p>
        </p:txBody>
      </p:sp>
      <p:sp>
        <p:nvSpPr>
          <p:cNvPr id="4" name="text-4">
            <a:extLst xmlns:a="http://schemas.openxmlformats.org/drawingml/2006/main">
              <a:ext uri="{FF2B5EF4-FFF2-40B4-BE49-F238E27FC236}">
                <a16:creationId xmlns:a16="http://schemas.microsoft.com/office/drawing/2014/main" id="{B295ABED-8657-4491-B57B-43C5EAB0B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43175"/>
            <a:ext cx="318135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rPr>
              <a:t>10米约需6.9秒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rPr>
              <a:t>越栏后存在速度损失</a:t>
            </a:r>
          </a:p>
        </p:txBody>
      </p:sp>
      <p:sp>
        <p:nvSpPr>
          <p:cNvPr id="5" name="text-5">
            <a:extLst xmlns:a="http://schemas.openxmlformats.org/drawingml/2006/main">
              <a:ext uri="{FF2B5EF4-FFF2-40B4-BE49-F238E27FC236}">
                <a16:creationId xmlns:a16="http://schemas.microsoft.com/office/drawing/2014/main" id="{614A22A3-2C49-4BFB-934E-BD9A93B53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29050"/>
            <a:ext cx="3286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175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rPr>
              <a:t>姿态规则是研究假设</a:t>
            </a:r>
          </a:p>
        </p:txBody>
      </p:sp>
      <p:sp>
        <p:nvSpPr>
          <p:cNvPr id="6" name="text-6">
            <a:extLst xmlns:a="http://schemas.openxmlformats.org/drawingml/2006/main">
              <a:ext uri="{FF2B5EF4-FFF2-40B4-BE49-F238E27FC236}">
                <a16:creationId xmlns:a16="http://schemas.microsoft.com/office/drawing/2014/main" id="{AF12B822-3B14-4C3F-B4F3-12E34F5AA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95800"/>
            <a:ext cx="323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950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rPr>
              <a:t>5°前倾、步频和平稳度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950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rPr>
              <a:t>未必对应更快的成功策略</a:t>
            </a:r>
          </a:p>
        </p:txBody>
      </p:sp>
      <p:sp>
        <p:nvSpPr>
          <p:cNvPr id="7" name="text-7">
            <a:extLst xmlns:a="http://schemas.openxmlformats.org/drawingml/2006/main">
              <a:ext uri="{FF2B5EF4-FFF2-40B4-BE49-F238E27FC236}">
                <a16:creationId xmlns:a16="http://schemas.microsoft.com/office/drawing/2014/main" id="{E818AE8B-42A6-48C9-B0FA-C60463F6E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1657350"/>
            <a:ext cx="34956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95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rPr>
              <a:t>旧奖励</a:t>
            </a:r>
          </a:p>
        </p:txBody>
      </p:sp>
      <p:graphicFrame>
        <p:nvGraphicFramePr>
          <p:cNvPr id="8" name="Chart">
            <a:extLst xmlns:a="http://schemas.openxmlformats.org/drawingml/2006/main">
              <a:ext uri="{FF2B5EF4-FFF2-40B4-BE49-F238E27FC236}">
                <a16:creationId xmlns:a16="http://schemas.microsoft.com/office/drawing/2014/main" id="{5170F1D7-7278-4D99-9A20-DC57B8BA03FD}"/>
              </a:ext>
            </a:extLst>
          </p:cNvPr>
          <p:cNvGraphicFramePr/>
          <p:nvPr/>
        </p:nvGraphicFramePr>
        <p:xfrm>
          <a:off xmlns:a="http://schemas.openxmlformats.org/drawingml/2006/main" x="4067175" y="2266950"/>
          <a:ext xmlns:a="http://schemas.openxmlformats.org/drawingml/2006/main" cx="3581400" cy="34385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b8794a6cfc7496e"/>
          </a:graphicData>
        </a:graphic>
      </p:graphicFrame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E7AD4034-03A5-466B-A6DF-8CD555F79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657350"/>
            <a:ext cx="34956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95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rPr>
              <a:t>时间导向任务奖励</a:t>
            </a:r>
          </a:p>
        </p:txBody>
      </p:sp>
      <p:graphicFrame>
        <p:nvGraphicFramePr>
          <p:cNvPr id="10" name="Chart">
            <a:extLst xmlns:a="http://schemas.openxmlformats.org/drawingml/2006/main">
              <a:ext uri="{FF2B5EF4-FFF2-40B4-BE49-F238E27FC236}">
                <a16:creationId xmlns:a16="http://schemas.microsoft.com/office/drawing/2014/main" id="{C8528637-5E7B-4447-A506-C30F9214BDCF}"/>
              </a:ext>
            </a:extLst>
          </p:cNvPr>
          <p:cNvGraphicFramePr/>
          <p:nvPr/>
        </p:nvGraphicFramePr>
        <p:xfrm>
          <a:off xmlns:a="http://schemas.openxmlformats.org/drawingml/2006/main" x="7905750" y="2266950"/>
          <a:ext xmlns:a="http://schemas.openxmlformats.org/drawingml/2006/main" cx="3581400" cy="34385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2633ce57fbe493c"/>
          </a:graphicData>
        </a:graphic>
      </p:graphicFrame>
      <p:sp>
        <p:nvSpPr>
          <p:cNvPr id="11" name="text-9">
            <a:extLst xmlns:a="http://schemas.openxmlformats.org/drawingml/2006/main">
              <a:ext uri="{FF2B5EF4-FFF2-40B4-BE49-F238E27FC236}">
                <a16:creationId xmlns:a16="http://schemas.microsoft.com/office/drawing/2014/main" id="{FC5B2EC2-35B8-4BE1-9D67-1FA438539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5934075"/>
            <a:ext cx="742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rPr>
              <a:t>只比较每种奖励内部的排序；审计对象为两条成功轨迹</a:t>
            </a:r>
          </a:p>
        </p:txBody>
      </p:sp>
    </p:spTree>
    <p:extLst>
      <p:ext uri="{BB962C8B-B14F-4D97-AF65-F5344CB8AC3E}">
        <p14:creationId xmlns:p14="http://schemas.microsoft.com/office/powerpoint/2010/main" val="7031188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B2EE94E-8AD6-4AEF-8F5B-B56E79EBD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rPr>
              <a:t>RND：部分成功率改善，最快值未刷新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0F106525-997D-4704-8868-FC285C873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91275"/>
            <a:ext cx="428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135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3" name="text-3">
            <a:extLst xmlns:a="http://schemas.openxmlformats.org/drawingml/2006/main">
              <a:ext uri="{FF2B5EF4-FFF2-40B4-BE49-F238E27FC236}">
                <a16:creationId xmlns:a16="http://schemas.microsoft.com/office/drawing/2014/main" id="{C33D55FE-16C5-4CB5-93C3-4EEAB7117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38325"/>
            <a:ext cx="37909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400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rPr>
              <a:t>新颖性来自预测误差</a:t>
            </a:r>
          </a:p>
        </p:txBody>
      </p:sp>
      <p:sp>
        <p:nvSpPr>
          <p:cNvPr id="4" name="text-4">
            <a:extLst xmlns:a="http://schemas.openxmlformats.org/drawingml/2006/main">
              <a:ext uri="{FF2B5EF4-FFF2-40B4-BE49-F238E27FC236}">
                <a16:creationId xmlns:a16="http://schemas.microsoft.com/office/drawing/2014/main" id="{AD81EFBA-1090-4E55-A81D-565B2749A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47950"/>
            <a:ext cx="3590925" cy="1533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rPr>
              <a:t>随机固定目标网络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rPr>
              <a:t>预测器学习拟合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rPr>
              <a:t>误差提供内在奖励</a:t>
            </a:r>
          </a:p>
        </p:txBody>
      </p:sp>
      <p:sp>
        <p:nvSpPr>
          <p:cNvPr id="5" name="text-5">
            <a:extLst xmlns:a="http://schemas.openxmlformats.org/drawingml/2006/main">
              <a:ext uri="{FF2B5EF4-FFF2-40B4-BE49-F238E27FC236}">
                <a16:creationId xmlns:a16="http://schemas.microsoft.com/office/drawing/2014/main" id="{5AF2639B-999A-48C8-9EF6-C572FC9E8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29175"/>
            <a:ext cx="3590925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75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rPr>
              <a:t>两组同起点、同训练量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875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rPr>
              <a:t>各约1678万条新转移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424217-E78B-4783-BA2C-EC66BECF48F1}"/>
              </a:ext>
            </a:extLst>
          </p:cNvPr>
          <p:cNvGraphicFramePr/>
          <p:nvPr/>
        </p:nvGraphicFramePr>
        <p:xfrm>
          <a:off xmlns:a="http://schemas.openxmlformats.org/drawingml/2006/main" x="4591050" y="1943100"/>
          <a:ext xmlns:a="http://schemas.openxmlformats.org/drawingml/2006/main" cx="6924675" cy="317182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657475"/>
                <a:gridCol w="2047875"/>
                <a:gridCol w="2219325"/>
              </a:tblGrid>
              <a:tr h="514350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指标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1E8"/>
                      </a:solidFill>
                      <a:prstDash val="solid"/>
                    </a:lnL>
                    <a:lnR w="9525">
                      <a:solidFill>
                        <a:srgbClr val="D9E1E8"/>
                      </a:solidFill>
                      <a:prstDash val="solid"/>
                    </a:lnR>
                    <a:lnT w="9525">
                      <a:solidFill>
                        <a:srgbClr val="D9E1E8"/>
                      </a:solidFill>
                      <a:prstDash val="solid"/>
                    </a:lnT>
                    <a:lnB w="9525">
                      <a:solidFill>
                        <a:srgbClr val="D9E1E8"/>
                      </a:solidFill>
                      <a:prstDash val="solid"/>
                    </a:lnB>
                    <a:solidFill>
                      <a:srgbClr val="225B85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pPr algn="ctr"/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任务奖励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1E8"/>
                      </a:solidFill>
                      <a:prstDash val="solid"/>
                    </a:lnR>
                    <a:lnT w="9525">
                      <a:solidFill>
                        <a:srgbClr val="D9E1E8"/>
                      </a:solidFill>
                      <a:prstDash val="solid"/>
                    </a:lnT>
                    <a:lnB w="9525">
                      <a:solidFill>
                        <a:srgbClr val="D9E1E8"/>
                      </a:solidFill>
                      <a:prstDash val="solid"/>
                    </a:lnB>
                    <a:solidFill>
                      <a:srgbClr val="225B85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pPr algn="ctr"/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任务奖励 + RND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1E8"/>
                      </a:solidFill>
                      <a:prstDash val="solid"/>
                    </a:lnR>
                    <a:lnT w="9525">
                      <a:solidFill>
                        <a:srgbClr val="D9E1E8"/>
                      </a:solidFill>
                      <a:prstDash val="solid"/>
                    </a:lnT>
                    <a:lnB w="9525">
                      <a:solidFill>
                        <a:srgbClr val="D9E1E8"/>
                      </a:solidFill>
                      <a:prstDash val="solid"/>
                    </a:lnB>
                    <a:solidFill>
                      <a:srgbClr val="225B85"/>
                    </a:solidFill>
                  </a:tcPr>
                </a:tc>
              </a:tr>
              <a:tr h="885825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624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随机通关数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1E8"/>
                      </a:solidFill>
                      <a:prstDash val="solid"/>
                    </a:lnL>
                    <a:lnR w="9525">
                      <a:solidFill>
                        <a:srgbClr val="D9E1E8"/>
                      </a:solidFill>
                      <a:prstDash val="solid"/>
                    </a:lnR>
                    <a:lnB w="9525">
                      <a:solidFill>
                        <a:srgbClr val="D9E1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1624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57 / 64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1E8"/>
                      </a:solidFill>
                      <a:prstDash val="solid"/>
                    </a:lnR>
                    <a:lnB w="9525">
                      <a:solidFill>
                        <a:srgbClr val="D9E1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1624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61 / 64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1E8"/>
                      </a:solidFill>
                      <a:prstDash val="solid"/>
                    </a:lnR>
                    <a:lnB w="9525">
                      <a:solidFill>
                        <a:srgbClr val="D9E1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85825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624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成功平均用时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1E8"/>
                      </a:solidFill>
                      <a:prstDash val="solid"/>
                    </a:lnL>
                    <a:lnR w="9525">
                      <a:solidFill>
                        <a:srgbClr val="D9E1E8"/>
                      </a:solidFill>
                      <a:prstDash val="solid"/>
                    </a:lnR>
                    <a:lnB w="9525">
                      <a:solidFill>
                        <a:srgbClr val="D9E1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1624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49.26 秒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1E8"/>
                      </a:solidFill>
                      <a:prstDash val="solid"/>
                    </a:lnR>
                    <a:lnB w="9525">
                      <a:solidFill>
                        <a:srgbClr val="D9E1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1624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48.84 秒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1E8"/>
                      </a:solidFill>
                      <a:prstDash val="solid"/>
                    </a:lnR>
                    <a:lnB w="9525">
                      <a:solidFill>
                        <a:srgbClr val="D9E1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85825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624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最快保存点用时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1E8"/>
                      </a:solidFill>
                      <a:prstDash val="solid"/>
                    </a:lnL>
                    <a:lnR w="9525">
                      <a:solidFill>
                        <a:srgbClr val="D9E1E8"/>
                      </a:solidFill>
                      <a:prstDash val="solid"/>
                    </a:lnR>
                    <a:lnB w="9525">
                      <a:solidFill>
                        <a:srgbClr val="D9E1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1624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46.80 秒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1E8"/>
                      </a:solidFill>
                      <a:prstDash val="solid"/>
                    </a:lnR>
                    <a:lnB w="9525">
                      <a:solidFill>
                        <a:srgbClr val="D9E1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1624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47.23 秒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1E8"/>
                      </a:solidFill>
                      <a:prstDash val="solid"/>
                    </a:lnR>
                    <a:lnB w="9525">
                      <a:solidFill>
                        <a:srgbClr val="D9E1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AE2E5B4D-BAB1-4FC4-AA4B-94585BD70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5505450"/>
            <a:ext cx="692467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225B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225B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25B85"/>
                </a:solidFill>
                <a:latin typeface="Microsoft YaHei"/>
                <a:ea typeface="Microsoft YaHei"/>
                <a:cs typeface="Microsoft YaHei"/>
              </a:rPr>
              <a:t>部分成功率改善，未刷新旧44.93秒纪录；只有一个训练种子</a:t>
            </a:r>
          </a:p>
        </p:txBody>
      </p:sp>
    </p:spTree>
    <p:extLst>
      <p:ext uri="{BB962C8B-B14F-4D97-AF65-F5344CB8AC3E}">
        <p14:creationId xmlns:p14="http://schemas.microsoft.com/office/powerpoint/2010/main" val="111861055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8E12EAC-C768-45C6-AE21-6D8486A05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rPr>
              <a:t>公开影子模仿：本地网络复现33.03秒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18E4DAB1-61C7-4072-836C-6EF06B98B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91275"/>
            <a:ext cx="428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135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3" name="text-3">
            <a:extLst xmlns:a="http://schemas.openxmlformats.org/drawingml/2006/main">
              <a:ext uri="{FF2B5EF4-FFF2-40B4-BE49-F238E27FC236}">
                <a16:creationId xmlns:a16="http://schemas.microsoft.com/office/drawing/2014/main" id="{6872B6D4-56B2-451B-A93F-A06C4A3A9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04975"/>
            <a:ext cx="46386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5850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5850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850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rPr>
              <a:t>33.03 秒</a:t>
            </a:r>
          </a:p>
        </p:txBody>
      </p:sp>
      <p:sp>
        <p:nvSpPr>
          <p:cNvPr id="4" name="text-4">
            <a:extLst xmlns:a="http://schemas.openxmlformats.org/drawingml/2006/main">
              <a:ext uri="{FF2B5EF4-FFF2-40B4-BE49-F238E27FC236}">
                <a16:creationId xmlns:a16="http://schemas.microsoft.com/office/drawing/2014/main" id="{26BDD4B8-E297-4007-A845-5177C52A8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19400"/>
            <a:ext cx="45910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rPr>
              <a:t>本地网络，固定初态闭环执行</a:t>
            </a:r>
          </a:p>
        </p:txBody>
      </p:sp>
      <p:sp>
        <p:nvSpPr>
          <p:cNvPr id="5" name="text-5">
            <a:extLst xmlns:a="http://schemas.openxmlformats.org/drawingml/2006/main">
              <a:ext uri="{FF2B5EF4-FFF2-40B4-BE49-F238E27FC236}">
                <a16:creationId xmlns:a16="http://schemas.microsoft.com/office/drawing/2014/main" id="{B0B1B43C-23CD-4F33-8E0B-F7207B759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52850"/>
            <a:ext cx="4429125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rPr>
              <a:t>公开冠军XYF的991帧示范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rPr>
              <a:t>状态动作监督，交叉熵训练Actor</a:t>
            </a:r>
          </a:p>
        </p:txBody>
      </p:sp>
      <p:sp>
        <p:nvSpPr>
          <p:cNvPr id="6" name="text-6">
            <a:extLst xmlns:a="http://schemas.openxmlformats.org/drawingml/2006/main">
              <a:ext uri="{FF2B5EF4-FFF2-40B4-BE49-F238E27FC236}">
                <a16:creationId xmlns:a16="http://schemas.microsoft.com/office/drawing/2014/main" id="{B855B9FD-28C7-4D2D-9E3B-8EB7A8AC0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0175"/>
            <a:ext cx="444817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225B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175" b="1">
                <a:solidFill>
                  <a:srgbClr val="225B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25B85"/>
                </a:solidFill>
                <a:latin typeface="Microsoft YaHei"/>
                <a:ea typeface="Microsoft YaHei"/>
                <a:cs typeface="Microsoft YaHei"/>
              </a:rPr>
              <a:t>确定性16 / 16成功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175" b="1">
                <a:solidFill>
                  <a:srgbClr val="225B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25B85"/>
                </a:solidFill>
                <a:latin typeface="Microsoft YaHei"/>
                <a:ea typeface="Microsoft YaHei"/>
                <a:cs typeface="Microsoft YaHei"/>
              </a:rPr>
              <a:t>原始随机采样0 / 64成功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4148DE-93F6-41BB-8966-04294C1D4F55}"/>
              </a:ext>
            </a:extLst>
          </p:cNvPr>
          <p:cNvGraphicFramePr/>
          <p:nvPr/>
        </p:nvGraphicFramePr>
        <p:xfrm>
          <a:off xmlns:a="http://schemas.openxmlformats.org/drawingml/2006/main" x="5353050" y="2009775"/>
          <a:ext xmlns:a="http://schemas.openxmlformats.org/drawingml/2006/main" cx="6153150" cy="23431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1619250"/>
                <a:gridCol w="1952625"/>
                <a:gridCol w="2581275"/>
              </a:tblGrid>
              <a:tr h="514350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训练轮次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1E8"/>
                      </a:solidFill>
                      <a:prstDash val="solid"/>
                    </a:lnL>
                    <a:lnR w="9525">
                      <a:solidFill>
                        <a:srgbClr val="D9E1E8"/>
                      </a:solidFill>
                      <a:prstDash val="solid"/>
                    </a:lnR>
                    <a:lnT w="9525">
                      <a:solidFill>
                        <a:srgbClr val="D9E1E8"/>
                      </a:solidFill>
                      <a:prstDash val="solid"/>
                    </a:lnT>
                    <a:lnB w="9525">
                      <a:solidFill>
                        <a:srgbClr val="D9E1E8"/>
                      </a:solidFill>
                      <a:prstDash val="solid"/>
                    </a:lnB>
                    <a:solidFill>
                      <a:srgbClr val="225B85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pPr algn="ctr"/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动作准确率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1E8"/>
                      </a:solidFill>
                      <a:prstDash val="solid"/>
                    </a:lnR>
                    <a:lnT w="9525">
                      <a:solidFill>
                        <a:srgbClr val="D9E1E8"/>
                      </a:solidFill>
                      <a:prstDash val="solid"/>
                    </a:lnT>
                    <a:lnB w="9525">
                      <a:solidFill>
                        <a:srgbClr val="D9E1E8"/>
                      </a:solidFill>
                      <a:prstDash val="solid"/>
                    </a:lnB>
                    <a:solidFill>
                      <a:srgbClr val="225B85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pPr algn="ctr"/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闭环结果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1E8"/>
                      </a:solidFill>
                      <a:prstDash val="solid"/>
                    </a:lnR>
                    <a:lnT w="9525">
                      <a:solidFill>
                        <a:srgbClr val="D9E1E8"/>
                      </a:solidFill>
                      <a:prstDash val="solid"/>
                    </a:lnT>
                    <a:lnB w="9525">
                      <a:solidFill>
                        <a:srgbClr val="D9E1E8"/>
                      </a:solidFill>
                      <a:prstDash val="solid"/>
                    </a:lnB>
                    <a:solidFill>
                      <a:srgbClr val="225B85"/>
                    </a:solidFill>
                  </a:tcPr>
                </a:tc>
              </a:tr>
              <a:tr h="914400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1624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900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1E8"/>
                      </a:solidFill>
                      <a:prstDash val="solid"/>
                    </a:lnL>
                    <a:lnR w="9525">
                      <a:solidFill>
                        <a:srgbClr val="D9E1E8"/>
                      </a:solidFill>
                      <a:prstDash val="solid"/>
                    </a:lnR>
                    <a:lnB w="9525">
                      <a:solidFill>
                        <a:srgbClr val="D9E1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624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99.899%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1E8"/>
                      </a:solidFill>
                      <a:prstDash val="solid"/>
                    </a:lnR>
                    <a:lnB w="9525">
                      <a:solidFill>
                        <a:srgbClr val="D9E1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624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52米失败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1E8"/>
                      </a:solidFill>
                      <a:prstDash val="solid"/>
                    </a:lnR>
                    <a:lnB w="9525">
                      <a:solidFill>
                        <a:srgbClr val="D9E1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1624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1000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1E8"/>
                      </a:solidFill>
                      <a:prstDash val="solid"/>
                    </a:lnL>
                    <a:lnR w="9525">
                      <a:solidFill>
                        <a:srgbClr val="D9E1E8"/>
                      </a:solidFill>
                      <a:prstDash val="solid"/>
                    </a:lnR>
                    <a:lnB w="9525">
                      <a:solidFill>
                        <a:srgbClr val="D9E1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624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100%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1E8"/>
                      </a:solidFill>
                      <a:prstDash val="solid"/>
                    </a:lnR>
                    <a:lnB w="9525">
                      <a:solidFill>
                        <a:srgbClr val="D9E1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624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33.03秒完成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1E8"/>
                      </a:solidFill>
                      <a:prstDash val="solid"/>
                    </a:lnR>
                    <a:lnB w="9525">
                      <a:solidFill>
                        <a:srgbClr val="D9E1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775DB2EA-1596-4C4E-B57E-96FB87DC6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4943475"/>
            <a:ext cx="602932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25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rPr>
              <a:t>极小动作偏差也会累积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25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rPr>
              <a:t>偏离轨迹后的恢复仍是瓶颈</a:t>
            </a:r>
          </a:p>
        </p:txBody>
      </p:sp>
    </p:spTree>
    <p:extLst>
      <p:ext uri="{BB962C8B-B14F-4D97-AF65-F5344CB8AC3E}">
        <p14:creationId xmlns:p14="http://schemas.microsoft.com/office/powerpoint/2010/main" val="71152559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52E7021-0E25-4324-A6C7-B1748CAF1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rPr>
              <a:t>跳远迁移：保留助跑，学习局部起跳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5B7A497C-1B3B-44C4-9AF4-5961AFB24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91275"/>
            <a:ext cx="428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135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3" name="text-3">
            <a:extLst xmlns:a="http://schemas.openxmlformats.org/drawingml/2006/main">
              <a:ext uri="{FF2B5EF4-FFF2-40B4-BE49-F238E27FC236}">
                <a16:creationId xmlns:a16="http://schemas.microsoft.com/office/drawing/2014/main" id="{C7AF9D32-D66E-45AD-87FF-3CBDF7AA8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33575"/>
            <a:ext cx="40195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225B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475" b="1">
                <a:solidFill>
                  <a:srgbClr val="225B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225B85"/>
                </a:solidFill>
                <a:latin typeface="Microsoft YaHei"/>
                <a:ea typeface="Microsoft YaHei"/>
                <a:cs typeface="Microsoft YaHei"/>
              </a:rPr>
              <a:t>校准位置字段原点</a:t>
            </a:r>
          </a:p>
        </p:txBody>
      </p:sp>
      <p:sp>
        <p:nvSpPr>
          <p:cNvPr id="4" name="text-4">
            <a:extLst xmlns:a="http://schemas.openxmlformats.org/drawingml/2006/main">
              <a:ext uri="{FF2B5EF4-FFF2-40B4-BE49-F238E27FC236}">
                <a16:creationId xmlns:a16="http://schemas.microsoft.com/office/drawing/2014/main" id="{5B3F8F4A-8441-4BCD-9AB7-87428FA7A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43200"/>
            <a:ext cx="39909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rPr>
              <a:t>25米、334帧助跑动作一致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rPr>
              <a:t>同为68维，语义仍需核对</a:t>
            </a:r>
          </a:p>
        </p:txBody>
      </p:sp>
      <p:sp>
        <p:nvSpPr>
          <p:cNvPr id="5" name="text-5">
            <a:extLst xmlns:a="http://schemas.openxmlformats.org/drawingml/2006/main">
              <a:ext uri="{FF2B5EF4-FFF2-40B4-BE49-F238E27FC236}">
                <a16:creationId xmlns:a16="http://schemas.microsoft.com/office/drawing/2014/main" id="{DAE9FF95-060A-420F-A857-CB0E3133F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29125"/>
            <a:ext cx="4210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325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rPr>
              <a:t>冻结助跑，局部学习起跳</a:t>
            </a:r>
          </a:p>
        </p:txBody>
      </p:sp>
      <p:sp>
        <p:nvSpPr>
          <p:cNvPr id="6" name="text-6">
            <a:extLst xmlns:a="http://schemas.openxmlformats.org/drawingml/2006/main">
              <a:ext uri="{FF2B5EF4-FFF2-40B4-BE49-F238E27FC236}">
                <a16:creationId xmlns:a16="http://schemas.microsoft.com/office/drawing/2014/main" id="{7DFF0A4F-0099-4A25-8ECC-A536BBD80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29225"/>
            <a:ext cx="40576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950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rPr>
              <a:t>起跳区域调整层 + 独立Critic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6B40B6-614D-4799-9C4B-8BDE19BF6DA2}"/>
              </a:ext>
            </a:extLst>
          </p:cNvPr>
          <p:cNvGraphicFramePr/>
          <p:nvPr/>
        </p:nvGraphicFramePr>
        <p:xfrm>
          <a:off xmlns:a="http://schemas.openxmlformats.org/drawingml/2006/main" x="5219700" y="1914525"/>
          <a:ext xmlns:a="http://schemas.openxmlformats.org/drawingml/2006/main" cx="6286500" cy="28956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324100"/>
                <a:gridCol w="1628775"/>
                <a:gridCol w="2333625"/>
              </a:tblGrid>
              <a:tr h="514350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跳远路线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1E8"/>
                      </a:solidFill>
                      <a:prstDash val="solid"/>
                    </a:lnL>
                    <a:lnR w="9525">
                      <a:solidFill>
                        <a:srgbClr val="D9E1E8"/>
                      </a:solidFill>
                      <a:prstDash val="solid"/>
                    </a:lnR>
                    <a:lnT w="9525">
                      <a:solidFill>
                        <a:srgbClr val="D9E1E8"/>
                      </a:solidFill>
                      <a:prstDash val="solid"/>
                    </a:lnT>
                    <a:lnB w="9525">
                      <a:solidFill>
                        <a:srgbClr val="D9E1E8"/>
                      </a:solidFill>
                      <a:prstDash val="solid"/>
                    </a:lnB>
                    <a:solidFill>
                      <a:srgbClr val="225B85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pPr algn="ctr"/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确定性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1E8"/>
                      </a:solidFill>
                      <a:prstDash val="solid"/>
                    </a:lnR>
                    <a:lnT w="9525">
                      <a:solidFill>
                        <a:srgbClr val="D9E1E8"/>
                      </a:solidFill>
                      <a:prstDash val="solid"/>
                    </a:lnT>
                    <a:lnB w="9525">
                      <a:solidFill>
                        <a:srgbClr val="D9E1E8"/>
                      </a:solidFill>
                      <a:prstDash val="solid"/>
                    </a:lnB>
                    <a:solidFill>
                      <a:srgbClr val="225B85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pPr algn="ctr"/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随机最佳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1E8"/>
                      </a:solidFill>
                      <a:prstDash val="solid"/>
                    </a:lnR>
                    <a:lnT w="9525">
                      <a:solidFill>
                        <a:srgbClr val="D9E1E8"/>
                      </a:solidFill>
                      <a:prstDash val="solid"/>
                    </a:lnT>
                    <a:lnB w="9525">
                      <a:solidFill>
                        <a:srgbClr val="D9E1E8"/>
                      </a:solidFill>
                      <a:prstDash val="solid"/>
                    </a:lnB>
                    <a:solidFill>
                      <a:srgbClr val="225B85"/>
                    </a:solidFill>
                  </a:tcPr>
                </a:tc>
              </a:tr>
              <a:tr h="1190625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1624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旧PPO迁移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1E8"/>
                      </a:solidFill>
                      <a:prstDash val="solid"/>
                    </a:lnL>
                    <a:lnR w="9525">
                      <a:solidFill>
                        <a:srgbClr val="D9E1E8"/>
                      </a:solidFill>
                      <a:prstDash val="solid"/>
                    </a:lnR>
                    <a:lnB w="9525">
                      <a:solidFill>
                        <a:srgbClr val="D9E1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624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2.60米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1E8"/>
                      </a:solidFill>
                      <a:prstDash val="solid"/>
                    </a:lnR>
                    <a:lnB w="9525">
                      <a:solidFill>
                        <a:srgbClr val="D9E1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624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2.80米</a:t>
                      </a:r>
                    </a:p>
                    <a:p>
                      <a:pPr algn="ctr"/>
                      <a:r>
                        <a:rPr sz="1875" b="0">
                          <a:solidFill>
                            <a:srgbClr val="1624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1024次搜索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1E8"/>
                      </a:solidFill>
                      <a:prstDash val="solid"/>
                    </a:lnR>
                    <a:lnB w="9525">
                      <a:solidFill>
                        <a:srgbClr val="D9E1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190625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1624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保留33秒助跑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1E8"/>
                      </a:solidFill>
                      <a:prstDash val="solid"/>
                    </a:lnL>
                    <a:lnR w="9525">
                      <a:solidFill>
                        <a:srgbClr val="D9E1E8"/>
                      </a:solidFill>
                      <a:prstDash val="solid"/>
                    </a:lnR>
                    <a:lnB w="9525">
                      <a:solidFill>
                        <a:srgbClr val="D9E1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624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2.59米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1E8"/>
                      </a:solidFill>
                      <a:prstDash val="solid"/>
                    </a:lnR>
                    <a:lnB w="9525">
                      <a:solidFill>
                        <a:srgbClr val="D9E1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1624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3.16米</a:t>
                      </a:r>
                    </a:p>
                    <a:p>
                      <a:pPr algn="ctr"/>
                      <a:r>
                        <a:rPr sz="1875" b="0">
                          <a:solidFill>
                            <a:srgbClr val="1624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2048次搜索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1E8"/>
                      </a:solidFill>
                      <a:prstDash val="solid"/>
                    </a:lnR>
                    <a:lnB w="9525">
                      <a:solidFill>
                        <a:srgbClr val="D9E1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8B678B0D-8623-4FC8-B7FB-BB769EB9F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5267325"/>
            <a:ext cx="62865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725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rPr>
              <a:t>新模型独立64次：51次成功，成功平均1.51米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725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rPr>
              <a:t>搜索规模不同，最佳值不能代表平均能力</a:t>
            </a:r>
          </a:p>
        </p:txBody>
      </p:sp>
    </p:spTree>
    <p:extLst>
      <p:ext uri="{BB962C8B-B14F-4D97-AF65-F5344CB8AC3E}">
        <p14:creationId xmlns:p14="http://schemas.microsoft.com/office/powerpoint/2010/main" val="111720712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3AD6BDF-92BE-49AD-A0EC-408B365C4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rPr>
              <a:t>结果：速度、稳定性与泛化分别评价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8356DDB9-91BB-49D8-A711-721D6CD1A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91275"/>
            <a:ext cx="428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135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FFE006-480C-49B6-BF2C-8BA42A453FCB}"/>
              </a:ext>
            </a:extLst>
          </p:cNvPr>
          <p:cNvGraphicFramePr/>
          <p:nvPr/>
        </p:nvGraphicFramePr>
        <p:xfrm>
          <a:off xmlns:a="http://schemas.openxmlformats.org/drawingml/2006/main" x="685800" y="1819275"/>
          <a:ext xmlns:a="http://schemas.openxmlformats.org/drawingml/2006/main" cx="10820400" cy="35433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3181350"/>
                <a:gridCol w="2295525"/>
                <a:gridCol w="5343525"/>
              </a:tblGrid>
              <a:tr h="514350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方法路线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1E8"/>
                      </a:solidFill>
                      <a:prstDash val="solid"/>
                    </a:lnL>
                    <a:lnR w="9525">
                      <a:solidFill>
                        <a:srgbClr val="D9E1E8"/>
                      </a:solidFill>
                      <a:prstDash val="solid"/>
                    </a:lnR>
                    <a:lnT w="9525">
                      <a:solidFill>
                        <a:srgbClr val="D9E1E8"/>
                      </a:solidFill>
                      <a:prstDash val="solid"/>
                    </a:lnT>
                    <a:lnB w="9525">
                      <a:solidFill>
                        <a:srgbClr val="D9E1E8"/>
                      </a:solidFill>
                      <a:prstDash val="solid"/>
                    </a:lnB>
                    <a:solidFill>
                      <a:srgbClr val="225B85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已验证成绩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1E8"/>
                      </a:solidFill>
                      <a:prstDash val="solid"/>
                    </a:lnR>
                    <a:lnT w="9525">
                      <a:solidFill>
                        <a:srgbClr val="D9E1E8"/>
                      </a:solidFill>
                      <a:prstDash val="solid"/>
                    </a:lnT>
                    <a:lnB w="9525">
                      <a:solidFill>
                        <a:srgbClr val="D9E1E8"/>
                      </a:solidFill>
                      <a:prstDash val="solid"/>
                    </a:lnB>
                    <a:solidFill>
                      <a:srgbClr val="225B85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评测与结论边界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1E8"/>
                      </a:solidFill>
                      <a:prstDash val="solid"/>
                    </a:lnR>
                    <a:lnT w="9525">
                      <a:solidFill>
                        <a:srgbClr val="D9E1E8"/>
                      </a:solidFill>
                      <a:prstDash val="solid"/>
                    </a:lnT>
                    <a:lnB w="9525">
                      <a:solidFill>
                        <a:srgbClr val="D9E1E8"/>
                      </a:solidFill>
                      <a:prstDash val="solid"/>
                    </a:lnB>
                    <a:solidFill>
                      <a:srgbClr val="225B85"/>
                    </a:solidFill>
                  </a:tcPr>
                </a:tc>
              </a:tr>
              <a:tr h="757238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1624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纯 PPO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1E8"/>
                      </a:solidFill>
                      <a:prstDash val="solid"/>
                    </a:lnL>
                    <a:lnR w="9525">
                      <a:solidFill>
                        <a:srgbClr val="D9E1E8"/>
                      </a:solidFill>
                      <a:prstDash val="solid"/>
                    </a:lnR>
                    <a:lnB w="9525">
                      <a:solidFill>
                        <a:srgbClr val="D9E1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pPr algn="ctr"/>
                      <a:r>
                        <a:rPr sz="1950" b="0">
                          <a:solidFill>
                            <a:srgbClr val="1624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45.40 秒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1E8"/>
                      </a:solidFill>
                      <a:prstDash val="solid"/>
                    </a:lnR>
                    <a:lnB w="9525">
                      <a:solidFill>
                        <a:srgbClr val="D9E1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pPr algn="ctr"/>
                      <a:r>
                        <a:rPr sz="1950" b="0">
                          <a:solidFill>
                            <a:srgbClr val="1624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自主训练的成功候选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1E8"/>
                      </a:solidFill>
                      <a:prstDash val="solid"/>
                    </a:lnR>
                    <a:lnB w="9525">
                      <a:solidFill>
                        <a:srgbClr val="D9E1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57238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1624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PPO + 偏置搜索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1E8"/>
                      </a:solidFill>
                      <a:prstDash val="solid"/>
                    </a:lnL>
                    <a:lnR w="9525">
                      <a:solidFill>
                        <a:srgbClr val="D9E1E8"/>
                      </a:solidFill>
                      <a:prstDash val="solid"/>
                    </a:lnR>
                    <a:lnB w="9525">
                      <a:solidFill>
                        <a:srgbClr val="D9E1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pPr algn="ctr"/>
                      <a:r>
                        <a:rPr sz="1950" b="0">
                          <a:solidFill>
                            <a:srgbClr val="1624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44.93 秒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1E8"/>
                      </a:solidFill>
                      <a:prstDash val="solid"/>
                    </a:lnR>
                    <a:lnB w="9525">
                      <a:solidFill>
                        <a:srgbClr val="D9E1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pPr algn="ctr"/>
                      <a:r>
                        <a:rPr sz="1950" b="0">
                          <a:solidFill>
                            <a:srgbClr val="1624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包含局部权重搜索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1E8"/>
                      </a:solidFill>
                      <a:prstDash val="solid"/>
                    </a:lnR>
                    <a:lnB w="9525">
                      <a:solidFill>
                        <a:srgbClr val="D9E1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57238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1624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公开示范 BC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1E8"/>
                      </a:solidFill>
                      <a:prstDash val="solid"/>
                    </a:lnL>
                    <a:lnR w="9525">
                      <a:solidFill>
                        <a:srgbClr val="D9E1E8"/>
                      </a:solidFill>
                      <a:prstDash val="solid"/>
                    </a:lnR>
                    <a:lnB w="9525">
                      <a:solidFill>
                        <a:srgbClr val="D9E1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pPr algn="ctr"/>
                      <a:r>
                        <a:rPr sz="1950" b="0">
                          <a:solidFill>
                            <a:srgbClr val="1624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33.03 秒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1E8"/>
                      </a:solidFill>
                      <a:prstDash val="solid"/>
                    </a:lnR>
                    <a:lnB w="9525">
                      <a:solidFill>
                        <a:srgbClr val="D9E1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pPr algn="ctr"/>
                      <a:r>
                        <a:rPr sz="1950" b="0">
                          <a:solidFill>
                            <a:srgbClr val="1624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固定初态复现，原始随机0/64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1E8"/>
                      </a:solidFill>
                      <a:prstDash val="solid"/>
                    </a:lnR>
                    <a:lnB w="9525">
                      <a:solidFill>
                        <a:srgbClr val="D9E1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57238"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1624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跳远迁移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9E1E8"/>
                      </a:solidFill>
                      <a:prstDash val="solid"/>
                    </a:lnL>
                    <a:lnR w="9525">
                      <a:solidFill>
                        <a:srgbClr val="D9E1E8"/>
                      </a:solidFill>
                      <a:prstDash val="solid"/>
                    </a:lnR>
                    <a:lnB w="9525">
                      <a:solidFill>
                        <a:srgbClr val="D9E1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pPr algn="ctr"/>
                      <a:r>
                        <a:rPr sz="1950" b="0">
                          <a:solidFill>
                            <a:srgbClr val="1624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2.59 / 3.16 米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1E8"/>
                      </a:solidFill>
                      <a:prstDash val="solid"/>
                    </a:lnR>
                    <a:lnB w="9525">
                      <a:solidFill>
                        <a:srgbClr val="D9E1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114300" rIns="114300" bIns="114300">
                      <a:noAutofit/>
                    </a:bodyPr>
                    <a:lstStyle/>
                    <a:p>
                      <a:pPr algn="ctr"/>
                      <a:r>
                        <a:rPr sz="1950" b="0">
                          <a:solidFill>
                            <a:srgbClr val="1624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确定性 / 2048次随机最佳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9E1E8"/>
                      </a:solidFill>
                      <a:prstDash val="solid"/>
                    </a:lnR>
                    <a:lnB w="9525">
                      <a:solidFill>
                        <a:srgbClr val="D9E1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FEDCA2C7-FB69-4F94-A629-94D44D126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10820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225B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225B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25B85"/>
                </a:solidFill>
                <a:latin typeface="Microsoft YaHei"/>
                <a:ea typeface="Microsoft YaHei"/>
                <a:cs typeface="Microsoft YaHei"/>
              </a:rPr>
              <a:t>原生成绩、成功率与随机均值分开报告；固定初态复现尚不证明泛化</a:t>
            </a:r>
          </a:p>
        </p:txBody>
      </p:sp>
    </p:spTree>
    <p:extLst>
      <p:ext uri="{BB962C8B-B14F-4D97-AF65-F5344CB8AC3E}">
        <p14:creationId xmlns:p14="http://schemas.microsoft.com/office/powerpoint/2010/main" val="89472402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A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5CC5E59-9099-4C22-AA02-EA241867C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rPr>
              <a:t>后续：从轨迹复现走向稳定控制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F586953B-F6B3-4018-80A2-4C411609D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91275"/>
            <a:ext cx="428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135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56578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3" name="text-3">
            <a:extLst xmlns:a="http://schemas.openxmlformats.org/drawingml/2006/main">
              <a:ext uri="{FF2B5EF4-FFF2-40B4-BE49-F238E27FC236}">
                <a16:creationId xmlns:a16="http://schemas.microsoft.com/office/drawing/2014/main" id="{1EF37EE9-0EAF-4B53-B0EB-C1D746A0F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71650"/>
            <a:ext cx="419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4" name="text-4">
            <a:extLst xmlns:a="http://schemas.openxmlformats.org/drawingml/2006/main">
              <a:ext uri="{FF2B5EF4-FFF2-40B4-BE49-F238E27FC236}">
                <a16:creationId xmlns:a16="http://schemas.microsoft.com/office/drawing/2014/main" id="{892F0339-D781-42A1-8324-B0F93240C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752600"/>
            <a:ext cx="102679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250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rPr>
              <a:t>先用原生成绩审计奖励，减少未经验证的姿态假设</a:t>
            </a:r>
          </a:p>
        </p:txBody>
      </p:sp>
      <p:sp>
        <p:nvSpPr>
          <p:cNvPr id="5" name="text-5">
            <a:extLst xmlns:a="http://schemas.openxmlformats.org/drawingml/2006/main">
              <a:ext uri="{FF2B5EF4-FFF2-40B4-BE49-F238E27FC236}">
                <a16:creationId xmlns:a16="http://schemas.microsoft.com/office/drawing/2014/main" id="{9ED5329E-22F6-4F1E-A67C-A32FC74D2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95575"/>
            <a:ext cx="419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6" name="text-6">
            <a:extLst xmlns:a="http://schemas.openxmlformats.org/drawingml/2006/main">
              <a:ext uri="{FF2B5EF4-FFF2-40B4-BE49-F238E27FC236}">
                <a16:creationId xmlns:a16="http://schemas.microsoft.com/office/drawing/2014/main" id="{5E775C24-40FC-4338-97F8-A7CEDFF31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676525"/>
            <a:ext cx="102679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250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rPr>
              <a:t>BC约束下小步PPO微调，训练偏离轨迹后的恢复</a:t>
            </a:r>
          </a:p>
        </p:txBody>
      </p:sp>
      <p:sp>
        <p:nvSpPr>
          <p:cNvPr id="7" name="text-7">
            <a:extLst xmlns:a="http://schemas.openxmlformats.org/drawingml/2006/main">
              <a:ext uri="{FF2B5EF4-FFF2-40B4-BE49-F238E27FC236}">
                <a16:creationId xmlns:a16="http://schemas.microsoft.com/office/drawing/2014/main" id="{0FA6C939-F1EE-4C19-B340-BFCAEF176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0"/>
            <a:ext cx="419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8" name="text-8">
            <a:extLst xmlns:a="http://schemas.openxmlformats.org/drawingml/2006/main">
              <a:ext uri="{FF2B5EF4-FFF2-40B4-BE49-F238E27FC236}">
                <a16:creationId xmlns:a16="http://schemas.microsoft.com/office/drawing/2014/main" id="{F54D780C-F4D3-42F6-ACE0-F09A9B958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600450"/>
            <a:ext cx="102679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250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rPr>
              <a:t>统一初态、随机种子和扰动，开展多种子对照</a:t>
            </a:r>
          </a:p>
        </p:txBody>
      </p:sp>
      <p:sp>
        <p:nvSpPr>
          <p:cNvPr id="9" name="text-9">
            <a:extLst xmlns:a="http://schemas.openxmlformats.org/drawingml/2006/main">
              <a:ext uri="{FF2B5EF4-FFF2-40B4-BE49-F238E27FC236}">
                <a16:creationId xmlns:a16="http://schemas.microsoft.com/office/drawing/2014/main" id="{8F7BBB20-97FC-4243-BFDC-D0AC4ADBF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43425"/>
            <a:ext cx="419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00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78578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0" name="text-10">
            <a:extLst xmlns:a="http://schemas.openxmlformats.org/drawingml/2006/main">
              <a:ext uri="{FF2B5EF4-FFF2-40B4-BE49-F238E27FC236}">
                <a16:creationId xmlns:a16="http://schemas.microsoft.com/office/drawing/2014/main" id="{E3928274-862C-4F30-BC47-E21CEEE7C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524375"/>
            <a:ext cx="102679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250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6243A"/>
                </a:solidFill>
                <a:latin typeface="Microsoft YaHei"/>
                <a:ea typeface="Microsoft YaHei"/>
                <a:cs typeface="Microsoft YaHei"/>
              </a:rPr>
              <a:t>跳远按正式距离和成功率选模，继续优化起跳</a:t>
            </a:r>
          </a:p>
        </p:txBody>
      </p:sp>
      <p:sp>
        <p:nvSpPr>
          <p:cNvPr id="11" name="text-11">
            <a:extLst xmlns:a="http://schemas.openxmlformats.org/drawingml/2006/main">
              <a:ext uri="{FF2B5EF4-FFF2-40B4-BE49-F238E27FC236}">
                <a16:creationId xmlns:a16="http://schemas.microsoft.com/office/drawing/2014/main" id="{540FFF3B-118B-483D-9858-FE87252BA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108204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225B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475" b="1">
                <a:solidFill>
                  <a:srgbClr val="225B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225B85"/>
                </a:solidFill>
                <a:latin typeface="Microsoft YaHei"/>
                <a:ea typeface="Microsoft YaHei"/>
                <a:cs typeface="Microsoft YaHei"/>
              </a:rPr>
              <a:t>奖励对齐目标，原生评测检验进步</a:t>
            </a:r>
          </a:p>
        </p:txBody>
      </p:sp>
    </p:spTree>
    <p:extLst>
      <p:ext uri="{BB962C8B-B14F-4D97-AF65-F5344CB8AC3E}">
        <p14:creationId xmlns:p14="http://schemas.microsoft.com/office/powerpoint/2010/main" val="190265166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2026-10-13T06:14:43.0060000Z</dcterms:created>
  <dcterms:modified xsi:type="dcterms:W3CDTF">2026-10-13T06:14:43.0060000Z</dcterms:modified>
</coreProperties>
</file>