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102a1af4604749" /><Relationship Type="http://schemas.openxmlformats.org/officeDocument/2006/relationships/extended-properties" Target="/docProps/app.xml" Id="R80f499c948ef482c" /><Relationship Type="http://schemas.openxmlformats.org/officeDocument/2006/relationships/officeDocument" Target="/ppt/presentation.xml" Id="Rf9bae3b0f26e445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ce2e4843f8493d"/>
  </p:sldMasterIdLst>
  <p:notesMasterIdLst>
    <p:notesMasterId xmlns:r="http://schemas.openxmlformats.org/officeDocument/2006/relationships" r:id="Rb05f09b509374646"/>
  </p:notesMasterIdLst>
  <p:sldIdLst>
    <p:sldId xmlns:r="http://schemas.openxmlformats.org/officeDocument/2006/relationships" id="256" r:id="R7056eff0d77344b3"/>
    <p:sldId xmlns:r="http://schemas.openxmlformats.org/officeDocument/2006/relationships" id="257" r:id="R1b9d512a58a64abe"/>
    <p:sldId xmlns:r="http://schemas.openxmlformats.org/officeDocument/2006/relationships" id="258" r:id="R29a434b99db8486e"/>
    <p:sldId xmlns:r="http://schemas.openxmlformats.org/officeDocument/2006/relationships" id="259" r:id="Ra1eb5d3d0f8e41db"/>
    <p:sldId xmlns:r="http://schemas.openxmlformats.org/officeDocument/2006/relationships" id="260" r:id="R9e29f182177a4acd"/>
    <p:sldId xmlns:r="http://schemas.openxmlformats.org/officeDocument/2006/relationships" id="261" r:id="Rcf76de971d3e4f58"/>
    <p:sldId xmlns:r="http://schemas.openxmlformats.org/officeDocument/2006/relationships" id="262" r:id="Ra5157e1f936e46e7"/>
    <p:sldId xmlns:r="http://schemas.openxmlformats.org/officeDocument/2006/relationships" id="263" r:id="R3507beb86790415c"/>
    <p:sldId xmlns:r="http://schemas.openxmlformats.org/officeDocument/2006/relationships" id="264" r:id="R7f70728fc7094689"/>
    <p:sldId xmlns:r="http://schemas.openxmlformats.org/officeDocument/2006/relationships" id="265" r:id="Re0c805027f4e4bca"/>
    <p:sldId xmlns:r="http://schemas.openxmlformats.org/officeDocument/2006/relationships" id="266" r:id="R710409552ede43bd"/>
    <p:sldId xmlns:r="http://schemas.openxmlformats.org/officeDocument/2006/relationships" id="267" r:id="R1823c608a3b9409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66b93628e9433d" /><Relationship Type="http://schemas.openxmlformats.org/officeDocument/2006/relationships/slideMaster" Target="/ppt/slideMasters/slideMaster1.xml" Id="R57ce2e4843f8493d" /><Relationship Type="http://schemas.openxmlformats.org/officeDocument/2006/relationships/notesMaster" Target="/ppt/notesMasters/notesMaster1.xml" Id="Rb05f09b509374646" /><Relationship Type="http://schemas.openxmlformats.org/officeDocument/2006/relationships/presProps" Target="/ppt/presProps.xml" Id="R428882d95455411f" /><Relationship Type="http://schemas.openxmlformats.org/officeDocument/2006/relationships/tableStyles" Target="/ppt/tableStyles.xml" Id="R75b4987b62204f45" /><Relationship Type="http://schemas.openxmlformats.org/officeDocument/2006/relationships/slide" Target="/ppt/slides/slide1.xml" Id="R7056eff0d77344b3" /><Relationship Type="http://schemas.openxmlformats.org/officeDocument/2006/relationships/slide" Target="/ppt/slides/slide2.xml" Id="R1b9d512a58a64abe" /><Relationship Type="http://schemas.openxmlformats.org/officeDocument/2006/relationships/slide" Target="/ppt/slides/slide3.xml" Id="R29a434b99db8486e" /><Relationship Type="http://schemas.openxmlformats.org/officeDocument/2006/relationships/slide" Target="/ppt/slides/slide4.xml" Id="Ra1eb5d3d0f8e41db" /><Relationship Type="http://schemas.openxmlformats.org/officeDocument/2006/relationships/slide" Target="/ppt/slides/slide5.xml" Id="R9e29f182177a4acd" /><Relationship Type="http://schemas.openxmlformats.org/officeDocument/2006/relationships/slide" Target="/ppt/slides/slide6.xml" Id="Rcf76de971d3e4f58" /><Relationship Type="http://schemas.openxmlformats.org/officeDocument/2006/relationships/slide" Target="/ppt/slides/slide7.xml" Id="Ra5157e1f936e46e7" /><Relationship Type="http://schemas.openxmlformats.org/officeDocument/2006/relationships/slide" Target="/ppt/slides/slide8.xml" Id="R3507beb86790415c" /><Relationship Type="http://schemas.openxmlformats.org/officeDocument/2006/relationships/slide" Target="/ppt/slides/slide9.xml" Id="R7f70728fc7094689" /><Relationship Type="http://schemas.openxmlformats.org/officeDocument/2006/relationships/slide" Target="/ppt/slides/slide10.xml" Id="Re0c805027f4e4bca" /><Relationship Type="http://schemas.openxmlformats.org/officeDocument/2006/relationships/slide" Target="/ppt/slides/slide11.xml" Id="R710409552ede43bd" /><Relationship Type="http://schemas.openxmlformats.org/officeDocument/2006/relationships/slide" Target="/ppt/slides/slide12.xml" Id="R1823c608a3b940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445e9df3494d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99762ca8f94b49" /><Relationship Type="http://schemas.openxmlformats.org/officeDocument/2006/relationships/notesMaster" Target="/ppt/notesMasters/notesMaster1.xml" Id="Rcdc3e56931734df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72f8826e0e64d4a" /><Relationship Type="http://schemas.openxmlformats.org/officeDocument/2006/relationships/notesMaster" Target="/ppt/notesMasters/notesMaster1.xml" Id="Rf18ead17c19d4f7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9976ff5d5264a41" /><Relationship Type="http://schemas.openxmlformats.org/officeDocument/2006/relationships/notesMaster" Target="/ppt/notesMasters/notesMaster1.xml" Id="R974b4129c6e846d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d36b1a422c74179" /><Relationship Type="http://schemas.openxmlformats.org/officeDocument/2006/relationships/notesMaster" Target="/ppt/notesMasters/notesMaster1.xml" Id="R32470cd6542a43f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aad8bfaec7f49b9" /><Relationship Type="http://schemas.openxmlformats.org/officeDocument/2006/relationships/notesMaster" Target="/ppt/notesMasters/notesMaster1.xml" Id="Rcd28008a4d654a3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de99eadf152454f" /><Relationship Type="http://schemas.openxmlformats.org/officeDocument/2006/relationships/notesMaster" Target="/ppt/notesMasters/notesMaster1.xml" Id="R584533d42dfe480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8e3281501d24fce" /><Relationship Type="http://schemas.openxmlformats.org/officeDocument/2006/relationships/notesMaster" Target="/ppt/notesMasters/notesMaster1.xml" Id="R2ebea79ea3314e0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6d07c99b07d416e" /><Relationship Type="http://schemas.openxmlformats.org/officeDocument/2006/relationships/notesMaster" Target="/ppt/notesMasters/notesMaster1.xml" Id="R6a997946082a43b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6ab6d47c4b6400c" /><Relationship Type="http://schemas.openxmlformats.org/officeDocument/2006/relationships/notesMaster" Target="/ppt/notesMasters/notesMaster1.xml" Id="Ra06dedeb34c4465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08767e064fb4c2c" /><Relationship Type="http://schemas.openxmlformats.org/officeDocument/2006/relationships/notesMaster" Target="/ppt/notesMasters/notesMaster1.xml" Id="Reba434d1b4ba4cf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7145cd0c2a3425d" /><Relationship Type="http://schemas.openxmlformats.org/officeDocument/2006/relationships/notesMaster" Target="/ppt/notesMasters/notesMaster1.xml" Id="Rbf1e481b65e64fc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c936918f2d5439c" /><Relationship Type="http://schemas.openxmlformats.org/officeDocument/2006/relationships/notesMaster" Target="/ppt/notesMasters/notesMaster1.xml" Id="R4b9fcf219c3e4b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建议讲述时间：20秒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老师好，我汇报的题目是基于深度强化学习的QWOP运动控制与策略优化研究。项目从开源训练框架出发，围绕百米跑步和跳远，依次尝试奖励优化、探索和示范学习。我重点介绍方法、实验结果，以及哪些提升已经验证、哪些问题还没有解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来源（不朗读）：</a:t>
            </a:r>
          </a:p>
          <a:p xmlns:a="http://schemas.openxmlformats.org/drawingml/2006/main">
            <a:r>
              <a:t>E:/Work/强化学习小项目/verification/project_report/report_front.md</a:t>
            </a:r>
          </a:p>
          <a:p xmlns:a="http://schemas.openxmlformats.org/drawingml/2006/main">
            <a:r>
              <a:t>https://github.com/LYiHub/QWOP_rl_training_public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建议讲述时间：45秒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WOP用四个按键控制腿部运动，动作需要连续协调，错误容易导致摔倒。模型读取身体位置、角度、速度和脚接触等状态，而不是读取游戏画面，输出四个按键的组合。百米模式还有50米处的障碍，120秒上限，所以并非全程平跑。跳远包括30米助跑、起跳和落地，原生有效通关还要求走出沙坑。评价百米看正式完赛用时，评价跳远看最终落点距离，同时统计成功率。右边是原版游戏的示意图，不代表本项目成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来源（不朗读）：</a:t>
            </a:r>
          </a:p>
          <a:p xmlns:a="http://schemas.openxmlformats.org/drawingml/2006/main">
            <a:r>
              <a:t>E:/Work/强化学习小项目/verification/project_report/report_front.md 第3节</a:t>
            </a:r>
          </a:p>
          <a:p xmlns:a="http://schemas.openxmlformats.org/drawingml/2006/main">
            <a:r>
              <a:t>E:/Work/强化学习小项目/QWOP_rl_training_public/src/training_env.cpp</a:t>
            </a:r>
          </a:p>
          <a:p xmlns:a="http://schemas.openxmlformats.org/drawingml/2006/main">
            <a:r>
              <a:t>https://thecreativeindependent.com/people/bennett-foddy-on-the-pitfalls-of-perfectionism/</a:t>
            </a:r>
          </a:p>
          <a:p xmlns:a="http://schemas.openxmlformats.org/drawingml/2006/main">
            <a:r>
              <a:t>https://s3.amazonaws.com/tci-assets/uploads/bennett-pic.jpg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建议讲述时间：50秒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训练入口是train_ppo.py。每轮先根据配置创建并行环境，归一化观测并堆叠历史，Actor根据这些状态采样动作。Python封装通过pybind11调用C++环境，再调用物理DLL执行按键并读回状态、奖励与终止标志。我们把本轮交互存入rollout，计算优势，再按小批量更新Actor和Critic。更新后保存权重、优化器、配置和计数，独立执行模型评测，并导出动作回放。项目保留原有PPO、日志和保存架构，改进主要集中在奖励、观测处理和局部策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来源（不朗读）：</a:t>
            </a:r>
          </a:p>
          <a:p xmlns:a="http://schemas.openxmlformats.org/drawingml/2006/main">
            <a:r>
              <a:t>E:/Work/强化学习小项目/QWOP_rl_training_public/scripts/train_ppo.py</a:t>
            </a:r>
          </a:p>
          <a:p xmlns:a="http://schemas.openxmlformats.org/drawingml/2006/main">
            <a:r>
              <a:t>E:/Work/强化学习小项目/QWOP_rl_training_public/scripts/running_env.py</a:t>
            </a:r>
          </a:p>
          <a:p xmlns:a="http://schemas.openxmlformats.org/drawingml/2006/main">
            <a:r>
              <a:t>E:/Work/强化学习小项目/QWOP_rl_training_public/src/python_module.cpp</a:t>
            </a:r>
          </a:p>
          <a:p xmlns:a="http://schemas.openxmlformats.org/drawingml/2006/main">
            <a:r>
              <a:t>E:/Work/强化学习小项目/QWOP_rl_training_public/src/training_env.cpp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建议讲述时间：60秒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自行实现离散动作PPO，没有调用SAC或TD3。Actor输出按键概率，Critic预测未来回报。GAE结合当前奖励、下一状态价值和多步反馈，估计这个动作相对于预期好多少。PPO用新旧策略的概率比更新动作分布，裁剪机制会限制过度改变策略，减少一次更新破坏已有步态的风险。训练还使用熵奖励、Adam和梯度裁剪。本项目使用on-policy rollout，每轮采集新数据，不使用长期经验回放池。网络从128乘128的Tanh层扩展到256乘256，后期尝试独立Critic和32帧历史，也就是2176维输入。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来源（不朗读）：</a:t>
            </a:r>
          </a:p>
          <a:p xmlns:a="http://schemas.openxmlformats.org/drawingml/2006/main">
            <a:r>
              <a:t>E:/Work/强化学习小项目/QWOP_rl_training_public/scripts/train_ppo.py</a:t>
            </a:r>
          </a:p>
          <a:p xmlns:a="http://schemas.openxmlformats.org/drawingml/2006/main">
            <a:r>
              <a:t>https://arxiv.org/abs/1707.06347</a:t>
            </a:r>
          </a:p>
          <a:p xmlns:a="http://schemas.openxmlformats.org/drawingml/2006/main">
            <a:r>
              <a:t>https://arxiv.org/abs/1506.02438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建议讲述时间：50秒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首先完成Windows环境构建，确认观测和动作形状、reset、数值有限性，以及checkpoint保存和加载。原奖励续训约1049万条转移后，64次随机运行没有通关，平均前进35.59米。回放还暴露出低姿态前进的问题，原输入尺度使Tanh大量饱和。我们增加固定缩放、历史帧，使用躯干高度代理和脚支撑进度来减少持续低姿态。v3达到38次随机通关，确定性75.27秒。右图是这一轮自己的真实回合回报曲线，不能与更换奖励后的数值直接比较。后端没有膝盖碰撞标志，所以只能声称改善低姿态代理指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来源（不朗读）：</a:t>
            </a:r>
          </a:p>
          <a:p xmlns:a="http://schemas.openxmlformats.org/drawingml/2006/main">
            <a:r>
              <a:t>E:/Work/强化学习小项目/verification/baseline_report.md</a:t>
            </a:r>
          </a:p>
          <a:p xmlns:a="http://schemas.openxmlformats.org/drawingml/2006/main">
            <a:r>
              <a:t>E:/Work/强化学习小项目/verification/classic_training_report.md</a:t>
            </a:r>
          </a:p>
          <a:p xmlns:a="http://schemas.openxmlformats.org/drawingml/2006/main">
            <a:r>
              <a:t>E:/Work/强化学习小项目/verification/foot_running_training_report.md</a:t>
            </a:r>
          </a:p>
          <a:p xmlns:a="http://schemas.openxmlformats.org/drawingml/2006/main">
            <a:r>
              <a:t>E:/Work/强化学习小项目/verification/project_report/events_data.json：ppo_foot_running_v3/charts/episode_return_mean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建议讲述时间：55秒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随后加入姿态、近期速度、低速处罚和更早完赛反馈，并增加历史帧，让模型更容易识别运动阶段。纯PPO的已验证候选从75.27秒，改善到65.63秒、50.17秒，后期最好45.40秒。部分阶段还对Actor偏置做小幅参数搜索，保留49.97秒、44.97秒，最终44.93秒。搜索改变了网络权重，所以这些成绩必须与未经搜索的PPO快照区分。我们还尝试起步反馈、越栏恢复、独立Critic和较长信用分配，但没有完成43秒目标。这说明继续堆奖励项或训练步数，不一定能解决策略的局部最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来源（不朗读）：</a:t>
            </a:r>
          </a:p>
          <a:p xmlns:a="http://schemas.openxmlformats.org/drawingml/2006/main">
            <a:r>
              <a:t>E:/Work/强化学习小项目/verification/forward_lean_training_report.md</a:t>
            </a:r>
          </a:p>
          <a:p xmlns:a="http://schemas.openxmlformats.org/drawingml/2006/main">
            <a:r>
              <a:t>E:/Work/强化学习小项目/QWOP_rl_training_public/docs/under50-training.md</a:t>
            </a:r>
          </a:p>
          <a:p xmlns:a="http://schemas.openxmlformats.org/drawingml/2006/main">
            <a:r>
              <a:t>E:/Work/强化学习小项目/QWOP_rl_training_public/docs/under45-training.md</a:t>
            </a:r>
          </a:p>
          <a:p xmlns:a="http://schemas.openxmlformats.org/drawingml/2006/main">
            <a:r>
              <a:t>E:/Work/强化学习小项目/QWOP_rl_training_public/docs/bottleneck-followup-training.md</a:t>
            </a:r>
          </a:p>
          <a:p xmlns:a="http://schemas.openxmlformats.org/drawingml/2006/main">
            <a:r>
              <a:t>E:/Work/强化学习小项目/verification/project_report/report_front.md 第6.7节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建议讲述时间：55秒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帧诊断发现，44.97秒策略约6.9秒才到10米，50米障碍附近又有腾空和落地恢复损失。但更根本的问题来自奖励审计。将33.03秒专家轨迹和44.93秒旧策略在原生环境重放，旧奖励给慢策略1877分，却只给快示范1451分。因为专家大量动作不符合旧姿态门槛，速度优势被处罚抵消。改成正式成功与用时导向奖励后，快轨迹获得更高分。这个结果直接指出旧规则对这两条轨迹的目标冲突，也提醒我们，5度前倾、步频更高、上下更平稳，都应作为假设验证。两条轨迹不足以证明新奖励在所有状态下都最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来源（不朗读）：</a:t>
            </a:r>
          </a:p>
          <a:p xmlns:a="http://schemas.openxmlformats.org/drawingml/2006/main">
            <a:r>
              <a:t>E:/Work/强化学习小项目/verification/bottleneck_baseline_comparison.json</a:t>
            </a:r>
          </a:p>
          <a:p xmlns:a="http://schemas.openxmlformats.org/drawingml/2006/main">
            <a:r>
              <a:t>E:/Work/强化学习小项目/QWOP_rl_training_public/docs/shadow-imitation-pilot.md</a:t>
            </a:r>
          </a:p>
          <a:p xmlns:a="http://schemas.openxmlformats.org/drawingml/2006/main">
            <a:r>
              <a:t>E:/Work/强化学习小项目/QWOP_rl_training_public/src/reward_profiles.cpp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建议讲述时间：45秒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ND固定一个随机目标网络，训练预测器模仿它，预测误差越大表示状态相对新颖，并提供内在奖励。本次对照从同一个44.93秒Actor开始，两组各采集约1678万条转移。关闭RND时随机成功57次，开启后61次，成功平均用时也略有改善。但最好确定性保存点从46.80秒变成47.23秒，都没有超过原模型。因此，这次看到的是部分稳定性指标改善，不能把RND写成已经证明的提速方法。实验只有一个训练种子，仍需多种子和相同随机评测集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来源（不朗读）：</a:t>
            </a:r>
          </a:p>
          <a:p xmlns:a="http://schemas.openxmlformats.org/drawingml/2006/main">
            <a:r>
              <a:t>E:/Work/强化学习小项目/QWOP_rl_training_public/docs/task-reward-rnd-experiment.md</a:t>
            </a:r>
          </a:p>
          <a:p xmlns:a="http://schemas.openxmlformats.org/drawingml/2006/main">
            <a:r>
              <a:t>E:/Work/强化学习小项目/QWOP_rl_training_public/scripts/train_ppo.py</a:t>
            </a:r>
          </a:p>
          <a:p xmlns:a="http://schemas.openxmlformats.org/drawingml/2006/main">
            <a:r>
              <a:t>https://arxiv.org/abs/1810.12894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建议讲述时间：65秒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主探索速度受限后，我们使用网站公开冠军XYF的影子动作作为示范。先在原生环境执行这991帧动作，构建状态动作样本，再复用原Actor进行交叉熵训练。测试时网络读取当前观测自行选动作，没有按时间播放专家动作列表。epoch900的分类准确率已经99.899%，闭环仍在52米失败，epoch1000准确率100%后才复现33.03秒。这说明序列控制中很小的动作偏差也会累积。固定初始状态下16次都完成，但按原始概率随机采样的64次全部失败。降低采样温度筛出的33.13和33.17秒是不同真实回放，权重没变，也没有突破示范速度。我们需要训练偏离轨迹后的纠错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来源（不朗读）：</a:t>
            </a:r>
          </a:p>
          <a:p xmlns:a="http://schemas.openxmlformats.org/drawingml/2006/main">
            <a:r>
              <a:t>E:/Work/强化学习小项目/QWOP_rl_training_public/docs/shadow-imitation-pilot.md</a:t>
            </a:r>
          </a:p>
          <a:p xmlns:a="http://schemas.openxmlformats.org/drawingml/2006/main">
            <a:r>
              <a:t>E:/Work/强化学习小项目/QWOP_rl_training_public/scripts/train_replay_imitation.py</a:t>
            </a:r>
          </a:p>
          <a:p xmlns:a="http://schemas.openxmlformats.org/drawingml/2006/main">
            <a:r>
              <a:t>E:/Work/强化学习小项目/verification/shadow_audit/imitation_pilot.json</a:t>
            </a:r>
          </a:p>
          <a:p xmlns:a="http://schemas.openxmlformats.org/drawingml/2006/main">
            <a:r>
              <a:t>E:/Work/强化学习小项目/verification/project_report/report_front.md 第6.10节</a:t>
            </a:r>
          </a:p>
          <a:p xmlns:a="http://schemas.openxmlformats.org/drawingml/2006/main">
            <a:r>
              <a:t>https://run.lyihub.com/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建议讲述时间：60秒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进一步把33秒跑步策略迁移到跳远。直接加载时很快摔倒，原因是百米和跳远虽然都为68维，但位置字段的原点和语义不同。通过第一层偏置校准输入原点后，前25米334帧动作和身体状态与百米一致。随后冻结助跑Actor和表征，只在起跳线附近训练动作调整层，同时使用独立Critic，继续沿用作者的跳远奖励。三轮训练后的确定性最好2.588米，2048次随机运行中最好3.161米，有1663次通关。独立64次评测51次成功，成功平均1.507米。最佳回放高于以前的2.802米，但两次搜索规模不同，确定性成绩仍未超过旧2.599米，稳定起跳还需要改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来源（不朗读）：</a:t>
            </a:r>
          </a:p>
          <a:p xmlns:a="http://schemas.openxmlformats.org/drawingml/2006/main">
            <a:r>
              <a:t>E:/Work/强化学习小项目/QWOP_rl_training_public/docs/long-jump-training.md</a:t>
            </a:r>
          </a:p>
          <a:p xmlns:a="http://schemas.openxmlformats.org/drawingml/2006/main">
            <a:r>
              <a:t>E:/Work/强化学习小项目/QWOP_rl_training_public/docs/long-jump-shadow-transfer.md</a:t>
            </a:r>
          </a:p>
          <a:p xmlns:a="http://schemas.openxmlformats.org/drawingml/2006/main">
            <a:r>
              <a:t>E:/Work/强化学习小项目/verification/long_jump_shadow_final_report.json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建议讲述时间：50秒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汇总结果时，需要按方法来源分开。纯PPO最好已验证45.40秒，加入Actor偏置搜索得到44.93秒。33.03秒是本地模型模仿公开外部专家的成果，不能说成自主PPO探索出冠军策略。跳远迁移的随机最佳提高到3.16米，但确定性没有超过旧结果。训练奖励、原生正式成绩、成功率和成功回合均值也需要分别报告。这里的固定初态确定性复跑验证了保存、加载和执行的一致性，没有验证不同初始姿态下的泛化。项目已经形成可加载模型、日志和回放的完整产物，下一步应把重点转向稳定控制与可重复评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来源（不朗读）：</a:t>
            </a:r>
          </a:p>
          <a:p xmlns:a="http://schemas.openxmlformats.org/drawingml/2006/main">
            <a:r>
              <a:t>E:/Work/强化学习小项目/verification/project_report/report_front.md 第1、7、8节</a:t>
            </a:r>
          </a:p>
          <a:p xmlns:a="http://schemas.openxmlformats.org/drawingml/2006/main">
            <a:r>
              <a:t>E:/Work/强化学习小项目/verification/long_jump_shadow_final_report.json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建议讲述时间：45秒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后续首先建立统一评测协议，固定随机种子和测试条件，报告成功率、成功均值、分位数和最佳值，再加入初始状态扰动与多训练种子。策略方面，可以在行为克隆约束下小步PPO微调，通过受控扰动收集偏离轨迹后的状态，逐步训练纠错，防止破坏已学助跑。跳远继续按正式落点和有效通关选模，集中优化起跳时机。这些都是计划，尚未作为新结果验证。本项目的主要收获是跑通并保留训练架构，用真实回放发现奖励冲突，并验证了示范学习和跨任务迁移的价值与局限。谢谢老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来源（不朗读）：</a:t>
            </a:r>
          </a:p>
          <a:p xmlns:a="http://schemas.openxmlformats.org/drawingml/2006/main">
            <a:r>
              <a:t>E:/Work/强化学习小项目/verification/project_report/report_front.md 第9节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5b2ff5f934466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5fbf4d144544b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b1d057d98946f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8cebaf5765405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91c3bc59714d2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8db196c4ed42a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9C05EAB-2F32-4BBA-9E98-18C44C7E5E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7DCA3E7-F84B-4C27-8EC0-1E8F912512E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2512E5B-9582-4E3C-9DCE-9FC2883486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255C412-031E-46AE-BF42-AA6E88873E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82BF78F-DCF7-4A66-993A-8287B4A5C94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63300F3-20FD-486B-976C-434F011A73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1A389A1-473F-446C-B0C0-E24C65C277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C5E7AB6-7826-44DB-8DCE-DFC6C03AFE4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88A6E2A-D476-4F97-A403-5EA9C9786D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B1BD6C9-66BB-43B0-BACD-D827785EAD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9c9ec1249e43c3" /><Relationship Type="http://schemas.openxmlformats.org/officeDocument/2006/relationships/slideLayout" Target="/ppt/slideLayouts/slideLayout1.xml" Id="R163694db6aba42d2" /><Relationship Type="http://schemas.openxmlformats.org/officeDocument/2006/relationships/slideLayout" Target="/ppt/slideLayouts/slideLayout2.xml" Id="R543fd14b502a4dae" /><Relationship Type="http://schemas.openxmlformats.org/officeDocument/2006/relationships/slideLayout" Target="/ppt/slideLayouts/slideLayout3.xml" Id="R234a321dedd444d1" /><Relationship Type="http://schemas.openxmlformats.org/officeDocument/2006/relationships/slideLayout" Target="/ppt/slideLayouts/slideLayout4.xml" Id="Rc35ccc1d4acc4f69" /><Relationship Type="http://schemas.openxmlformats.org/officeDocument/2006/relationships/slideLayout" Target="/ppt/slideLayouts/slideLayout5.xml" Id="Rbb4aebbe773d4ee7" /><Relationship Type="http://schemas.openxmlformats.org/officeDocument/2006/relationships/slideLayout" Target="/ppt/slideLayouts/slideLayout6.xml" Id="R1a4b96fa0a1a427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63694db6aba42d2"/>
    <p:sldLayoutId xmlns:r="http://schemas.openxmlformats.org/officeDocument/2006/relationships" id="2147483650" r:id="R543fd14b502a4dae"/>
    <p:sldLayoutId xmlns:r="http://schemas.openxmlformats.org/officeDocument/2006/relationships" id="2147483651" r:id="R234a321dedd444d1"/>
    <p:sldLayoutId xmlns:r="http://schemas.openxmlformats.org/officeDocument/2006/relationships" id="2147483652" r:id="Rc35ccc1d4acc4f69"/>
    <p:sldLayoutId xmlns:r="http://schemas.openxmlformats.org/officeDocument/2006/relationships" id="2147483653" r:id="Rbb4aebbe773d4ee7"/>
    <p:sldLayoutId xmlns:r="http://schemas.openxmlformats.org/officeDocument/2006/relationships" id="2147483654" r:id="R1a4b96fa0a1a427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9cf3c53c5f41cd" /><Relationship Type="http://schemas.openxmlformats.org/officeDocument/2006/relationships/notesSlide" Target="/ppt/notesSlides/notesSlide1.xml" Id="R44f3c8efeebd4da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d241b2a5f841e4" /><Relationship Type="http://schemas.openxmlformats.org/officeDocument/2006/relationships/image" Target="/ppt/media/image.jpeg" Id="R728d410e613145ab" /><Relationship Type="http://schemas.openxmlformats.org/officeDocument/2006/relationships/notesSlide" Target="/ppt/notesSlides/notesSlide2.xml" Id="R7601e22925f24bc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ff9112496641c6" /><Relationship Type="http://schemas.openxmlformats.org/officeDocument/2006/relationships/notesSlide" Target="/ppt/notesSlides/notesSlide3.xml" Id="R3dfe9a322d0147d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710a85bb7042fd" /><Relationship Type="http://schemas.openxmlformats.org/officeDocument/2006/relationships/notesSlide" Target="/ppt/notesSlides/notesSlide4.xml" Id="R9e24010e10a642a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ecd06c4e104845" /><Relationship Type="http://schemas.openxmlformats.org/officeDocument/2006/relationships/chart" Target="/ppt/slides/charts/chart1.xml" Id="R7fae35f686e24de5" /><Relationship Type="http://schemas.openxmlformats.org/officeDocument/2006/relationships/notesSlide" Target="/ppt/notesSlides/notesSlide5.xml" Id="R54ac86bef8074ff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2c5815d27742b4" /><Relationship Type="http://schemas.openxmlformats.org/officeDocument/2006/relationships/chart" Target="/ppt/slides/charts/chart2.xml" Id="R08cec772b09d49f6" /><Relationship Type="http://schemas.openxmlformats.org/officeDocument/2006/relationships/notesSlide" Target="/ppt/notesSlides/notesSlide6.xml" Id="R97830923860649f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d816bddd4c44da" /><Relationship Type="http://schemas.openxmlformats.org/officeDocument/2006/relationships/chart" Target="/ppt/slides/charts/chart3.xml" Id="R290a695d46ae441d" /><Relationship Type="http://schemas.openxmlformats.org/officeDocument/2006/relationships/chart" Target="/ppt/slides/charts/chart4.xml" Id="R0cebb05182a540d9" /><Relationship Type="http://schemas.openxmlformats.org/officeDocument/2006/relationships/notesSlide" Target="/ppt/notesSlides/notesSlide7.xml" Id="R5b8601a7ecae4b2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0a378708ff43bb" /><Relationship Type="http://schemas.openxmlformats.org/officeDocument/2006/relationships/notesSlide" Target="/ppt/notesSlides/notesSlide8.xml" Id="Rcf55be74388e42d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d304b2ccd94699" /><Relationship Type="http://schemas.openxmlformats.org/officeDocument/2006/relationships/notesSlide" Target="/ppt/notesSlides/notesSlide9.xml" Id="R392af1c7412f49a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8bb7c3c6cb4763" /><Relationship Type="http://schemas.openxmlformats.org/officeDocument/2006/relationships/notesSlide" Target="/ppt/notesSlides/notesSlide10.xml" Id="R5577762cb9d24d8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d992f16f154c38" /><Relationship Type="http://schemas.openxmlformats.org/officeDocument/2006/relationships/notesSlide" Target="/ppt/notesSlides/notesSlide11.xml" Id="R8eee12ea7624405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97d21521f04108" /><Relationship Type="http://schemas.openxmlformats.org/officeDocument/2006/relationships/notesSlide" Target="/ppt/notesSlides/notesSlide12.xml" Id="R298974a726104967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20点滚动均值</c:v>
          </c:tx>
          <c:spPr>
            <a:ln xmlns:a="http://schemas.openxmlformats.org/drawingml/2006/main" w="28575">
              <a:solidFill>
                <a:srgbClr val="078578"/>
              </a:solidFill>
            </a:ln>
          </c:spPr>
          <c:marker>
            <c:symbol val="none"/>
          </c:marker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Microsoft YaHei"/>
                    <a:ea typeface="Microsoft YaHei"/>
                    <a:cs typeface="Microsoft YaHe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Data'!$A$2:$A$32</c:f>
              <c:numCache>
                <c:formatCode>General</c:formatCode>
                <c:ptCount val="31"/>
                <c:pt idx="0">
                  <c:v>1</c:v>
                </c:pt>
                <c:pt idx="1">
                  <c:v>29</c:v>
                </c:pt>
                <c:pt idx="2">
                  <c:v>53</c:v>
                </c:pt>
                <c:pt idx="3">
                  <c:v>75</c:v>
                </c:pt>
                <c:pt idx="4">
                  <c:v>95</c:v>
                </c:pt>
                <c:pt idx="5">
                  <c:v>115</c:v>
                </c:pt>
                <c:pt idx="6">
                  <c:v>132</c:v>
                </c:pt>
                <c:pt idx="7">
                  <c:v>148</c:v>
                </c:pt>
                <c:pt idx="8">
                  <c:v>164</c:v>
                </c:pt>
                <c:pt idx="9">
                  <c:v>180</c:v>
                </c:pt>
                <c:pt idx="10">
                  <c:v>196</c:v>
                </c:pt>
                <c:pt idx="11">
                  <c:v>212</c:v>
                </c:pt>
                <c:pt idx="12">
                  <c:v>228</c:v>
                </c:pt>
                <c:pt idx="13">
                  <c:v>244</c:v>
                </c:pt>
                <c:pt idx="14">
                  <c:v>260</c:v>
                </c:pt>
                <c:pt idx="15">
                  <c:v>276</c:v>
                </c:pt>
                <c:pt idx="16">
                  <c:v>292</c:v>
                </c:pt>
                <c:pt idx="17">
                  <c:v>308</c:v>
                </c:pt>
                <c:pt idx="18">
                  <c:v>324</c:v>
                </c:pt>
                <c:pt idx="19">
                  <c:v>340</c:v>
                </c:pt>
                <c:pt idx="20">
                  <c:v>356</c:v>
                </c:pt>
                <c:pt idx="21">
                  <c:v>372</c:v>
                </c:pt>
                <c:pt idx="22">
                  <c:v>388</c:v>
                </c:pt>
                <c:pt idx="23">
                  <c:v>404</c:v>
                </c:pt>
                <c:pt idx="24">
                  <c:v>420</c:v>
                </c:pt>
                <c:pt idx="25">
                  <c:v>436</c:v>
                </c:pt>
                <c:pt idx="26">
                  <c:v>452</c:v>
                </c:pt>
                <c:pt idx="27">
                  <c:v>468</c:v>
                </c:pt>
                <c:pt idx="28">
                  <c:v>484</c:v>
                </c:pt>
                <c:pt idx="29">
                  <c:v>500</c:v>
                </c:pt>
                <c:pt idx="30">
                  <c:v>512</c:v>
                </c:pt>
              </c:numCache>
            </c:numRef>
          </c:xVal>
          <c:yVal>
            <c:numRef>
              <c:f>'Chart Data'!$B$2:$B$32</c:f>
              <c:numCache>
                <c:formatCode>General</c:formatCode>
                <c:ptCount val="31"/>
                <c:pt idx="0">
                  <c:v>-9.695274</c:v>
                </c:pt>
                <c:pt idx="1">
                  <c:v>-21.875286</c:v>
                </c:pt>
                <c:pt idx="2">
                  <c:v>-36.214269</c:v>
                </c:pt>
                <c:pt idx="3">
                  <c:v>-40.187376</c:v>
                </c:pt>
                <c:pt idx="4">
                  <c:v>-45.733682</c:v>
                </c:pt>
                <c:pt idx="5">
                  <c:v>-45.529882</c:v>
                </c:pt>
                <c:pt idx="6">
                  <c:v>-46.180762</c:v>
                </c:pt>
                <c:pt idx="7">
                  <c:v>-45.758357</c:v>
                </c:pt>
                <c:pt idx="8">
                  <c:v>-52.054057</c:v>
                </c:pt>
                <c:pt idx="9">
                  <c:v>-51.22803</c:v>
                </c:pt>
                <c:pt idx="10">
                  <c:v>-50.068916</c:v>
                </c:pt>
                <c:pt idx="11">
                  <c:v>-39.284856</c:v>
                </c:pt>
                <c:pt idx="12">
                  <c:v>-32.483026</c:v>
                </c:pt>
                <c:pt idx="13">
                  <c:v>-24.145295</c:v>
                </c:pt>
                <c:pt idx="14">
                  <c:v>-18.459542</c:v>
                </c:pt>
                <c:pt idx="15">
                  <c:v>-13.29619</c:v>
                </c:pt>
                <c:pt idx="16">
                  <c:v>-6.712887</c:v>
                </c:pt>
                <c:pt idx="17">
                  <c:v>-0.736854</c:v>
                </c:pt>
                <c:pt idx="18">
                  <c:v>5.783727</c:v>
                </c:pt>
                <c:pt idx="19">
                  <c:v>9.085267</c:v>
                </c:pt>
                <c:pt idx="20">
                  <c:v>11.104045</c:v>
                </c:pt>
                <c:pt idx="21">
                  <c:v>21.708608</c:v>
                </c:pt>
                <c:pt idx="22">
                  <c:v>59.273752</c:v>
                </c:pt>
                <c:pt idx="23">
                  <c:v>92.058312</c:v>
                </c:pt>
                <c:pt idx="24">
                  <c:v>119.338353</c:v>
                </c:pt>
                <c:pt idx="25">
                  <c:v>128.566722</c:v>
                </c:pt>
                <c:pt idx="26">
                  <c:v>135.245484</c:v>
                </c:pt>
                <c:pt idx="27">
                  <c:v>135.681198</c:v>
                </c:pt>
                <c:pt idx="28">
                  <c:v>134.833582</c:v>
                </c:pt>
                <c:pt idx="29">
                  <c:v>138.191203</c:v>
                </c:pt>
                <c:pt idx="30">
                  <c:v>142.410228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00"/>
          <c:min val="-1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8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esAt val="-100"/>
        <c:majorUnit val="100"/>
      </c:valAx>
      <c:valAx>
        <c:axId val="48650112"/>
        <c:scaling>
          <c:orientation val="minMax"/>
          <c:max val="512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556578"/>
                    </a:solidFill>
                    <a:latin typeface="Microsoft YaHei"/>
                    <a:ea typeface="Microsoft YaHei"/>
                    <a:cs typeface="Microsoft YaHei"/>
                  </a:rPr>
                  <a:t>训练更新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55657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9E1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majorUnit val="128"/>
      </c:valAx>
      <c:spPr>
        <a:solidFill xmlns:a="http://schemas.openxmlformats.org/drawingml/2006/main">
          <a:srgbClr val="FAFBFC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AFBFC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原生百米用时</c:v>
          </c:tx>
          <c:spPr>
            <a:solidFill xmlns:a="http://schemas.openxmlformats.org/drawingml/2006/main">
              <a:srgbClr val="225B85"/>
            </a:solidFill>
          </c:spPr>
          <c:invertIfNegative val="0"/>
          <c:dPt>
            <c:idx val="3"/>
            <c:invertIfNegative val="0"/>
            <c:spPr>
              <a:solidFill xmlns:a="http://schemas.openxmlformats.org/drawingml/2006/main">
                <a:srgbClr val="078578"/>
              </a:solidFill>
            </c:spPr>
          </c:dPt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Microsoft YaHei"/>
                    <a:ea typeface="Microsoft YaHei"/>
                    <a:cs typeface="Microsoft YaHe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Data'!$A$2:$A$5</c:f>
              <c:strCache>
                <c:ptCount val="4"/>
                <c:pt idx="0">
                  <c:v>v3</c:v>
                </c:pt>
                <c:pt idx="1">
                  <c:v>v4</c:v>
                </c:pt>
                <c:pt idx="2">
                  <c:v>v16</c:v>
                </c:pt>
                <c:pt idx="3">
                  <c:v>v33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75.27</c:v>
                </c:pt>
                <c:pt idx="1">
                  <c:v>65.63</c:v>
                </c:pt>
                <c:pt idx="2">
                  <c:v>50.17</c:v>
                </c:pt>
                <c:pt idx="3">
                  <c:v>45.4</c:v>
                </c:pt>
              </c:numCache>
            </c:numRef>
          </c:val>
        </c:ser>
        <c:dLbls>
          <c:delete val="0"/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16243A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1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8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8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AFBFC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AFBFC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累计回报</c:v>
          </c:tx>
          <c:spPr>
            <a:solidFill xmlns:a="http://schemas.openxmlformats.org/drawingml/2006/main">
              <a:srgbClr val="225B85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078578"/>
              </a:solidFill>
            </c:spPr>
          </c:dPt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Microsoft YaHei"/>
                    <a:ea typeface="Microsoft YaHei"/>
                    <a:cs typeface="Microsoft YaHe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Data'!$A$2:$A$3</c:f>
              <c:strCache>
                <c:ptCount val="2"/>
                <c:pt idx="0">
                  <c:v>33.03秒示范</c:v>
                </c:pt>
                <c:pt idx="1">
                  <c:v>44.93秒策略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1450.95</c:v>
                </c:pt>
                <c:pt idx="1">
                  <c:v>1877.42</c:v>
                </c:pt>
              </c:numCache>
            </c:numRef>
          </c:val>
        </c:ser>
        <c:dLbls>
          <c:delete val="0"/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 b="1">
                  <a:solidFill>
                    <a:srgbClr val="16243A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1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26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8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1000"/>
      </c:valAx>
      <c:spPr>
        <a:solidFill xmlns:a="http://schemas.openxmlformats.org/drawingml/2006/main">
          <a:srgbClr val="FAFBFC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AFBFC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累计回报</c:v>
          </c:tx>
          <c:spPr>
            <a:solidFill xmlns:a="http://schemas.openxmlformats.org/drawingml/2006/main">
              <a:srgbClr val="225B85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078578"/>
              </a:solidFill>
            </c:spPr>
          </c:dPt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Microsoft YaHei"/>
                    <a:ea typeface="Microsoft YaHei"/>
                    <a:cs typeface="Microsoft YaHe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Data'!$A$2:$A$3</c:f>
              <c:strCache>
                <c:ptCount val="2"/>
                <c:pt idx="0">
                  <c:v>33.03秒示范</c:v>
                </c:pt>
                <c:pt idx="1">
                  <c:v>44.93秒策略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2300.67</c:v>
                </c:pt>
                <c:pt idx="1">
                  <c:v>2055.8</c:v>
                </c:pt>
              </c:numCache>
            </c:numRef>
          </c:val>
        </c:ser>
        <c:dLbls>
          <c:delete val="0"/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 b="1">
                  <a:solidFill>
                    <a:srgbClr val="16243A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1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26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8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1000"/>
      </c:valAx>
      <c:spPr>
        <a:solidFill xmlns:a="http://schemas.openxmlformats.org/drawingml/2006/main">
          <a:srgbClr val="FAFBFC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AFBFC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920E340-28FA-4FBC-8190-4F2AF405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0BBA2054-9511-4392-97EF-FC334E4C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350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4350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rPr>
              <a:t>基于深度强化学习的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A8BAAC89-F6DF-4564-A589-838ED3E63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1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51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QWOP 运动控制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33E87CA5-D0BC-46E6-93E6-EA7D65247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10820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1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51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与策略优化研究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EE993701-05B0-4A22-BC6A-257636F2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百米提速与跳远迁移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05AE8266-E7BB-488B-9EB6-7C31661B8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7690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rPr>
              <a:t>Lionel_Zhao  ·  课堂项目汇报</a:t>
            </a:r>
          </a:p>
        </p:txBody>
      </p:sp>
    </p:spTree>
    <p:extLst>
      <p:ext uri="{BB962C8B-B14F-4D97-AF65-F5344CB8AC3E}">
        <p14:creationId xmlns:p14="http://schemas.microsoft.com/office/powerpoint/2010/main" val="6157543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87DC658-F331-4674-9344-6E13F3FA9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研究任务：从按键到稳定运动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4126E5F-2863-4822-AE86-0B93FBC3C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9F61BBAD-913F-4B30-A003-854184D85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00B43388-5250-470F-8938-8C3B32708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85950"/>
            <a:ext cx="39243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观测：68维身体与任务状态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7030365B-B484-4C97-B0E4-F94B86C7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A188650E-3276-48BE-BE46-DB96CF3FF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67025"/>
            <a:ext cx="39243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动作：四键组合，共16类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800867A1-E791-4AFF-946B-F4FB2A913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7BE958DB-EC61-4308-AFD0-C4FF5C38B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48100"/>
            <a:ext cx="39243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百米：成功完赛，用时越少越好</a:t>
            </a:r>
          </a:p>
        </p:txBody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F8462F52-7E90-4B2A-9AC5-6AF36A3A9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48225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216B5BFC-6AB6-4554-BE8B-D24895F4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29175"/>
            <a:ext cx="39243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跳远：有效落点，距离越大越好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740110-9790-4D24-9B09-69A25AA444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8d410e613145ab"/>
          <a:stretch xmlns:a="http://schemas.openxmlformats.org/drawingml/2006/main"/>
        </p:blipFill>
        <p:spPr>
          <a:xfrm xmlns:a="http://schemas.openxmlformats.org/drawingml/2006/main">
            <a:off x="5334966" y="1762125"/>
            <a:ext cx="6170269" cy="3857625"/>
          </a:xfrm>
          <a:prstGeom xmlns:a="http://schemas.openxmlformats.org/drawingml/2006/main" prst="rect">
            <a:avLst/>
          </a:prstGeom>
        </p:spPr>
      </p:pic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FF47F9A0-51E5-48D9-8A0C-A9899341C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810250"/>
            <a:ext cx="61531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原版 QWOP 画面示意（非本项目成绩截图）</a:t>
            </a:r>
          </a:p>
        </p:txBody>
      </p:sp>
    </p:spTree>
    <p:extLst>
      <p:ext uri="{BB962C8B-B14F-4D97-AF65-F5344CB8AC3E}">
        <p14:creationId xmlns:p14="http://schemas.microsoft.com/office/powerpoint/2010/main" val="2091721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2FA5C1E-5510-48A1-A67F-56D6A272E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系统架构与训练闭环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A4D5305-0190-4659-98F9-87F579A4A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D7E1FDB5-4F94-4EC3-AB58-F6DC820DD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90725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56DA6336-C69C-456C-88AA-868F768C7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23336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状态处理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56394267-C00E-42CE-9309-AE7703FB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2381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固定缩放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历史堆帧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5EF08D04-E9FF-4DC4-8F5A-8BAAF812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990725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CB305378-D0A5-4D4E-A5EB-B5DCC97C1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800350"/>
            <a:ext cx="23336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环境交互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0A3202A9-266E-43B5-B0BE-18EABE2F6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476625"/>
            <a:ext cx="2381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并行C++环境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原生物理与计分</a:t>
            </a:r>
          </a:p>
        </p:txBody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FC6640B1-6704-43B1-AB62-13A56B63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90725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A5A8AD75-8094-4E85-AF67-E1BCFF244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00350"/>
            <a:ext cx="23336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策略更新</a:t>
            </a:r>
          </a:p>
        </p:txBody>
      </p:sp>
      <p:sp>
        <p:nvSpPr>
          <p:cNvPr id="11" name="text-11">
            <a:extLst xmlns:a="http://schemas.openxmlformats.org/drawingml/2006/main">
              <a:ext uri="{FF2B5EF4-FFF2-40B4-BE49-F238E27FC236}">
                <a16:creationId xmlns:a16="http://schemas.microsoft.com/office/drawing/2014/main" id="{5C5C0D39-5CCB-440B-9AAD-023E5568B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76625"/>
            <a:ext cx="2381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rollout 与 GAE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PPO 小批量更新</a:t>
            </a:r>
          </a:p>
        </p:txBody>
      </p:sp>
      <p:sp>
        <p:nvSpPr>
          <p:cNvPr id="12" name="text-12">
            <a:extLst xmlns:a="http://schemas.openxmlformats.org/drawingml/2006/main">
              <a:ext uri="{FF2B5EF4-FFF2-40B4-BE49-F238E27FC236}">
                <a16:creationId xmlns:a16="http://schemas.microsoft.com/office/drawing/2014/main" id="{22D2EF49-98EE-475D-86D4-8568F3DA8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990725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3" name="text-13">
            <a:extLst xmlns:a="http://schemas.openxmlformats.org/drawingml/2006/main">
              <a:ext uri="{FF2B5EF4-FFF2-40B4-BE49-F238E27FC236}">
                <a16:creationId xmlns:a16="http://schemas.microsoft.com/office/drawing/2014/main" id="{DBB28FFB-5A66-4755-B2F2-4F2C725C2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800350"/>
            <a:ext cx="23336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记录验证</a:t>
            </a:r>
          </a:p>
        </p:txBody>
      </p:sp>
      <p:sp>
        <p:nvSpPr>
          <p:cNvPr id="14" name="text-14">
            <a:extLst xmlns:a="http://schemas.openxmlformats.org/drawingml/2006/main">
              <a:ext uri="{FF2B5EF4-FFF2-40B4-BE49-F238E27FC236}">
                <a16:creationId xmlns:a16="http://schemas.microsoft.com/office/drawing/2014/main" id="{DDA45AC0-98A0-447B-A894-1BB383DD0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476625"/>
            <a:ext cx="2381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日志与模型保存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独立评测与回放</a:t>
            </a:r>
          </a:p>
        </p:txBody>
      </p:sp>
      <p:sp>
        <p:nvSpPr>
          <p:cNvPr id="15" name="text-15">
            <a:extLst xmlns:a="http://schemas.openxmlformats.org/drawingml/2006/main">
              <a:ext uri="{FF2B5EF4-FFF2-40B4-BE49-F238E27FC236}">
                <a16:creationId xmlns:a16="http://schemas.microsoft.com/office/drawing/2014/main" id="{9A0CA8C5-2D75-4D38-B2BC-ECDA0AA4C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rPr>
              <a:t>Python / PyTorch 负责学习，C++ 环境与物理 DLL 提供交互</a:t>
            </a:r>
          </a:p>
        </p:txBody>
      </p:sp>
      <p:sp>
        <p:nvSpPr>
          <p:cNvPr id="16" name="text-16">
            <a:extLst xmlns:a="http://schemas.openxmlformats.org/drawingml/2006/main">
              <a:ext uri="{FF2B5EF4-FFF2-40B4-BE49-F238E27FC236}">
                <a16:creationId xmlns:a16="http://schemas.microsoft.com/office/drawing/2014/main" id="{539F7D38-98AF-4218-BD47-1F5DECCE5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43575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入口 train_ppo.py   ·   环境 training_env.cpp   ·   奖励 reward_profiles.cpp</a:t>
            </a:r>
          </a:p>
        </p:txBody>
      </p:sp>
    </p:spTree>
    <p:extLst>
      <p:ext uri="{BB962C8B-B14F-4D97-AF65-F5344CB8AC3E}">
        <p14:creationId xmlns:p14="http://schemas.microsoft.com/office/powerpoint/2010/main" val="9973599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2710CF2-129B-4BCC-8269-FB3E6DF8A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核心算法：PPO-Clip 与 GAE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D20AC05-4DC9-429C-A132-21146BB11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E416E38C-ACD4-4188-A808-29657B210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rPr>
              <a:t>Actor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6D5AAEC6-2DB9-4F4D-A1F0-3BA6824F9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4667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身体状态决定按键概率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16类离散动作分布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20BF0176-4067-4C6E-AB82-1B6C515D6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38325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Critic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CDCCEA2A-A3D3-407C-873F-2AAFC2E7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47950"/>
            <a:ext cx="4667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预测当前状态的未来回报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辅助GAE估计动作优势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B774D503-9F63-4189-ABBF-A09D1C613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PPO 裁剪目标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6D270696-4938-446A-9C88-EC7566B95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0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rPr>
              <a:t>Lclip = E[min(ρₜ Âₜ, clip(ρₜ, 1−ε, 1+ε) Âₜ)]</a:t>
            </a:r>
          </a:p>
        </p:txBody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65B084D0-9CFE-471B-822A-DE7247F6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0820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概率比 ρₜ 衡量新旧策略变化；优势 Âₜ 表示动作相对预期的好坏</a:t>
            </a:r>
          </a:p>
        </p:txBody>
      </p:sp>
    </p:spTree>
    <p:extLst>
      <p:ext uri="{BB962C8B-B14F-4D97-AF65-F5344CB8AC3E}">
        <p14:creationId xmlns:p14="http://schemas.microsoft.com/office/powerpoint/2010/main" val="20289599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FD8DD9A-8BC9-41D2-8C80-469D89B1A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基线：链路跑通，运动策略仍低效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F645D64-F0BC-49BC-AB36-958FCDB5A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0F737ACA-5121-465B-BDA9-6639EA725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381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700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5700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rPr>
              <a:t>0 / 64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A50BC196-6290-46DE-8DF4-CBAB15270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385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原奖励随机评测通关数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D8F94C36-AC52-457B-80ED-9AC86336B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399097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低姿态前进、输入尺度失效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促使我们调整奖励与观测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602DBEFE-B59C-444D-AB8B-2E44F5D15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39909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v3：38 / 64 通关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确定性用时 75.27 秒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1C12824B-CB8B-446A-B08F-BECF10CCF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1666875"/>
            <a:ext cx="63150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v3 单版本回合回报曲线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A4249C58-F902-4AF1-B8F1-81CA5A24A10C}"/>
              </a:ext>
            </a:extLst>
          </p:cNvPr>
          <p:cNvGraphicFramePr/>
          <p:nvPr/>
        </p:nvGraphicFramePr>
        <p:xfrm>
          <a:off xmlns:a="http://schemas.openxmlformats.org/drawingml/2006/main" x="4953000" y="2305050"/>
          <a:ext xmlns:a="http://schemas.openxmlformats.org/drawingml/2006/main" cx="65913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fae35f686e24de5"/>
          </a:graphicData>
        </a:graphic>
      </p:graphicFrame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471E1271-68D0-4A96-86FC-585BA6E67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5934075"/>
            <a:ext cx="642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同一奖励版本，20点滚动均值；跨版本回报不可直接比较</a:t>
            </a:r>
          </a:p>
        </p:txBody>
      </p:sp>
    </p:spTree>
    <p:extLst>
      <p:ext uri="{BB962C8B-B14F-4D97-AF65-F5344CB8AC3E}">
        <p14:creationId xmlns:p14="http://schemas.microsoft.com/office/powerpoint/2010/main" val="16666993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279CC54-8581-4837-B7ED-165F99D3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奖励与时序迭代推动百米提速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1AAD812-7C8F-43FE-B02B-6B5F63243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FBFC9220-3F79-4295-8F6D-28E768EEA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847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纯 PPO 成功候选用时（秒，越低越好）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4E3D7A15-3055-4165-BD62-FD2A4BAE767D}"/>
              </a:ext>
            </a:extLst>
          </p:cNvPr>
          <p:cNvGraphicFramePr/>
          <p:nvPr/>
        </p:nvGraphicFramePr>
        <p:xfrm>
          <a:off xmlns:a="http://schemas.openxmlformats.org/drawingml/2006/main" x="571500" y="2343150"/>
          <a:ext xmlns:a="http://schemas.openxmlformats.org/drawingml/2006/main" cx="7839075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8cec772b09d49f6"/>
          </a:graphicData>
        </a:graphic>
      </p:graphicFrame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D1B3CA47-8C18-4899-885A-917906D9E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362200"/>
            <a:ext cx="26860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45.40 秒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23A19D34-2DE5-4162-B963-A6BC4C301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209925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纯PPO最好已验证候选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432E533C-0D71-48B1-AB0F-526EB07E7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286250"/>
            <a:ext cx="2667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rPr>
              <a:t>44.93 秒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7D82A283-F188-4A3F-947E-5D1458682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5133975"/>
            <a:ext cx="2619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Actor偏置局部搜索后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5D9E2F6D-5D75-4172-964E-9B6FE3456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1082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阶段改进：姿态与速度反馈、32帧历史、起步及越栏反馈；43秒目标未达成</a:t>
            </a:r>
          </a:p>
        </p:txBody>
      </p:sp>
    </p:spTree>
    <p:extLst>
      <p:ext uri="{BB962C8B-B14F-4D97-AF65-F5344CB8AC3E}">
        <p14:creationId xmlns:p14="http://schemas.microsoft.com/office/powerpoint/2010/main" val="4596625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7879781-F5DC-439A-A39D-37A288D8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提速瓶颈：动作阶段与奖励排序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2745301-380F-46AC-9782-1F3A33B8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8B34A5F3-4F1B-4D67-8609-1C6007303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3286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rPr>
              <a:t>起步与越栏恢复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FF862C2E-2DB1-4DC8-AAF0-D27931BCE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31813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10米约需6.9秒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越栏后存在速度损失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538011E2-5C0E-488F-B6B5-4DECAE073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3286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姿态规则是研究假设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124DA7FD-30BA-46E4-9954-451DA1560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5°前倾、步频和平稳度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未必对应更快的成功策略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B394D9C8-F77B-4C34-A822-472101EB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657350"/>
            <a:ext cx="34956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旧奖励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70724008-BDEB-4A6C-9915-28E2F6726FC2}"/>
              </a:ext>
            </a:extLst>
          </p:cNvPr>
          <p:cNvGraphicFramePr/>
          <p:nvPr/>
        </p:nvGraphicFramePr>
        <p:xfrm>
          <a:off xmlns:a="http://schemas.openxmlformats.org/drawingml/2006/main" x="4067175" y="2266950"/>
          <a:ext xmlns:a="http://schemas.openxmlformats.org/drawingml/2006/main" cx="3581400" cy="34385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90a695d46ae441d"/>
          </a:graphicData>
        </a:graphic>
      </p:graphicFrame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9C3C5349-FB38-43DC-9D30-9D55928DB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57350"/>
            <a:ext cx="34956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时间导向任务奖励</a:t>
            </a: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BFBB0C36-003A-4EF7-86B4-0651DF9273DA}"/>
              </a:ext>
            </a:extLst>
          </p:cNvPr>
          <p:cNvGraphicFramePr/>
          <p:nvPr/>
        </p:nvGraphicFramePr>
        <p:xfrm>
          <a:off xmlns:a="http://schemas.openxmlformats.org/drawingml/2006/main" x="7905750" y="2266950"/>
          <a:ext xmlns:a="http://schemas.openxmlformats.org/drawingml/2006/main" cx="3581400" cy="34385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cebb05182a540d9"/>
          </a:graphicData>
        </a:graphic>
      </p:graphicFrame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7D81FED6-AB36-49F6-B43B-929EB520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934075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只比较每种奖励内部的排序；审计对象为两条成功轨迹</a:t>
            </a:r>
          </a:p>
        </p:txBody>
      </p:sp>
    </p:spTree>
    <p:extLst>
      <p:ext uri="{BB962C8B-B14F-4D97-AF65-F5344CB8AC3E}">
        <p14:creationId xmlns:p14="http://schemas.microsoft.com/office/powerpoint/2010/main" val="16270812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661FE56-0293-4374-8786-3BF21C515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RND：部分成功率改善，最快值未刷新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ED1C4FD-C34B-4AEC-8B14-2FD62667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1CBA0960-6185-40CE-8809-6508732D5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3790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新颖性来自预测误差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2FC85446-9FDA-49B8-80EE-C91B766F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3590925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随机固定目标网络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预测器学习拟合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误差提供内在奖励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29D466F5-2612-44D2-A3BF-CB77DE46C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29175"/>
            <a:ext cx="35909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两组同起点、同训练量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各约1678万条新转移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793DC8-A075-4D88-9C15-FD40F3FF452C}"/>
              </a:ext>
            </a:extLst>
          </p:cNvPr>
          <p:cNvGraphicFramePr/>
          <p:nvPr/>
        </p:nvGraphicFramePr>
        <p:xfrm>
          <a:off xmlns:a="http://schemas.openxmlformats.org/drawingml/2006/main" x="4591050" y="1943100"/>
          <a:ext xmlns:a="http://schemas.openxmlformats.org/drawingml/2006/main" cx="6924675" cy="31718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57475"/>
                <a:gridCol w="2047875"/>
                <a:gridCol w="2219325"/>
              </a:tblGrid>
              <a:tr h="5143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T w="9525">
                      <a:solidFill>
                        <a:srgbClr val="D9E1E8"/>
                      </a:solidFill>
                      <a:prstDash val="solid"/>
                    </a:lnT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225B85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任务奖励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T w="9525">
                      <a:solidFill>
                        <a:srgbClr val="D9E1E8"/>
                      </a:solidFill>
                      <a:prstDash val="solid"/>
                    </a:lnT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225B85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任务奖励 + RND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T w="9525">
                      <a:solidFill>
                        <a:srgbClr val="D9E1E8"/>
                      </a:solidFill>
                      <a:prstDash val="solid"/>
                    </a:lnT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225B85"/>
                    </a:solidFill>
                  </a:tcPr>
                </a:tc>
              </a:tr>
              <a:tr h="8858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随机通关数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57 / 64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61 / 64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858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成功平均用时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49.26 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48.84 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858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最快保存点用时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46.80 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47.23 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E8031AF6-E720-4975-97EB-3E946A25A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505450"/>
            <a:ext cx="69246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rPr>
              <a:t>部分成功率改善，未刷新旧44.93秒纪录；只有一个训练种子</a:t>
            </a:r>
          </a:p>
        </p:txBody>
      </p:sp>
    </p:spTree>
    <p:extLst>
      <p:ext uri="{BB962C8B-B14F-4D97-AF65-F5344CB8AC3E}">
        <p14:creationId xmlns:p14="http://schemas.microsoft.com/office/powerpoint/2010/main" val="20522437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6E63A0A-E6C6-45CB-88F2-B2883F7CD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公开影子模仿：本地网络复现33.03秒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E09D967-3446-4AE5-BB0B-259A9B9A7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F381BA95-49D1-4440-BAC7-F42A6DF7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04975"/>
            <a:ext cx="46386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8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58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33.03 秒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BB37CC38-01EA-4352-BBE5-FE596BEC6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45910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本地网络，固定初态闭环执行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5493192E-A919-4F40-8B81-5ED02F903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442912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公开冠军XYF的991帧示范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状态动作监督，交叉熵训练Actor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36193615-57E6-4648-8BC7-DC93B874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0175"/>
            <a:ext cx="44481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rPr>
              <a:t>确定性16 / 16成功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rPr>
              <a:t>原始随机采样0 / 64成功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604F79-938C-4E36-9C12-05600DFF1BA6}"/>
              </a:ext>
            </a:extLst>
          </p:cNvPr>
          <p:cNvGraphicFramePr/>
          <p:nvPr/>
        </p:nvGraphicFramePr>
        <p:xfrm>
          <a:off xmlns:a="http://schemas.openxmlformats.org/drawingml/2006/main" x="5353050" y="2009775"/>
          <a:ext xmlns:a="http://schemas.openxmlformats.org/drawingml/2006/main" cx="6153150" cy="23431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619250"/>
                <a:gridCol w="1952625"/>
                <a:gridCol w="2581275"/>
              </a:tblGrid>
              <a:tr h="5143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训练轮次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T w="9525">
                      <a:solidFill>
                        <a:srgbClr val="D9E1E8"/>
                      </a:solidFill>
                      <a:prstDash val="solid"/>
                    </a:lnT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225B85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动作准确率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T w="9525">
                      <a:solidFill>
                        <a:srgbClr val="D9E1E8"/>
                      </a:solidFill>
                      <a:prstDash val="solid"/>
                    </a:lnT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225B85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闭环结果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T w="9525">
                      <a:solidFill>
                        <a:srgbClr val="D9E1E8"/>
                      </a:solidFill>
                      <a:prstDash val="solid"/>
                    </a:lnT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225B85"/>
                    </a:solidFill>
                  </a:tcPr>
                </a:tc>
              </a:tr>
              <a:tr h="91440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99.899%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52米失败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33.03秒完成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68D63054-67B9-42BE-9211-2C0FE172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943475"/>
            <a:ext cx="60293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极小动作偏差也会累积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偏离轨迹后的恢复仍是瓶颈</a:t>
            </a:r>
          </a:p>
        </p:txBody>
      </p:sp>
    </p:spTree>
    <p:extLst>
      <p:ext uri="{BB962C8B-B14F-4D97-AF65-F5344CB8AC3E}">
        <p14:creationId xmlns:p14="http://schemas.microsoft.com/office/powerpoint/2010/main" val="201903738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39A2C61-7F20-43A6-B6EE-C1B58EC13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跳远迁移：保留助跑，学习局部起跳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29DC651-52F9-4F21-AA84-717B61E00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65B9EEB1-4137-4525-8D1B-551D13F6E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33575"/>
            <a:ext cx="4019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rPr>
              <a:t>校准位置字段原点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BE49088E-32EC-483B-AA6A-6EC7E7862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39909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25米、334帧助跑动作一致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同为68维，语义仍需核对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761E02E7-3857-4FDD-B9D2-3B669BAC0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421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冻结助跑，局部学习起跳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F72F4F6F-F124-44AF-9702-AC1FA503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29225"/>
            <a:ext cx="4057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起跳区域调整层 + 独立Critic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2ECEEB-FDAA-4678-8986-7659CA0CCF38}"/>
              </a:ext>
            </a:extLst>
          </p:cNvPr>
          <p:cNvGraphicFramePr/>
          <p:nvPr/>
        </p:nvGraphicFramePr>
        <p:xfrm>
          <a:off xmlns:a="http://schemas.openxmlformats.org/drawingml/2006/main" x="5219700" y="1914525"/>
          <a:ext xmlns:a="http://schemas.openxmlformats.org/drawingml/2006/main" cx="6286500" cy="28956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324100"/>
                <a:gridCol w="1628775"/>
                <a:gridCol w="2333625"/>
              </a:tblGrid>
              <a:tr h="5143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跳远路线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T w="9525">
                      <a:solidFill>
                        <a:srgbClr val="D9E1E8"/>
                      </a:solidFill>
                      <a:prstDash val="solid"/>
                    </a:lnT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225B85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确定性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T w="9525">
                      <a:solidFill>
                        <a:srgbClr val="D9E1E8"/>
                      </a:solidFill>
                      <a:prstDash val="solid"/>
                    </a:lnT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225B85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随机最佳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T w="9525">
                      <a:solidFill>
                        <a:srgbClr val="D9E1E8"/>
                      </a:solidFill>
                      <a:prstDash val="solid"/>
                    </a:lnT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225B85"/>
                    </a:solidFill>
                  </a:tcPr>
                </a:tc>
              </a:tr>
              <a:tr h="11906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旧PPO迁移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2.60米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2.80米</a:t>
                      </a:r>
                    </a:p>
                    <a:p>
                      <a:pPr algn="ctr"/>
                      <a:r>
                        <a:rPr sz="1875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1024次搜索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保留33秒助跑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2.59米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3.16米</a:t>
                      </a:r>
                    </a:p>
                    <a:p>
                      <a:pPr algn="ctr"/>
                      <a:r>
                        <a:rPr sz="1875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2048次搜索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6077A0F0-3A12-4FA0-B336-6263B7A88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267325"/>
            <a:ext cx="6286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新模型独立64次：51次成功，成功平均1.51米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搜索规模不同，最佳值不能代表平均能力</a:t>
            </a:r>
          </a:p>
        </p:txBody>
      </p:sp>
    </p:spTree>
    <p:extLst>
      <p:ext uri="{BB962C8B-B14F-4D97-AF65-F5344CB8AC3E}">
        <p14:creationId xmlns:p14="http://schemas.microsoft.com/office/powerpoint/2010/main" val="182601340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32A4780-4D50-481F-954B-3D6B36DFF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结果：速度、稳定性与泛化分别评价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FEB6168-1548-4400-AF21-4D16A02D9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ACDD20-CE1B-42BD-949A-0B673267F6FC}"/>
              </a:ext>
            </a:extLst>
          </p:cNvPr>
          <p:cNvGraphicFramePr/>
          <p:nvPr/>
        </p:nvGraphicFramePr>
        <p:xfrm>
          <a:off xmlns:a="http://schemas.openxmlformats.org/drawingml/2006/main" x="685800" y="1819275"/>
          <a:ext xmlns:a="http://schemas.openxmlformats.org/drawingml/2006/main" cx="10820400" cy="35433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181350"/>
                <a:gridCol w="2295525"/>
                <a:gridCol w="5343525"/>
              </a:tblGrid>
              <a:tr h="5143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方法路线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T w="9525">
                      <a:solidFill>
                        <a:srgbClr val="D9E1E8"/>
                      </a:solidFill>
                      <a:prstDash val="solid"/>
                    </a:lnT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225B85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已验证成绩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T w="9525">
                      <a:solidFill>
                        <a:srgbClr val="D9E1E8"/>
                      </a:solidFill>
                      <a:prstDash val="solid"/>
                    </a:lnT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225B85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评测与结论边界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T w="9525">
                      <a:solidFill>
                        <a:srgbClr val="D9E1E8"/>
                      </a:solidFill>
                      <a:prstDash val="solid"/>
                    </a:lnT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225B85"/>
                    </a:solidFill>
                  </a:tcPr>
                </a:tc>
              </a:tr>
              <a:tr h="757238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纯 PPO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45.40 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自主训练的成功候选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7238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PPO + 偏置搜索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44.93 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包含局部权重搜索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7238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公开示范 BC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33.03 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固定初态复现，随机0/64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7238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跳远迁移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2.59 / 3.16 米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确定性 / 2048次随机最佳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F52A716-C8A1-45AD-84DF-519055CB4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rPr>
              <a:t>原生成绩、成功率与随机均值分开报告；固定初态复现尚不证明泛化</a:t>
            </a:r>
          </a:p>
        </p:txBody>
      </p:sp>
    </p:spTree>
    <p:extLst>
      <p:ext uri="{BB962C8B-B14F-4D97-AF65-F5344CB8AC3E}">
        <p14:creationId xmlns:p14="http://schemas.microsoft.com/office/powerpoint/2010/main" val="170543254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A01938A-6CA3-4FD3-AE89-A0101990B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后续：从轨迹复现走向稳定控制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C3FBD7A-ACE1-4E93-8647-C74E5C34B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FC33F47F-BA0A-430C-9B0C-A8F2AB162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A68DB1FD-C8FB-4507-BC70-9EEC56CC6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752600"/>
            <a:ext cx="102679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先用原生成绩审计奖励，减少未经验证的姿态假设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258DF37B-E292-481B-B48D-600C33D0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363864CE-BB04-48C8-AC5B-0C0138BFF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76525"/>
            <a:ext cx="102679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BC约束下小步PPO微调，训练偏离轨迹后的恢复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6875B4B4-3F38-4B17-9CA0-25E81ECE9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A6F7C5BF-7D66-4DC6-8543-EB2ABC195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00450"/>
            <a:ext cx="102679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统一初态、随机种子和扰动，开展多种子对照</a:t>
            </a:r>
          </a:p>
        </p:txBody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8E1BF3B1-F69C-40F3-BFD8-265EE899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43425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2A6778E2-E8A5-4E9F-984B-7BE4F82F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24375"/>
            <a:ext cx="102679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跳远按正式距离和成功率选模，继续优化起跳</a:t>
            </a:r>
          </a:p>
        </p:txBody>
      </p:sp>
      <p:sp>
        <p:nvSpPr>
          <p:cNvPr id="11" name="text-11">
            <a:extLst xmlns:a="http://schemas.openxmlformats.org/drawingml/2006/main">
              <a:ext uri="{FF2B5EF4-FFF2-40B4-BE49-F238E27FC236}">
                <a16:creationId xmlns:a16="http://schemas.microsoft.com/office/drawing/2014/main" id="{522C92BC-1511-47C6-B923-1C5CCA1BD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rPr>
              <a:t>奖励对齐目标，原生评测检验进步</a:t>
            </a:r>
          </a:p>
        </p:txBody>
      </p:sp>
    </p:spTree>
    <p:extLst>
      <p:ext uri="{BB962C8B-B14F-4D97-AF65-F5344CB8AC3E}">
        <p14:creationId xmlns:p14="http://schemas.microsoft.com/office/powerpoint/2010/main" val="4413325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2026-10-13T06:09:00.1230000Z</dcterms:created>
  <dcterms:modified xsi:type="dcterms:W3CDTF">2026-10-13T06:09:00.1230000Z</dcterms:modified>
</coreProperties>
</file>